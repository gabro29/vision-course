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70" r:id="rId2"/>
    <p:sldId id="300" r:id="rId3"/>
    <p:sldId id="297" r:id="rId4"/>
    <p:sldId id="299" r:id="rId5"/>
    <p:sldId id="301" r:id="rId6"/>
    <p:sldId id="303" r:id="rId7"/>
    <p:sldId id="305" r:id="rId8"/>
    <p:sldId id="298" r:id="rId9"/>
    <p:sldId id="304" r:id="rId10"/>
    <p:sldId id="302" r:id="rId11"/>
    <p:sldId id="306" r:id="rId12"/>
    <p:sldId id="307" r:id="rId13"/>
    <p:sldId id="308" r:id="rId14"/>
    <p:sldId id="309" r:id="rId15"/>
    <p:sldId id="310" r:id="rId16"/>
    <p:sldId id="311" r:id="rId17"/>
    <p:sldId id="312" r:id="rId18"/>
    <p:sldId id="313" r:id="rId19"/>
    <p:sldId id="314" r:id="rId20"/>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Stile medio 3 - Colore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204" autoAdjust="0"/>
    <p:restoredTop sz="94660"/>
  </p:normalViewPr>
  <p:slideViewPr>
    <p:cSldViewPr snapToGrid="0">
      <p:cViewPr varScale="1">
        <p:scale>
          <a:sx n="105" d="100"/>
          <a:sy n="105" d="100"/>
        </p:scale>
        <p:origin x="822"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385E600-56B4-46C7-9B0A-9CD7422AE937}" type="datetimeFigureOut">
              <a:rPr lang="it-IT" smtClean="0"/>
              <a:t>05/04/2026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B167D42-683A-4831-AAE7-9DA66916BF79}" type="slidenum">
              <a:rPr lang="it-IT" smtClean="0"/>
              <a:t>‹N›</a:t>
            </a:fld>
            <a:endParaRPr lang="it-IT"/>
          </a:p>
        </p:txBody>
      </p:sp>
    </p:spTree>
    <p:extLst>
      <p:ext uri="{BB962C8B-B14F-4D97-AF65-F5344CB8AC3E}">
        <p14:creationId xmlns:p14="http://schemas.microsoft.com/office/powerpoint/2010/main" val="28681259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BD11B35-A78A-2BEB-A23E-647739C5D221}"/>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459E62FA-A17C-C9A6-F958-949D3F0FAB1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2225130B-8104-60CB-1F5E-4028868DA8B9}"/>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5" name="Segnaposto piè di pagina 4">
            <a:extLst>
              <a:ext uri="{FF2B5EF4-FFF2-40B4-BE49-F238E27FC236}">
                <a16:creationId xmlns:a16="http://schemas.microsoft.com/office/drawing/2014/main" id="{3CD4A31C-6B5A-D94C-CA47-12B710C5B2B6}"/>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93D792BA-3E50-7292-5837-F659CFA432B3}"/>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6902299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48C701E-0598-511F-3A84-E0ADFCCCF8FF}"/>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26DEBECD-76F8-016E-2581-1022EFCC62E9}"/>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2630E89C-FFA1-4C27-627A-14EE0DC377EF}"/>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5" name="Segnaposto piè di pagina 4">
            <a:extLst>
              <a:ext uri="{FF2B5EF4-FFF2-40B4-BE49-F238E27FC236}">
                <a16:creationId xmlns:a16="http://schemas.microsoft.com/office/drawing/2014/main" id="{A90DF1FA-5DA2-3A2A-13CD-F90A2BC65E90}"/>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7E9A7E1-2FB2-5886-8801-518A924AAC20}"/>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33394933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0427CD2-2EE2-60A4-C550-CA929A04DCF6}"/>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6A78A65F-684F-F953-9A15-3B0672466F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5D781DE5-2C20-477C-EED3-DB6F738AFCD4}"/>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5" name="Segnaposto piè di pagina 4">
            <a:extLst>
              <a:ext uri="{FF2B5EF4-FFF2-40B4-BE49-F238E27FC236}">
                <a16:creationId xmlns:a16="http://schemas.microsoft.com/office/drawing/2014/main" id="{E79B1E29-6AAE-DB27-53D0-C99479783512}"/>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84FE696E-2429-B736-5579-AE4B37033BC7}"/>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26654088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37948B4-A5CA-328A-A369-E23EB799B5A9}"/>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7803EF47-7AB4-122F-45FF-C94A3F535DBE}"/>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259D5032-6393-A6E1-4F10-F3299A8B8E60}"/>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F1A5E8AE-14AF-34DA-7EDD-DA42932468AA}"/>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6" name="Segnaposto piè di pagina 5">
            <a:extLst>
              <a:ext uri="{FF2B5EF4-FFF2-40B4-BE49-F238E27FC236}">
                <a16:creationId xmlns:a16="http://schemas.microsoft.com/office/drawing/2014/main" id="{58EBEE54-4212-68E0-6672-8C54FB2D8751}"/>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3A989421-CC3F-E270-6FD7-41FCB4F878F4}"/>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33859839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1D364E5-8A4C-7E88-7D21-6747F9652AC1}"/>
              </a:ext>
            </a:extLst>
          </p:cNvPr>
          <p:cNvSpPr>
            <a:spLocks noGrp="1"/>
          </p:cNvSpPr>
          <p:nvPr>
            <p:ph type="title"/>
          </p:nvPr>
        </p:nvSpPr>
        <p:spPr>
          <a:xfrm>
            <a:off x="839788" y="365125"/>
            <a:ext cx="10515600"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2BDE33D6-4ED1-1112-01C5-C2F75737505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61CA9B67-B50B-5D96-CBE7-809134D53DE8}"/>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ED7932F6-029A-F5B5-1FDE-B716F8D0F02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9A456D79-7883-2F74-DDED-F4388A4B9FC2}"/>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07D0E54A-249B-7086-C701-09D53B41E389}"/>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8" name="Segnaposto piè di pagina 7">
            <a:extLst>
              <a:ext uri="{FF2B5EF4-FFF2-40B4-BE49-F238E27FC236}">
                <a16:creationId xmlns:a16="http://schemas.microsoft.com/office/drawing/2014/main" id="{88B42CBE-D851-82CD-6BB6-29B4251656E2}"/>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F6ABBEAA-E39C-5B57-B0C2-0F105BFCAB91}"/>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39500020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2A38793A-7FB5-D906-E071-089C4529C8CC}"/>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25F74A0C-9FCC-0616-AED8-F8972C6895E5}"/>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4" name="Segnaposto piè di pagina 3">
            <a:extLst>
              <a:ext uri="{FF2B5EF4-FFF2-40B4-BE49-F238E27FC236}">
                <a16:creationId xmlns:a16="http://schemas.microsoft.com/office/drawing/2014/main" id="{44FC6F7C-F3E8-44AE-05F5-9BD592406C13}"/>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43804D9D-9012-C06F-E17E-1C3A190C2A53}"/>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36935215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53193006-1514-C138-3E4F-ECC0F0301908}"/>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3" name="Segnaposto piè di pagina 2">
            <a:extLst>
              <a:ext uri="{FF2B5EF4-FFF2-40B4-BE49-F238E27FC236}">
                <a16:creationId xmlns:a16="http://schemas.microsoft.com/office/drawing/2014/main" id="{199DD1C8-0744-FE0B-018D-1D646AFDA455}"/>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894E57B6-0E03-2F31-A001-BA450197AC32}"/>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5092824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C3F02B0-B259-D857-A26E-5249C1E9D121}"/>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671354CB-C9E1-6B0E-C569-5ABC9A1F24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EF08262D-77AB-327B-8A41-551BF9598F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39E548CA-7751-6ED7-470A-A7BD1F95833E}"/>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6" name="Segnaposto piè di pagina 5">
            <a:extLst>
              <a:ext uri="{FF2B5EF4-FFF2-40B4-BE49-F238E27FC236}">
                <a16:creationId xmlns:a16="http://schemas.microsoft.com/office/drawing/2014/main" id="{11E69CB1-54B7-FA21-929A-F7271B705B06}"/>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0B36072F-C82E-7FF0-EEC6-F852AB56CACF}"/>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18146877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CD9FE02-B52E-9037-012D-1721E0E9074B}"/>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39E8E64B-85D3-EFA9-150B-6E51A71F35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885913B0-2CDF-6162-F43B-364AD54E7E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37BFB4C2-0CA1-9082-CBA0-743E35E78555}"/>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6" name="Segnaposto piè di pagina 5">
            <a:extLst>
              <a:ext uri="{FF2B5EF4-FFF2-40B4-BE49-F238E27FC236}">
                <a16:creationId xmlns:a16="http://schemas.microsoft.com/office/drawing/2014/main" id="{6730DC3F-7FB5-9BAF-5D27-84B27068CBD7}"/>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4C60F495-A6D7-FA67-3B87-01C2E90D9F1E}"/>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3693864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AC8359EA-B0E9-AF59-83DB-8920B978E01F}"/>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F0F022ED-BE35-EFD3-1492-DD7EFDD5367B}"/>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044B5508-01C4-2085-A272-479EC57FBE5B}"/>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5" name="Segnaposto piè di pagina 4">
            <a:extLst>
              <a:ext uri="{FF2B5EF4-FFF2-40B4-BE49-F238E27FC236}">
                <a16:creationId xmlns:a16="http://schemas.microsoft.com/office/drawing/2014/main" id="{1287838E-E708-72F0-38CF-2EFD50340870}"/>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A2436E11-E8A4-0F1F-AE01-0AF216599D05}"/>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19608247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8D0FE4D6-FDED-6EEB-16F2-5B3C350E2037}"/>
              </a:ext>
            </a:extLst>
          </p:cNvPr>
          <p:cNvSpPr>
            <a:spLocks noGrp="1"/>
          </p:cNvSpPr>
          <p:nvPr>
            <p:ph type="title" orient="vert"/>
          </p:nvPr>
        </p:nvSpPr>
        <p:spPr>
          <a:xfrm>
            <a:off x="8724900" y="365125"/>
            <a:ext cx="2628900" cy="5811838"/>
          </a:xfrm>
        </p:spPr>
        <p:txBody>
          <a:bodyPr vert="eaVert"/>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8D38C437-2A09-2C4E-FB1E-4873BFCFAFE4}"/>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F28620AA-B0D7-ED1C-CB6D-1B53F5E13E85}"/>
              </a:ext>
            </a:extLst>
          </p:cNvPr>
          <p:cNvSpPr>
            <a:spLocks noGrp="1"/>
          </p:cNvSpPr>
          <p:nvPr>
            <p:ph type="dt" sz="half" idx="10"/>
          </p:nvPr>
        </p:nvSpPr>
        <p:spPr/>
        <p:txBody>
          <a:bodyPr/>
          <a:lstStyle/>
          <a:p>
            <a:fld id="{76A3598E-AD3F-4717-88B8-E163AC0105A1}" type="datetimeFigureOut">
              <a:rPr lang="it-IT" smtClean="0"/>
              <a:t>05/04/2026</a:t>
            </a:fld>
            <a:endParaRPr lang="it-IT"/>
          </a:p>
        </p:txBody>
      </p:sp>
      <p:sp>
        <p:nvSpPr>
          <p:cNvPr id="5" name="Segnaposto piè di pagina 4">
            <a:extLst>
              <a:ext uri="{FF2B5EF4-FFF2-40B4-BE49-F238E27FC236}">
                <a16:creationId xmlns:a16="http://schemas.microsoft.com/office/drawing/2014/main" id="{0A4EBA16-598B-7500-318E-9CB9B35B4A92}"/>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727313DF-2CA2-64F4-C557-885E142A5FE9}"/>
              </a:ext>
            </a:extLst>
          </p:cNvPr>
          <p:cNvSpPr>
            <a:spLocks noGrp="1"/>
          </p:cNvSpPr>
          <p:nvPr>
            <p:ph type="sldNum" sz="quarter" idx="12"/>
          </p:nvPr>
        </p:nvSpPr>
        <p:spPr/>
        <p:txBody>
          <a:bodyPr/>
          <a:lstStyle/>
          <a:p>
            <a:fld id="{DD3ED0AF-F907-4F10-99F9-6406D94D9369}" type="slidenum">
              <a:rPr lang="it-IT" smtClean="0"/>
              <a:t>‹N›</a:t>
            </a:fld>
            <a:endParaRPr lang="it-IT"/>
          </a:p>
        </p:txBody>
      </p:sp>
    </p:spTree>
    <p:extLst>
      <p:ext uri="{BB962C8B-B14F-4D97-AF65-F5344CB8AC3E}">
        <p14:creationId xmlns:p14="http://schemas.microsoft.com/office/powerpoint/2010/main" val="36081466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C108DF02-07A0-E71C-BB68-DA1ADE259D3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D1AE2025-EB48-2834-1BD3-423E8BCFC2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718E9286-B972-9B71-3489-BEAACA359A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6A3598E-AD3F-4717-88B8-E163AC0105A1}" type="datetimeFigureOut">
              <a:rPr lang="it-IT" smtClean="0"/>
              <a:t>05/04/2026</a:t>
            </a:fld>
            <a:endParaRPr lang="it-IT"/>
          </a:p>
        </p:txBody>
      </p:sp>
      <p:sp>
        <p:nvSpPr>
          <p:cNvPr id="5" name="Segnaposto piè di pagina 4">
            <a:extLst>
              <a:ext uri="{FF2B5EF4-FFF2-40B4-BE49-F238E27FC236}">
                <a16:creationId xmlns:a16="http://schemas.microsoft.com/office/drawing/2014/main" id="{1C33CBE1-6DC9-20D8-6945-D86E51D17A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it-IT"/>
          </a:p>
        </p:txBody>
      </p:sp>
      <p:sp>
        <p:nvSpPr>
          <p:cNvPr id="6" name="Segnaposto numero diapositiva 5">
            <a:extLst>
              <a:ext uri="{FF2B5EF4-FFF2-40B4-BE49-F238E27FC236}">
                <a16:creationId xmlns:a16="http://schemas.microsoft.com/office/drawing/2014/main" id="{B5003053-166C-490D-E21C-A5A3039ED3C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D3ED0AF-F907-4F10-99F9-6406D94D9369}" type="slidenum">
              <a:rPr lang="it-IT" smtClean="0"/>
              <a:t>‹N›</a:t>
            </a:fld>
            <a:endParaRPr lang="it-IT"/>
          </a:p>
        </p:txBody>
      </p:sp>
    </p:spTree>
    <p:extLst>
      <p:ext uri="{BB962C8B-B14F-4D97-AF65-F5344CB8AC3E}">
        <p14:creationId xmlns:p14="http://schemas.microsoft.com/office/powerpoint/2010/main" val="9121776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www.researchgate.net/publication/220100741_Voxel_Similarity_Measures_for_3D_Serial_MR_Brain_Image_Registration" TargetMode="External"/><Relationship Id="rId2" Type="http://schemas.openxmlformats.org/officeDocument/2006/relationships/hyperlink" Target="https://helios2.mi.parisdescartes.fr/~lomn/Cours/CV/BME/Registration/registration3.pdf" TargetMode="External"/><Relationship Id="rId1" Type="http://schemas.openxmlformats.org/officeDocument/2006/relationships/slideLayout" Target="../slideLayouts/slideLayout7.xml"/><Relationship Id="rId6" Type="http://schemas.openxmlformats.org/officeDocument/2006/relationships/hyperlink" Target="https://link.springer.com/article/10.1007/s10589-010-9329-3" TargetMode="External"/><Relationship Id="rId5" Type="http://schemas.openxmlformats.org/officeDocument/2006/relationships/hyperlink" Target="https://www.sciencedirect.com/science/article/pii/S1361841599800309?via%3Dihub" TargetMode="External"/><Relationship Id="rId4" Type="http://schemas.openxmlformats.org/officeDocument/2006/relationships/hyperlink" Target="https://www.scirp.org/journal/paperinformation?paperid=19558" TargetMode="Externa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EFCF5AC3-37E9-2C99-9F61-BA0E2C1E9C95}"/>
              </a:ext>
            </a:extLst>
          </p:cNvPr>
          <p:cNvSpPr txBox="1"/>
          <p:nvPr/>
        </p:nvSpPr>
        <p:spPr>
          <a:xfrm>
            <a:off x="434201" y="278802"/>
            <a:ext cx="9160501" cy="1123384"/>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00" noProof="0" dirty="0"/>
              <a:t>Assignment 1</a:t>
            </a:r>
            <a:r>
              <a:rPr lang="it-IT" sz="4000" dirty="0"/>
              <a:t> – Visione Artificiale</a:t>
            </a:r>
          </a:p>
          <a:p>
            <a:r>
              <a:rPr lang="it-IT" sz="4000" dirty="0"/>
              <a:t>Registrazione di Immagini Multimodali</a:t>
            </a:r>
            <a:endParaRPr lang="it-IT" sz="4000" noProof="0" dirty="0"/>
          </a:p>
        </p:txBody>
      </p:sp>
      <p:sp>
        <p:nvSpPr>
          <p:cNvPr id="15" name="TextBox 2">
            <a:extLst>
              <a:ext uri="{FF2B5EF4-FFF2-40B4-BE49-F238E27FC236}">
                <a16:creationId xmlns:a16="http://schemas.microsoft.com/office/drawing/2014/main" id="{1A59FA3B-8019-477A-2C23-375BAE4347EA}"/>
              </a:ext>
            </a:extLst>
          </p:cNvPr>
          <p:cNvSpPr txBox="1"/>
          <p:nvPr/>
        </p:nvSpPr>
        <p:spPr>
          <a:xfrm>
            <a:off x="8769193" y="6428227"/>
            <a:ext cx="3028722" cy="276999"/>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pPr algn="ctr"/>
            <a:r>
              <a:rPr lang="it-IT" sz="2000" noProof="0" dirty="0">
                <a:latin typeface="OCR A Extended" panose="02010509020102010303" pitchFamily="50" charset="0"/>
              </a:rPr>
              <a:t>Gabriele Lo Cascio</a:t>
            </a:r>
          </a:p>
        </p:txBody>
      </p:sp>
      <mc:AlternateContent xmlns:mc="http://schemas.openxmlformats.org/markup-compatibility/2006" xmlns:a14="http://schemas.microsoft.com/office/drawing/2010/main">
        <mc:Choice Requires="a14">
          <p:sp>
            <p:nvSpPr>
              <p:cNvPr id="5" name="CasellaDiTesto 4">
                <a:extLst>
                  <a:ext uri="{FF2B5EF4-FFF2-40B4-BE49-F238E27FC236}">
                    <a16:creationId xmlns:a16="http://schemas.microsoft.com/office/drawing/2014/main" id="{10525F7A-4DC6-79A8-6E00-A0ADB51B841E}"/>
                  </a:ext>
                </a:extLst>
              </p:cNvPr>
              <p:cNvSpPr txBox="1"/>
              <p:nvPr/>
            </p:nvSpPr>
            <p:spPr>
              <a:xfrm>
                <a:off x="394077" y="2092089"/>
                <a:ext cx="11403839" cy="2780698"/>
              </a:xfrm>
              <a:prstGeom prst="rect">
                <a:avLst/>
              </a:prstGeom>
              <a:noFill/>
            </p:spPr>
            <p:txBody>
              <a:bodyPr wrap="square" rtlCol="0">
                <a:spAutoFit/>
              </a:bodyPr>
              <a:lstStyle/>
              <a:p>
                <a:pPr marL="285750" indent="-285750">
                  <a:lnSpc>
                    <a:spcPct val="107000"/>
                  </a:lnSpc>
                  <a:spcAft>
                    <a:spcPts val="800"/>
                  </a:spcAft>
                  <a:buFont typeface="Courier New" panose="02070309020205020404" pitchFamily="49" charset="0"/>
                  <a:buChar char="o"/>
                </a:pPr>
                <a:r>
                  <a:rPr lang="it-IT" dirty="0"/>
                  <a:t>Sviluppare un sistema completo per la registrazione di immagini multimodali acquisite da sensori differenti.</a:t>
                </a:r>
              </a:p>
              <a:p>
                <a:pPr marL="285750" indent="-285750">
                  <a:lnSpc>
                    <a:spcPct val="107000"/>
                  </a:lnSpc>
                  <a:spcAft>
                    <a:spcPts val="800"/>
                  </a:spcAft>
                  <a:buFont typeface="Courier New" panose="02070309020205020404" pitchFamily="49" charset="0"/>
                  <a:buChar char="o"/>
                </a:pPr>
                <a:r>
                  <a:rPr lang="it-IT" dirty="0"/>
                  <a:t>Stimare una trasformazione geometrica (roto-traslazione con tre parametri) tra coppie di immagini massimizzando la Mutua Informazione.</a:t>
                </a:r>
              </a:p>
              <a:p>
                <a:pPr algn="ctr">
                  <a:lnSpc>
                    <a:spcPct val="107000"/>
                  </a:lnSpc>
                  <a:spcAft>
                    <a:spcPts val="800"/>
                  </a:spcAft>
                </a:pP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𝑇</m:t>
                        </m:r>
                      </m:e>
                      <m:sup>
                        <m:r>
                          <a:rPr lang="it-IT" i="1">
                            <a:latin typeface="Cambria Math" panose="02040503050406030204" pitchFamily="18" charset="0"/>
                          </a:rPr>
                          <m:t>∗</m:t>
                        </m:r>
                      </m:sup>
                    </m:sSup>
                    <m:r>
                      <a:rPr lang="it-IT" i="1">
                        <a:latin typeface="Cambria Math" panose="02040503050406030204" pitchFamily="18" charset="0"/>
                      </a:rPr>
                      <m:t>=</m:t>
                    </m:r>
                  </m:oMath>
                </a14:m>
                <a:r>
                  <a:rPr lang="it-IT" dirty="0"/>
                  <a:t> </a:t>
                </a:r>
                <a14:m>
                  <m:oMath xmlns:m="http://schemas.openxmlformats.org/officeDocument/2006/math">
                    <m:r>
                      <m:rPr>
                        <m:sty m:val="p"/>
                      </m:rPr>
                      <a:rPr lang="it-IT" dirty="0">
                        <a:latin typeface="Cambria Math" panose="02040503050406030204" pitchFamily="18" charset="0"/>
                      </a:rPr>
                      <m:t>a</m:t>
                    </m:r>
                    <m:r>
                      <m:rPr>
                        <m:sty m:val="p"/>
                      </m:rPr>
                      <a:rPr lang="it-IT" b="0" i="0" dirty="0" smtClean="0">
                        <a:latin typeface="Cambria Math" panose="02040503050406030204" pitchFamily="18" charset="0"/>
                      </a:rPr>
                      <m:t>rg</m:t>
                    </m:r>
                    <m:limLow>
                      <m:limLowPr>
                        <m:ctrlPr>
                          <a:rPr lang="it-IT" i="1">
                            <a:latin typeface="Cambria Math" panose="02040503050406030204" pitchFamily="18" charset="0"/>
                          </a:rPr>
                        </m:ctrlPr>
                      </m:limLowPr>
                      <m:e>
                        <m:r>
                          <a:rPr lang="it-IT" b="0" i="1" smtClean="0">
                            <a:latin typeface="Cambria Math" panose="02040503050406030204" pitchFamily="18" charset="0"/>
                          </a:rPr>
                          <m:t>𝑚𝑎𝑥</m:t>
                        </m:r>
                      </m:e>
                      <m:lim>
                        <m:r>
                          <a:rPr lang="it-IT" i="1">
                            <a:latin typeface="Cambria Math" panose="02040503050406030204" pitchFamily="18" charset="0"/>
                          </a:rPr>
                          <m:t>𝑇</m:t>
                        </m:r>
                      </m:lim>
                    </m:limLow>
                    <m:r>
                      <a:rPr lang="it-IT" b="0" i="1" smtClean="0">
                        <a:latin typeface="Cambria Math" panose="02040503050406030204" pitchFamily="18" charset="0"/>
                      </a:rPr>
                      <m:t> </m:t>
                    </m:r>
                    <m:r>
                      <a:rPr lang="it-IT" i="1">
                        <a:latin typeface="Cambria Math" panose="02040503050406030204" pitchFamily="18" charset="0"/>
                      </a:rPr>
                      <m:t>𝑀𝐼</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𝑅</m:t>
                            </m:r>
                          </m:sub>
                        </m:sSub>
                        <m:r>
                          <a:rPr lang="it-IT" i="1">
                            <a:latin typeface="Cambria Math" panose="02040503050406030204" pitchFamily="18" charset="0"/>
                          </a:rPr>
                          <m:t>,</m:t>
                        </m:r>
                        <m:r>
                          <a:rPr lang="it-IT" i="1">
                            <a:latin typeface="Cambria Math" panose="02040503050406030204" pitchFamily="18" charset="0"/>
                          </a:rPr>
                          <m:t>𝑇</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𝑚</m:t>
                                </m:r>
                              </m:sub>
                            </m:sSub>
                          </m:e>
                        </m:d>
                      </m:e>
                    </m:d>
                  </m:oMath>
                </a14:m>
                <a:r>
                  <a:rPr lang="it-IT" dirty="0"/>
                  <a:t> </a:t>
                </a:r>
              </a:p>
              <a:p>
                <a:pPr marL="285750" indent="-285750">
                  <a:lnSpc>
                    <a:spcPct val="107000"/>
                  </a:lnSpc>
                  <a:spcAft>
                    <a:spcPts val="800"/>
                  </a:spcAft>
                  <a:buFont typeface="Courier New" panose="02070309020205020404" pitchFamily="49" charset="0"/>
                  <a:buChar char="o"/>
                </a:pPr>
                <a:r>
                  <a:rPr lang="it-IT" dirty="0"/>
                  <a:t>Determinare i valori degli iperparametri che producono, in media, la configurazione migliore: </a:t>
                </a:r>
              </a:p>
              <a:p>
                <a:pPr marL="800100" lvl="1" indent="-342900">
                  <a:lnSpc>
                    <a:spcPct val="107000"/>
                  </a:lnSpc>
                  <a:spcAft>
                    <a:spcPts val="800"/>
                  </a:spcAft>
                  <a:buFont typeface="+mj-lt"/>
                  <a:buAutoNum type="arabicParenR"/>
                </a:pPr>
                <a:r>
                  <a:rPr lang="it-IT" dirty="0"/>
                  <a:t>numero di bin (obbligatorio)</a:t>
                </a:r>
              </a:p>
              <a:p>
                <a:pPr marL="800100" lvl="1" indent="-342900">
                  <a:lnSpc>
                    <a:spcPct val="107000"/>
                  </a:lnSpc>
                  <a:spcAft>
                    <a:spcPts val="800"/>
                  </a:spcAft>
                  <a:buFont typeface="+mj-lt"/>
                  <a:buAutoNum type="arabicParenR"/>
                </a:pPr>
                <a:r>
                  <a:rPr lang="it-IT" dirty="0"/>
                  <a:t>miglior algoritmo di ottimizzazione (opzionale)</a:t>
                </a:r>
              </a:p>
            </p:txBody>
          </p:sp>
        </mc:Choice>
        <mc:Fallback xmlns="">
          <p:sp>
            <p:nvSpPr>
              <p:cNvPr id="5" name="CasellaDiTesto 4">
                <a:extLst>
                  <a:ext uri="{FF2B5EF4-FFF2-40B4-BE49-F238E27FC236}">
                    <a16:creationId xmlns:a16="http://schemas.microsoft.com/office/drawing/2014/main" id="{10525F7A-4DC6-79A8-6E00-A0ADB51B841E}"/>
                  </a:ext>
                </a:extLst>
              </p:cNvPr>
              <p:cNvSpPr txBox="1">
                <a:spLocks noRot="1" noChangeAspect="1" noMove="1" noResize="1" noEditPoints="1" noAdjustHandles="1" noChangeArrowheads="1" noChangeShapeType="1" noTextEdit="1"/>
              </p:cNvSpPr>
              <p:nvPr/>
            </p:nvSpPr>
            <p:spPr>
              <a:xfrm>
                <a:off x="394077" y="2092089"/>
                <a:ext cx="11403839" cy="2780698"/>
              </a:xfrm>
              <a:prstGeom prst="rect">
                <a:avLst/>
              </a:prstGeom>
              <a:blipFill>
                <a:blip r:embed="rId2"/>
                <a:stretch>
                  <a:fillRect l="-374" t="-658" b="-2851"/>
                </a:stretch>
              </a:blipFill>
            </p:spPr>
            <p:txBody>
              <a:bodyPr/>
              <a:lstStyle/>
              <a:p>
                <a:r>
                  <a:rPr lang="it-IT">
                    <a:noFill/>
                  </a:rPr>
                  <a:t> </a:t>
                </a:r>
              </a:p>
            </p:txBody>
          </p:sp>
        </mc:Fallback>
      </mc:AlternateContent>
      <p:sp>
        <p:nvSpPr>
          <p:cNvPr id="7" name="TextBox 2">
            <a:extLst>
              <a:ext uri="{FF2B5EF4-FFF2-40B4-BE49-F238E27FC236}">
                <a16:creationId xmlns:a16="http://schemas.microsoft.com/office/drawing/2014/main" id="{58096F9F-86F4-200A-D3BD-709ABE31CBA7}"/>
              </a:ext>
            </a:extLst>
          </p:cNvPr>
          <p:cNvSpPr txBox="1"/>
          <p:nvPr/>
        </p:nvSpPr>
        <p:spPr>
          <a:xfrm>
            <a:off x="434200" y="1643695"/>
            <a:ext cx="9160501" cy="39857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2800" b="0" noProof="0" dirty="0"/>
              <a:t>Obiettivi</a:t>
            </a:r>
          </a:p>
        </p:txBody>
      </p:sp>
      <p:sp>
        <p:nvSpPr>
          <p:cNvPr id="3" name="CasellaDiTesto 2">
            <a:extLst>
              <a:ext uri="{FF2B5EF4-FFF2-40B4-BE49-F238E27FC236}">
                <a16:creationId xmlns:a16="http://schemas.microsoft.com/office/drawing/2014/main" id="{3FE51B48-2E77-B70F-5A1A-8E5C448C83BA}"/>
              </a:ext>
            </a:extLst>
          </p:cNvPr>
          <p:cNvSpPr txBox="1"/>
          <p:nvPr/>
        </p:nvSpPr>
        <p:spPr>
          <a:xfrm>
            <a:off x="394076" y="5562690"/>
            <a:ext cx="11403839" cy="971292"/>
          </a:xfrm>
          <a:prstGeom prst="rect">
            <a:avLst/>
          </a:prstGeom>
          <a:noFill/>
        </p:spPr>
        <p:txBody>
          <a:bodyPr wrap="square" rtlCol="0">
            <a:spAutoFit/>
          </a:bodyPr>
          <a:lstStyle/>
          <a:p>
            <a:pPr marL="285750" indent="-285750">
              <a:lnSpc>
                <a:spcPct val="107000"/>
              </a:lnSpc>
              <a:spcAft>
                <a:spcPts val="800"/>
              </a:spcAft>
              <a:buFont typeface="Courier New" panose="02070309020205020404" pitchFamily="49" charset="0"/>
              <a:buChar char="o"/>
            </a:pPr>
            <a:r>
              <a:rPr lang="it-IT" dirty="0"/>
              <a:t>L’insieme dei dati è suddiviso in validation e test set, in ognuno si hanno a disposizione otto coppie di immagini provenienti da acquisizioni satellitari. Inoltre, le coppie di ciascun set sono caratterizzate da un disallineamento progressivo.</a:t>
            </a:r>
          </a:p>
        </p:txBody>
      </p:sp>
      <p:sp>
        <p:nvSpPr>
          <p:cNvPr id="4" name="TextBox 2">
            <a:extLst>
              <a:ext uri="{FF2B5EF4-FFF2-40B4-BE49-F238E27FC236}">
                <a16:creationId xmlns:a16="http://schemas.microsoft.com/office/drawing/2014/main" id="{E5F07409-679A-1541-6E67-898C179B2CCC}"/>
              </a:ext>
            </a:extLst>
          </p:cNvPr>
          <p:cNvSpPr txBox="1"/>
          <p:nvPr/>
        </p:nvSpPr>
        <p:spPr>
          <a:xfrm>
            <a:off x="434200" y="5020575"/>
            <a:ext cx="9160501" cy="39857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2800" b="0" noProof="0" dirty="0"/>
              <a:t>Dataset</a:t>
            </a:r>
          </a:p>
        </p:txBody>
      </p:sp>
    </p:spTree>
    <p:extLst>
      <p:ext uri="{BB962C8B-B14F-4D97-AF65-F5344CB8AC3E}">
        <p14:creationId xmlns:p14="http://schemas.microsoft.com/office/powerpoint/2010/main" val="38596506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FD23D-253A-5C29-5D12-A7AFAFD1C0FA}"/>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AC1EBE0C-E805-BFEA-420F-26D1697AAAD4}"/>
              </a:ext>
            </a:extLst>
          </p:cNvPr>
          <p:cNvSpPr txBox="1"/>
          <p:nvPr/>
        </p:nvSpPr>
        <p:spPr>
          <a:xfrm>
            <a:off x="370318" y="302655"/>
            <a:ext cx="5799674"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Introduzione</a:t>
            </a:r>
            <a:endParaRPr lang="it-IT" sz="4067" noProof="0" dirty="0"/>
          </a:p>
        </p:txBody>
      </p:sp>
      <p:sp>
        <p:nvSpPr>
          <p:cNvPr id="5" name="CasellaDiTesto 4">
            <a:extLst>
              <a:ext uri="{FF2B5EF4-FFF2-40B4-BE49-F238E27FC236}">
                <a16:creationId xmlns:a16="http://schemas.microsoft.com/office/drawing/2014/main" id="{39D0B398-873E-3B92-72F6-E5AE38CC424B}"/>
              </a:ext>
            </a:extLst>
          </p:cNvPr>
          <p:cNvSpPr txBox="1"/>
          <p:nvPr/>
        </p:nvSpPr>
        <p:spPr>
          <a:xfrm>
            <a:off x="370318" y="1034754"/>
            <a:ext cx="11202250" cy="5702715"/>
          </a:xfrm>
          <a:prstGeom prst="rect">
            <a:avLst/>
          </a:prstGeom>
          <a:noFill/>
        </p:spPr>
        <p:txBody>
          <a:bodyPr wrap="square" rtlCol="0">
            <a:spAutoFit/>
          </a:bodyPr>
          <a:lstStyle/>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La registrazione consiste nel determinare una trasformazione geometrica che allinea punti corrispondenti di due immagini</a:t>
            </a:r>
            <a:r>
              <a:rPr lang="it-IT" sz="1900" kern="100" baseline="30000" dirty="0">
                <a:cs typeface="Arial" panose="020B0604020202020204" pitchFamily="34" charset="0"/>
              </a:rPr>
              <a:t>[1]</a:t>
            </a:r>
            <a:r>
              <a:rPr lang="it-IT" sz="1900" kern="100" dirty="0">
                <a:cs typeface="Arial" panose="020B0604020202020204" pitchFamily="34" charset="0"/>
              </a:rPr>
              <a:t>. </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Vista la natura differente delle immagini da analizzare, in quanto acquisite da sensori differenti, non è possibile ricorrere ai metodi basati su features.</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L’idea è stabilire un certo criterio di similarità tra immagine reference e moving, ossia quella trasformata in base a T. Il criterio scelto è la Mutua Informazione che si basa sul concetto di entropia e che quindi è direttamente collegata alla probabilità.</a:t>
            </a:r>
          </a:p>
          <a:p>
            <a:pPr marL="285750" indent="-285750">
              <a:lnSpc>
                <a:spcPct val="107000"/>
              </a:lnSpc>
              <a:spcAft>
                <a:spcPts val="800"/>
              </a:spcAft>
              <a:buFont typeface="Courier New" panose="02070309020205020404" pitchFamily="49" charset="0"/>
              <a:buChar char="o"/>
            </a:pPr>
            <a:endParaRPr lang="it-IT" sz="1900" kern="100" dirty="0">
              <a:cs typeface="Arial" panose="020B0604020202020204" pitchFamily="34" charset="0"/>
            </a:endParaRP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Dapprima si costruisce un istogramma 2D, quindi si stabilisce il numero di bin con cui suddividere il range di intensità (0-255) e supponiamo sia lo stesso per entrambi gli assi. Ogni bin rappresenta un intervallo di intensità.</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Successivamente si analizzano di pari passo i pixel in termini di indici di entrambe le immagini e si ricava la coppia (intensità_pixel_ref, intensità_pixel_mov). L’istogramma 2D sarà quindi una griglia le cui celle rappresentano la frequenza assoluta ossia quante volte si è manifestata tale coppia.</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A partire dalle frequenze assolute si calcolano quelle relative che forniscono difatti una stima della probabilità corrispondente alla coppia. Infine si calcola la Mutua Informazione.</a:t>
            </a:r>
          </a:p>
        </p:txBody>
      </p:sp>
      <mc:AlternateContent xmlns:mc="http://schemas.openxmlformats.org/markup-compatibility/2006" xmlns:a14="http://schemas.microsoft.com/office/drawing/2010/main">
        <mc:Choice Requires="a14">
          <p:sp>
            <p:nvSpPr>
              <p:cNvPr id="4" name="CasellaDiTesto 3">
                <a:extLst>
                  <a:ext uri="{FF2B5EF4-FFF2-40B4-BE49-F238E27FC236}">
                    <a16:creationId xmlns:a16="http://schemas.microsoft.com/office/drawing/2014/main" id="{222EAED3-C73B-6DCA-0A5E-44AE81C34F27}"/>
                  </a:ext>
                </a:extLst>
              </p:cNvPr>
              <p:cNvSpPr txBox="1"/>
              <p:nvPr/>
            </p:nvSpPr>
            <p:spPr>
              <a:xfrm>
                <a:off x="2349006" y="3508635"/>
                <a:ext cx="7641972" cy="377476"/>
              </a:xfrm>
              <a:prstGeom prst="rect">
                <a:avLst/>
              </a:prstGeom>
              <a:noFill/>
            </p:spPr>
            <p:txBody>
              <a:bodyPr wrap="square">
                <a:spAutoFit/>
              </a:bodyPr>
              <a:lstStyle/>
              <a:p>
                <a:pPr>
                  <a:lnSpc>
                    <a:spcPct val="107000"/>
                  </a:lnSpc>
                  <a:spcAft>
                    <a:spcPts val="800"/>
                  </a:spcAft>
                </a:pPr>
                <a14:m>
                  <m:oMath xmlns:m="http://schemas.openxmlformats.org/officeDocument/2006/math">
                    <m:r>
                      <a:rPr lang="it-IT" i="1" smtClean="0">
                        <a:latin typeface="Cambria Math" panose="02040503050406030204" pitchFamily="18" charset="0"/>
                      </a:rPr>
                      <m:t>𝐻</m:t>
                    </m:r>
                    <m:d>
                      <m:dPr>
                        <m:ctrlPr>
                          <a:rPr lang="it-IT" i="1" smtClean="0">
                            <a:latin typeface="Cambria Math" panose="02040503050406030204" pitchFamily="18" charset="0"/>
                          </a:rPr>
                        </m:ctrlPr>
                      </m:dPr>
                      <m:e>
                        <m:r>
                          <a:rPr lang="it-IT" b="0" i="1" smtClean="0">
                            <a:latin typeface="Cambria Math" panose="02040503050406030204" pitchFamily="18" charset="0"/>
                          </a:rPr>
                          <m:t>𝐼</m:t>
                        </m:r>
                      </m:e>
                    </m:d>
                    <m:r>
                      <a:rPr lang="it-IT" b="0" i="1" smtClean="0">
                        <a:latin typeface="Cambria Math" panose="02040503050406030204" pitchFamily="18" charset="0"/>
                      </a:rPr>
                      <m:t>=</m:t>
                    </m:r>
                    <m:r>
                      <a:rPr lang="en-US" b="0" i="1" smtClean="0">
                        <a:latin typeface="Cambria Math" panose="02040503050406030204" pitchFamily="18" charset="0"/>
                      </a:rPr>
                      <m:t>−</m:t>
                    </m:r>
                    <m:nary>
                      <m:naryPr>
                        <m:chr m:val="∑"/>
                        <m:supHide m:val="on"/>
                        <m:ctrlPr>
                          <a:rPr lang="it-IT" b="0" i="1" smtClean="0">
                            <a:latin typeface="Cambria Math" panose="02040503050406030204" pitchFamily="18" charset="0"/>
                          </a:rPr>
                        </m:ctrlPr>
                      </m:naryPr>
                      <m:sub>
                        <m:r>
                          <m:rPr>
                            <m:brk m:alnAt="7"/>
                          </m:rPr>
                          <a:rPr lang="it-IT" b="0" i="1" smtClean="0">
                            <a:latin typeface="Cambria Math" panose="02040503050406030204" pitchFamily="18" charset="0"/>
                          </a:rPr>
                          <m:t>𝑖</m:t>
                        </m:r>
                      </m:sub>
                      <m:sup/>
                      <m:e>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𝑖</m:t>
                            </m:r>
                          </m:e>
                        </m:d>
                        <m:func>
                          <m:funcPr>
                            <m:ctrlPr>
                              <a:rPr lang="it-IT" b="0" i="1" smtClean="0">
                                <a:latin typeface="Cambria Math" panose="02040503050406030204" pitchFamily="18" charset="0"/>
                              </a:rPr>
                            </m:ctrlPr>
                          </m:funcPr>
                          <m:fName>
                            <m:r>
                              <m:rPr>
                                <m:sty m:val="p"/>
                              </m:rPr>
                              <a:rPr lang="it-IT" b="0" i="0" smtClean="0">
                                <a:latin typeface="Cambria Math" panose="02040503050406030204" pitchFamily="18" charset="0"/>
                              </a:rPr>
                              <m:t>log</m:t>
                            </m:r>
                          </m:fName>
                          <m:e>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𝑖</m:t>
                                </m:r>
                              </m:e>
                            </m:d>
                          </m:e>
                        </m:func>
                        <m:r>
                          <a:rPr lang="en-US" b="0" i="1" smtClean="0">
                            <a:latin typeface="Cambria Math" panose="02040503050406030204" pitchFamily="18" charset="0"/>
                          </a:rPr>
                          <m:t> </m:t>
                        </m:r>
                      </m:e>
                    </m:nary>
                  </m:oMath>
                </a14:m>
                <a:r>
                  <a:rPr lang="it-IT" dirty="0"/>
                  <a:t>  quindi </a:t>
                </a:r>
                <a14:m>
                  <m:oMath xmlns:m="http://schemas.openxmlformats.org/officeDocument/2006/math">
                    <m:r>
                      <a:rPr lang="en-US" b="0" i="0" smtClean="0">
                        <a:latin typeface="Cambria Math" panose="02040503050406030204" pitchFamily="18" charset="0"/>
                      </a:rPr>
                      <m:t>  </m:t>
                    </m:r>
                    <m:r>
                      <a:rPr lang="it-IT" i="1">
                        <a:latin typeface="Cambria Math" panose="02040503050406030204" pitchFamily="18" charset="0"/>
                      </a:rPr>
                      <m:t>𝑀𝐼</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𝑅</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𝑚</m:t>
                            </m:r>
                          </m:sub>
                        </m:sSub>
                      </m:e>
                    </m:d>
                    <m:r>
                      <a:rPr lang="en-US" i="1">
                        <a:latin typeface="Cambria Math" panose="02040503050406030204" pitchFamily="18" charset="0"/>
                      </a:rPr>
                      <m:t>=</m:t>
                    </m:r>
                    <m:r>
                      <a:rPr lang="en-US" i="1">
                        <a:latin typeface="Cambria Math" panose="02040503050406030204" pitchFamily="18" charset="0"/>
                      </a:rPr>
                      <m:t>𝐻</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𝑅</m:t>
                            </m:r>
                          </m:sub>
                        </m:sSub>
                      </m:e>
                    </m:d>
                    <m:r>
                      <a:rPr lang="en-US" i="1">
                        <a:latin typeface="Cambria Math" panose="02040503050406030204" pitchFamily="18" charset="0"/>
                      </a:rPr>
                      <m:t>+</m:t>
                    </m:r>
                    <m:r>
                      <a:rPr lang="en-US" i="1">
                        <a:latin typeface="Cambria Math" panose="02040503050406030204" pitchFamily="18" charset="0"/>
                      </a:rPr>
                      <m:t>𝐻</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𝑚</m:t>
                            </m:r>
                          </m:sub>
                        </m:sSub>
                      </m:e>
                    </m:d>
                    <m:r>
                      <a:rPr lang="en-US" i="1">
                        <a:latin typeface="Cambria Math" panose="02040503050406030204" pitchFamily="18" charset="0"/>
                      </a:rPr>
                      <m:t>−</m:t>
                    </m:r>
                    <m:r>
                      <a:rPr lang="en-US" i="1">
                        <a:latin typeface="Cambria Math" panose="02040503050406030204" pitchFamily="18" charset="0"/>
                      </a:rPr>
                      <m:t>𝐻</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𝑅</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𝑚</m:t>
                            </m:r>
                          </m:sub>
                        </m:sSub>
                        <m:r>
                          <a:rPr lang="it-IT" i="1">
                            <a:latin typeface="Cambria Math" panose="02040503050406030204" pitchFamily="18" charset="0"/>
                          </a:rPr>
                          <m:t> </m:t>
                        </m:r>
                      </m:e>
                    </m:d>
                  </m:oMath>
                </a14:m>
                <a:endParaRPr lang="it-IT" dirty="0"/>
              </a:p>
            </p:txBody>
          </p:sp>
        </mc:Choice>
        <mc:Fallback xmlns="">
          <p:sp>
            <p:nvSpPr>
              <p:cNvPr id="4" name="CasellaDiTesto 3">
                <a:extLst>
                  <a:ext uri="{FF2B5EF4-FFF2-40B4-BE49-F238E27FC236}">
                    <a16:creationId xmlns:a16="http://schemas.microsoft.com/office/drawing/2014/main" id="{222EAED3-C73B-6DCA-0A5E-44AE81C34F27}"/>
                  </a:ext>
                </a:extLst>
              </p:cNvPr>
              <p:cNvSpPr txBox="1">
                <a:spLocks noRot="1" noChangeAspect="1" noMove="1" noResize="1" noEditPoints="1" noAdjustHandles="1" noChangeArrowheads="1" noChangeShapeType="1" noTextEdit="1"/>
              </p:cNvSpPr>
              <p:nvPr/>
            </p:nvSpPr>
            <p:spPr>
              <a:xfrm>
                <a:off x="2349006" y="3508635"/>
                <a:ext cx="7641972" cy="377476"/>
              </a:xfrm>
              <a:prstGeom prst="rect">
                <a:avLst/>
              </a:prstGeom>
              <a:blipFill>
                <a:blip r:embed="rId2"/>
                <a:stretch>
                  <a:fillRect t="-118033" b="-185246"/>
                </a:stretch>
              </a:blipFill>
            </p:spPr>
            <p:txBody>
              <a:bodyPr/>
              <a:lstStyle/>
              <a:p>
                <a:r>
                  <a:rPr lang="it-IT">
                    <a:noFill/>
                  </a:rPr>
                  <a:t> </a:t>
                </a:r>
              </a:p>
            </p:txBody>
          </p:sp>
        </mc:Fallback>
      </mc:AlternateContent>
    </p:spTree>
    <p:extLst>
      <p:ext uri="{BB962C8B-B14F-4D97-AF65-F5344CB8AC3E}">
        <p14:creationId xmlns:p14="http://schemas.microsoft.com/office/powerpoint/2010/main" val="3484794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E4940F-67EB-7D35-A06C-4E4D8EC75484}"/>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D288A905-32DA-5A7D-7DB8-E4973BD05ACD}"/>
              </a:ext>
            </a:extLst>
          </p:cNvPr>
          <p:cNvSpPr txBox="1"/>
          <p:nvPr/>
        </p:nvSpPr>
        <p:spPr>
          <a:xfrm>
            <a:off x="370318" y="327855"/>
            <a:ext cx="5799674"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noProof="0" dirty="0"/>
              <a:t>La procedura</a:t>
            </a:r>
          </a:p>
        </p:txBody>
      </p:sp>
      <p:sp>
        <p:nvSpPr>
          <p:cNvPr id="5" name="CasellaDiTesto 4">
            <a:extLst>
              <a:ext uri="{FF2B5EF4-FFF2-40B4-BE49-F238E27FC236}">
                <a16:creationId xmlns:a16="http://schemas.microsoft.com/office/drawing/2014/main" id="{F84CA9A8-31D2-1A2B-700E-7B0819C365F8}"/>
              </a:ext>
            </a:extLst>
          </p:cNvPr>
          <p:cNvSpPr txBox="1"/>
          <p:nvPr/>
        </p:nvSpPr>
        <p:spPr>
          <a:xfrm>
            <a:off x="370318" y="1301355"/>
            <a:ext cx="11202250" cy="4780668"/>
          </a:xfrm>
          <a:prstGeom prst="rect">
            <a:avLst/>
          </a:prstGeom>
          <a:noFill/>
        </p:spPr>
        <p:txBody>
          <a:bodyPr wrap="square" rtlCol="0">
            <a:spAutoFit/>
          </a:bodyPr>
          <a:lstStyle/>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L’approccio sviluppato ha come fulcro una pipeline. Tale pipeline riceve in ingresso la coppia reference e moving, effettua la </a:t>
            </a:r>
            <a:r>
              <a:rPr lang="it-IT" sz="2000" dirty="0"/>
              <a:t>massimizzazione della MI </a:t>
            </a:r>
            <a:r>
              <a:rPr lang="it-IT" sz="1900" kern="100" dirty="0">
                <a:cs typeface="Arial" panose="020B0604020202020204" pitchFamily="34" charset="0"/>
              </a:rPr>
              <a:t>e restituisce un vettore di tre componenti, ogni componente rappresenta un parametro della roto-traslazione: tx, ty, theta. Da notare che la massimizzazione avviene grazie ad un ottimizzatore che sfrutta differenti metodi numerici.</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La pipeline è molto versatile in quanto consente di impostare il numero di bin con cui effettuare il calcolo della MI ed il metodo di ottimizzazione.</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È stata implementata una gridsearch degli iperparametri che coinvolge tale pipeline. In particolare, il dominio di ricerca prevede che ogni iperparametro assuma uno dei seguenti valori:</a:t>
            </a:r>
          </a:p>
          <a:p>
            <a:pPr marL="800100" lvl="1" indent="-342900">
              <a:lnSpc>
                <a:spcPct val="107000"/>
              </a:lnSpc>
              <a:spcAft>
                <a:spcPts val="800"/>
              </a:spcAft>
              <a:buFont typeface="Wingdings" panose="05000000000000000000" pitchFamily="2" charset="2"/>
              <a:buChar char="§"/>
            </a:pPr>
            <a:r>
              <a:rPr lang="it-IT" sz="1900" kern="100" dirty="0">
                <a:cs typeface="Arial" panose="020B0604020202020204" pitchFamily="34" charset="0"/>
              </a:rPr>
              <a:t>Numero di bin -&gt; (64, 128, 256)</a:t>
            </a:r>
          </a:p>
          <a:p>
            <a:pPr marL="800100" lvl="1" indent="-342900">
              <a:lnSpc>
                <a:spcPct val="107000"/>
              </a:lnSpc>
              <a:spcAft>
                <a:spcPts val="800"/>
              </a:spcAft>
              <a:buFont typeface="Wingdings" panose="05000000000000000000" pitchFamily="2" charset="2"/>
              <a:buChar char="§"/>
            </a:pPr>
            <a:r>
              <a:rPr lang="it-IT" sz="1900" kern="100" dirty="0">
                <a:cs typeface="Arial" panose="020B0604020202020204" pitchFamily="34" charset="0"/>
              </a:rPr>
              <a:t>Metodo di ottimizzazione -&gt; (Powell, Nelder-Mead, BFGS)</a:t>
            </a:r>
          </a:p>
          <a:p>
            <a:pPr marL="342900" indent="-342900">
              <a:lnSpc>
                <a:spcPct val="107000"/>
              </a:lnSpc>
              <a:spcAft>
                <a:spcPts val="800"/>
              </a:spcAft>
              <a:buFont typeface="Courier New" panose="02070309020205020404" pitchFamily="49" charset="0"/>
              <a:buChar char="o"/>
            </a:pPr>
            <a:r>
              <a:rPr lang="it-IT" sz="1900" kern="100" dirty="0">
                <a:cs typeface="Arial" panose="020B0604020202020204" pitchFamily="34" charset="0"/>
              </a:rPr>
              <a:t>La gridsearch produce un file csv in cui sono presenti tutte le configurazioni. Quindi una funzione di valutazione estrae, come da specifiche, quella avente errore medio minimo.</a:t>
            </a:r>
          </a:p>
          <a:p>
            <a:pPr marL="342900" indent="-342900">
              <a:lnSpc>
                <a:spcPct val="107000"/>
              </a:lnSpc>
              <a:spcAft>
                <a:spcPts val="800"/>
              </a:spcAft>
              <a:buFont typeface="Courier New" panose="02070309020205020404" pitchFamily="49" charset="0"/>
              <a:buChar char="o"/>
            </a:pPr>
            <a:r>
              <a:rPr lang="it-IT" sz="1900" kern="100" dirty="0">
                <a:cs typeface="Arial" panose="020B0604020202020204" pitchFamily="34" charset="0"/>
              </a:rPr>
              <a:t>È importante notare che per il calcolo dell’errore si è impiegata la metrica MAE.</a:t>
            </a:r>
          </a:p>
        </p:txBody>
      </p:sp>
    </p:spTree>
    <p:extLst>
      <p:ext uri="{BB962C8B-B14F-4D97-AF65-F5344CB8AC3E}">
        <p14:creationId xmlns:p14="http://schemas.microsoft.com/office/powerpoint/2010/main" val="1704569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6FA9A-2198-14C0-9E63-50A16B9A1543}"/>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1EFDC6AE-1F3E-D6B2-6ED6-5830A4B80F49}"/>
              </a:ext>
            </a:extLst>
          </p:cNvPr>
          <p:cNvSpPr txBox="1"/>
          <p:nvPr/>
        </p:nvSpPr>
        <p:spPr>
          <a:xfrm>
            <a:off x="370318" y="431245"/>
            <a:ext cx="5799674"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Primi tentativi</a:t>
            </a:r>
            <a:endParaRPr lang="it-IT" sz="4067" noProof="0" dirty="0"/>
          </a:p>
        </p:txBody>
      </p:sp>
      <p:sp>
        <p:nvSpPr>
          <p:cNvPr id="5" name="CasellaDiTesto 4">
            <a:extLst>
              <a:ext uri="{FF2B5EF4-FFF2-40B4-BE49-F238E27FC236}">
                <a16:creationId xmlns:a16="http://schemas.microsoft.com/office/drawing/2014/main" id="{23D9CCE9-28B4-EBAE-AB00-53A8D367DDE4}"/>
              </a:ext>
            </a:extLst>
          </p:cNvPr>
          <p:cNvSpPr txBox="1"/>
          <p:nvPr/>
        </p:nvSpPr>
        <p:spPr>
          <a:xfrm>
            <a:off x="370318" y="1344658"/>
            <a:ext cx="11202250" cy="5082097"/>
          </a:xfrm>
          <a:prstGeom prst="rect">
            <a:avLst/>
          </a:prstGeom>
          <a:noFill/>
        </p:spPr>
        <p:txBody>
          <a:bodyPr wrap="square" rtlCol="0">
            <a:spAutoFit/>
          </a:bodyPr>
          <a:lstStyle/>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Le prime versioni del codice svolgevano una gridsearch completa sia per trovare i migliori metodi di ottimizzazione che il miglior numero di bin. Questo perché non sapendo niente a priori, si è voluto testare in maniera grossolana le performance raggiunte.</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Il primo problema è stata la presenza di valori nulli di probabilità . In base al numero di bin impiegato, alcune celle risultano con zero occorrenze. Questo perché vi sono tante coppie di intensità possibili. In questo caso è bastato applicare una maschera che considera solo le celle con valori positivi. </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Il secondo problema è stato bilanciare l’istogramma. Questo perché, a seguito della trasformazione T, alcuni pixel dell’immagine vengono mappati al di fuori del frame. Per le zone rimaste «vuote», OpenCV assegna automaticamente un valore di intensità nullo. Ciò causa un elevato aumento delle occorrenze in cui sono coinvolti questi pixel neri, dando quindi maggior contribuito a queste zone di assenza dell’immagine. In questo caso si è considerata una maschera, avente pixel tutti bianchi, a cui si applica la trasformazione T. Quindi si considerano solo le posizioni dei pixel bianchi a seguito della trasformazione per il calcolo dell’istogramma. Questa interpretazione è frutto del lavoro svolto da [2].</a:t>
            </a:r>
          </a:p>
          <a:p>
            <a:pPr marL="285750" indent="-285750">
              <a:lnSpc>
                <a:spcPct val="107000"/>
              </a:lnSpc>
              <a:spcAft>
                <a:spcPts val="800"/>
              </a:spcAft>
              <a:buFont typeface="Courier New" panose="02070309020205020404" pitchFamily="49" charset="0"/>
              <a:buChar char="o"/>
            </a:pPr>
            <a:r>
              <a:rPr lang="it-IT" sz="1900" kern="100" noProof="0" dirty="0">
                <a:cs typeface="Arial" panose="020B0604020202020204" pitchFamily="34" charset="0"/>
              </a:rPr>
              <a:t>Dai primi risultati</a:t>
            </a:r>
            <a:r>
              <a:rPr lang="it-IT" sz="1900" kern="100" dirty="0">
                <a:cs typeface="Arial" panose="020B0604020202020204" pitchFamily="34" charset="0"/>
              </a:rPr>
              <a:t> appare evidente la supremazia del metodo Powell, si è scelto di procedere con il suo utilizzo poiché con la configurazione di default produce risultati con una bontà soddisfacente.</a:t>
            </a:r>
          </a:p>
        </p:txBody>
      </p:sp>
    </p:spTree>
    <p:extLst>
      <p:ext uri="{BB962C8B-B14F-4D97-AF65-F5344CB8AC3E}">
        <p14:creationId xmlns:p14="http://schemas.microsoft.com/office/powerpoint/2010/main" val="262155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0B00A-F451-3E4E-D493-F3920BDAA25C}"/>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E52AA55D-2123-C785-43D3-220C183BC11D}"/>
              </a:ext>
            </a:extLst>
          </p:cNvPr>
          <p:cNvSpPr txBox="1"/>
          <p:nvPr/>
        </p:nvSpPr>
        <p:spPr>
          <a:xfrm>
            <a:off x="389369" y="512046"/>
            <a:ext cx="7033985"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Matrice T e Preprocessing</a:t>
            </a:r>
            <a:endParaRPr lang="it-IT" sz="4067" noProof="0" dirty="0"/>
          </a:p>
        </p:txBody>
      </p:sp>
      <p:sp>
        <p:nvSpPr>
          <p:cNvPr id="5" name="CasellaDiTesto 4">
            <a:extLst>
              <a:ext uri="{FF2B5EF4-FFF2-40B4-BE49-F238E27FC236}">
                <a16:creationId xmlns:a16="http://schemas.microsoft.com/office/drawing/2014/main" id="{E379EBE1-703C-C77D-97A5-83EF47AD01D5}"/>
              </a:ext>
            </a:extLst>
          </p:cNvPr>
          <p:cNvSpPr txBox="1"/>
          <p:nvPr/>
        </p:nvSpPr>
        <p:spPr>
          <a:xfrm>
            <a:off x="389369" y="1909061"/>
            <a:ext cx="11546992" cy="3728136"/>
          </a:xfrm>
          <a:prstGeom prst="rect">
            <a:avLst/>
          </a:prstGeom>
          <a:noFill/>
        </p:spPr>
        <p:txBody>
          <a:bodyPr wrap="square" rtlCol="0">
            <a:spAutoFit/>
          </a:bodyPr>
          <a:lstStyle/>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Inizialmente la trasformazione T agiva avendo come riferimento di rotazione il punto in alto a sinistra dell’immagine. Questo perché così vi era una diretta corrispondenza con il GT, quindi per poter calcolare l’errore e confrontare i risultati immediatamente. Tuttavia, secondo quanto ottenuto in [3], si sono notati miglioramenti significativi se come riferimento si considera il centro dell’immagine. </a:t>
            </a:r>
          </a:p>
          <a:p>
            <a:pPr marL="285750" indent="-285750">
              <a:lnSpc>
                <a:spcPct val="107000"/>
              </a:lnSpc>
              <a:spcAft>
                <a:spcPts val="800"/>
              </a:spcAft>
              <a:buFont typeface="Courier New" panose="02070309020205020404" pitchFamily="49" charset="0"/>
              <a:buChar char="o"/>
            </a:pPr>
            <a:endParaRPr lang="it-IT" sz="1900" kern="100" dirty="0">
              <a:cs typeface="Arial" panose="020B0604020202020204" pitchFamily="34" charset="0"/>
            </a:endParaRP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Si sono utilizzate diverse strategie di preprocessing al fine di far emergere caratteristiche distintive. Le più semplici sono state convertire in scala di grigi e sfruttare il canale Value dello spazio di colore HSV. Un’ulteriore tecnica è stata applicare la PCA: difatti ogni punto dell’immagine è inizialmente un vettore di tre componenti (BGR), quindi si può ricavare la direzione di massima varianza di tali punti ed associare come valore di intensità ad ogni punto il valore della proiezione lungo tale direzione. Tali strategie sono state usate in maniera combinata anche con un successivo blurring Gaussiano, provando diversi kernel.</a:t>
            </a:r>
            <a:endParaRPr lang="it-IT" sz="1900" kern="100" noProof="0" dirty="0">
              <a:cs typeface="Arial" panose="020B0604020202020204" pitchFamily="34" charset="0"/>
            </a:endParaRPr>
          </a:p>
        </p:txBody>
      </p:sp>
    </p:spTree>
    <p:extLst>
      <p:ext uri="{BB962C8B-B14F-4D97-AF65-F5344CB8AC3E}">
        <p14:creationId xmlns:p14="http://schemas.microsoft.com/office/powerpoint/2010/main" val="29722487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33D67-6234-E047-2445-6D117D7D279A}"/>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C780C45A-D48B-93DE-B005-8B9EDE3B58A9}"/>
              </a:ext>
            </a:extLst>
          </p:cNvPr>
          <p:cNvSpPr txBox="1"/>
          <p:nvPr/>
        </p:nvSpPr>
        <p:spPr>
          <a:xfrm>
            <a:off x="370318" y="423554"/>
            <a:ext cx="5799674"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Spunti scientifici</a:t>
            </a:r>
            <a:endParaRPr lang="it-IT" sz="4067" noProof="0" dirty="0"/>
          </a:p>
        </p:txBody>
      </p:sp>
      <p:sp>
        <p:nvSpPr>
          <p:cNvPr id="5" name="CasellaDiTesto 4">
            <a:extLst>
              <a:ext uri="{FF2B5EF4-FFF2-40B4-BE49-F238E27FC236}">
                <a16:creationId xmlns:a16="http://schemas.microsoft.com/office/drawing/2014/main" id="{158BA939-4E3C-717B-079A-6A3EDEB8A4AC}"/>
              </a:ext>
            </a:extLst>
          </p:cNvPr>
          <p:cNvSpPr txBox="1"/>
          <p:nvPr/>
        </p:nvSpPr>
        <p:spPr>
          <a:xfrm>
            <a:off x="370318" y="1331836"/>
            <a:ext cx="11202250" cy="5184689"/>
          </a:xfrm>
          <a:prstGeom prst="rect">
            <a:avLst/>
          </a:prstGeom>
          <a:noFill/>
        </p:spPr>
        <p:txBody>
          <a:bodyPr wrap="square" rtlCol="0">
            <a:spAutoFit/>
          </a:bodyPr>
          <a:lstStyle/>
          <a:p>
            <a:pPr marL="285750" indent="-285750">
              <a:lnSpc>
                <a:spcPct val="107000"/>
              </a:lnSpc>
              <a:spcAft>
                <a:spcPts val="800"/>
              </a:spcAft>
              <a:buFont typeface="Courier New" panose="02070309020205020404" pitchFamily="49" charset="0"/>
              <a:buChar char="o"/>
            </a:pPr>
            <a:r>
              <a:rPr lang="it-IT" sz="1900" b="0" i="0" kern="100" noProof="0" dirty="0">
                <a:cs typeface="Arial" panose="020B0604020202020204" pitchFamily="34" charset="0"/>
              </a:rPr>
              <a:t>Una volta definita la struttura</a:t>
            </a:r>
            <a:r>
              <a:rPr lang="it-IT" sz="1900" kern="100" dirty="0">
                <a:cs typeface="Arial" panose="020B0604020202020204" pitchFamily="34" charset="0"/>
              </a:rPr>
              <a:t> del codice e la modalità di valutazione della pipeline, si è deciso di ricercare in letteratura dei contributi che potessero fornire sia degli spunti sia delle metodologie.</a:t>
            </a:r>
          </a:p>
          <a:p>
            <a:pPr marL="285750" indent="-285750">
              <a:lnSpc>
                <a:spcPct val="107000"/>
              </a:lnSpc>
              <a:spcAft>
                <a:spcPts val="800"/>
              </a:spcAft>
              <a:buFont typeface="Courier New" panose="02070309020205020404" pitchFamily="49" charset="0"/>
              <a:buChar char="o"/>
            </a:pPr>
            <a:r>
              <a:rPr lang="it-IT" sz="1900" kern="100" noProof="0" dirty="0">
                <a:cs typeface="Arial" panose="020B0604020202020204" pitchFamily="34" charset="0"/>
              </a:rPr>
              <a:t>Il solo impiego del metodo Powell ha spinto l’approccio nel tentativo di usare anche gli altri metodi di ottimizzazione proposti. Sono stati svolti </a:t>
            </a:r>
            <a:r>
              <a:rPr lang="it-IT" sz="1900" kern="100" dirty="0">
                <a:cs typeface="Arial" panose="020B0604020202020204" pitchFamily="34" charset="0"/>
              </a:rPr>
              <a:t>diversi tentativi con BFGS, tuttavia non sono stati raggiunti grandi risultati in accordo con quanto ottenuto in [4].</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Il metodo Nelder–Mead è stato implementato come suggerito da [4] e, senza scendere troppo nei dettagli, si è impiegata la stessa configurazione del simplesso. Da notare che il paper specifica i parametri del simplesso relativi alle traslazioni con unità di misura in millimetri. Tuttavia nonostante le unità di misura non combacino con quelle adottate (pixel),  applicando ugualmente tali inizializzazioni si ottengono risultati piuttosto soddisfacenti.</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Quindi con Nelder–Mead sono state raggiunte performance migliori rispetto a Powell. Inoltre si è scoperto che è possibile impostare il metodo Nelder–Mead con una variante adattiva secondo quanto riportano in [5], basta aggiungere una flag. Tuttavia non è risultato vantaggioso farlo.</a:t>
            </a:r>
          </a:p>
          <a:p>
            <a:pPr marL="285750" indent="-285750">
              <a:lnSpc>
                <a:spcPct val="107000"/>
              </a:lnSpc>
              <a:spcAft>
                <a:spcPts val="800"/>
              </a:spcAft>
              <a:buFont typeface="Courier New" panose="02070309020205020404" pitchFamily="49" charset="0"/>
              <a:buChar char="o"/>
            </a:pPr>
            <a:r>
              <a:rPr lang="it-IT" sz="1900" kern="100" dirty="0">
                <a:cs typeface="Arial" panose="020B0604020202020204" pitchFamily="34" charset="0"/>
              </a:rPr>
              <a:t>Secondo [4], il</a:t>
            </a:r>
            <a:r>
              <a:rPr lang="it-IT" sz="1900" kern="100" noProof="0" dirty="0">
                <a:cs typeface="Arial" panose="020B0604020202020204" pitchFamily="34" charset="0"/>
              </a:rPr>
              <a:t> vettore dei parametri della trasformazione T ossia (tx, ty, theta), </a:t>
            </a:r>
            <a:r>
              <a:rPr lang="it-IT" sz="1900" kern="100" dirty="0">
                <a:cs typeface="Arial" panose="020B0604020202020204" pitchFamily="34" charset="0"/>
              </a:rPr>
              <a:t>si può </a:t>
            </a:r>
            <a:r>
              <a:rPr lang="it-IT" sz="1900" kern="100" noProof="0" dirty="0">
                <a:cs typeface="Arial" panose="020B0604020202020204" pitchFamily="34" charset="0"/>
              </a:rPr>
              <a:t>inizializzare </a:t>
            </a:r>
            <a:br>
              <a:rPr lang="it-IT" sz="1900" kern="100" noProof="0" dirty="0">
                <a:cs typeface="Arial" panose="020B0604020202020204" pitchFamily="34" charset="0"/>
              </a:rPr>
            </a:br>
            <a:r>
              <a:rPr lang="it-IT" sz="1900" kern="100" noProof="0" dirty="0">
                <a:cs typeface="Arial" panose="020B0604020202020204" pitchFamily="34" charset="0"/>
              </a:rPr>
              <a:t>come (0, 0, 5°). Tuttavia, sono state raggiunte performance migliori con l’inizializzazione (0, 0, 0).</a:t>
            </a:r>
          </a:p>
        </p:txBody>
      </p:sp>
    </p:spTree>
    <p:extLst>
      <p:ext uri="{BB962C8B-B14F-4D97-AF65-F5344CB8AC3E}">
        <p14:creationId xmlns:p14="http://schemas.microsoft.com/office/powerpoint/2010/main" val="40192454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C8BA5-7404-5785-CACD-135A9A3F3FC9}"/>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70E59110-1663-F044-2C37-BD49BC8B57C9}"/>
              </a:ext>
            </a:extLst>
          </p:cNvPr>
          <p:cNvSpPr txBox="1"/>
          <p:nvPr/>
        </p:nvSpPr>
        <p:spPr>
          <a:xfrm>
            <a:off x="370317" y="214619"/>
            <a:ext cx="7072701"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Risultati ottenuti sul val set</a:t>
            </a:r>
            <a:endParaRPr lang="it-IT" sz="4067" noProof="0" dirty="0"/>
          </a:p>
        </p:txBody>
      </p:sp>
      <p:sp>
        <p:nvSpPr>
          <p:cNvPr id="5" name="CasellaDiTesto 4">
            <a:extLst>
              <a:ext uri="{FF2B5EF4-FFF2-40B4-BE49-F238E27FC236}">
                <a16:creationId xmlns:a16="http://schemas.microsoft.com/office/drawing/2014/main" id="{C6C617E2-D3BE-7ECE-1C0D-DC6D241ECA8F}"/>
              </a:ext>
            </a:extLst>
          </p:cNvPr>
          <p:cNvSpPr txBox="1"/>
          <p:nvPr/>
        </p:nvSpPr>
        <p:spPr>
          <a:xfrm>
            <a:off x="312173" y="807927"/>
            <a:ext cx="11202250" cy="394532"/>
          </a:xfrm>
          <a:prstGeom prst="rect">
            <a:avLst/>
          </a:prstGeom>
          <a:noFill/>
        </p:spPr>
        <p:txBody>
          <a:bodyPr wrap="square" rtlCol="0">
            <a:spAutoFit/>
          </a:bodyPr>
          <a:lstStyle/>
          <a:p>
            <a:pPr>
              <a:lnSpc>
                <a:spcPct val="107000"/>
              </a:lnSpc>
              <a:spcAft>
                <a:spcPts val="800"/>
              </a:spcAft>
            </a:pPr>
            <a:r>
              <a:rPr lang="it-IT" sz="1900" kern="100" noProof="0" dirty="0">
                <a:cs typeface="Arial" panose="020B0604020202020204" pitchFamily="34" charset="0"/>
              </a:rPr>
              <a:t>L’unit</a:t>
            </a:r>
            <a:r>
              <a:rPr lang="it-IT" sz="1900" kern="100" dirty="0">
                <a:cs typeface="Arial" panose="020B0604020202020204" pitchFamily="34" charset="0"/>
              </a:rPr>
              <a:t>à di misura è pixel per tx e ty, mentre radianti per theta.</a:t>
            </a:r>
            <a:endParaRPr lang="it-IT" sz="1900" kern="100" noProof="0" dirty="0">
              <a:cs typeface="Arial" panose="020B0604020202020204" pitchFamily="34" charset="0"/>
            </a:endParaRPr>
          </a:p>
        </p:txBody>
      </p:sp>
      <p:graphicFrame>
        <p:nvGraphicFramePr>
          <p:cNvPr id="3" name="Tabella 2">
            <a:extLst>
              <a:ext uri="{FF2B5EF4-FFF2-40B4-BE49-F238E27FC236}">
                <a16:creationId xmlns:a16="http://schemas.microsoft.com/office/drawing/2014/main" id="{8A1FCAF0-2405-6D39-0349-A6C065A74948}"/>
              </a:ext>
            </a:extLst>
          </p:cNvPr>
          <p:cNvGraphicFramePr>
            <a:graphicFrameLocks noGrp="1"/>
          </p:cNvGraphicFramePr>
          <p:nvPr>
            <p:extLst>
              <p:ext uri="{D42A27DB-BD31-4B8C-83A1-F6EECF244321}">
                <p14:modId xmlns:p14="http://schemas.microsoft.com/office/powerpoint/2010/main" val="1521219458"/>
              </p:ext>
            </p:extLst>
          </p:nvPr>
        </p:nvGraphicFramePr>
        <p:xfrm>
          <a:off x="370317" y="1701265"/>
          <a:ext cx="8684450" cy="2221261"/>
        </p:xfrm>
        <a:graphic>
          <a:graphicData uri="http://schemas.openxmlformats.org/drawingml/2006/table">
            <a:tbl>
              <a:tblPr firstRow="1" bandRow="1">
                <a:tableStyleId>{5C22544A-7EE6-4342-B048-85BDC9FD1C3A}</a:tableStyleId>
              </a:tblPr>
              <a:tblGrid>
                <a:gridCol w="1367895">
                  <a:extLst>
                    <a:ext uri="{9D8B030D-6E8A-4147-A177-3AD203B41FA5}">
                      <a16:colId xmlns:a16="http://schemas.microsoft.com/office/drawing/2014/main" val="87444673"/>
                    </a:ext>
                  </a:extLst>
                </a:gridCol>
                <a:gridCol w="1065988">
                  <a:extLst>
                    <a:ext uri="{9D8B030D-6E8A-4147-A177-3AD203B41FA5}">
                      <a16:colId xmlns:a16="http://schemas.microsoft.com/office/drawing/2014/main" val="2283952525"/>
                    </a:ext>
                  </a:extLst>
                </a:gridCol>
                <a:gridCol w="1110715">
                  <a:extLst>
                    <a:ext uri="{9D8B030D-6E8A-4147-A177-3AD203B41FA5}">
                      <a16:colId xmlns:a16="http://schemas.microsoft.com/office/drawing/2014/main" val="2728922838"/>
                    </a:ext>
                  </a:extLst>
                </a:gridCol>
                <a:gridCol w="819991">
                  <a:extLst>
                    <a:ext uri="{9D8B030D-6E8A-4147-A177-3AD203B41FA5}">
                      <a16:colId xmlns:a16="http://schemas.microsoft.com/office/drawing/2014/main" val="4230650793"/>
                    </a:ext>
                  </a:extLst>
                </a:gridCol>
                <a:gridCol w="691204">
                  <a:extLst>
                    <a:ext uri="{9D8B030D-6E8A-4147-A177-3AD203B41FA5}">
                      <a16:colId xmlns:a16="http://schemas.microsoft.com/office/drawing/2014/main" val="1057302898"/>
                    </a:ext>
                  </a:extLst>
                </a:gridCol>
                <a:gridCol w="773723">
                  <a:extLst>
                    <a:ext uri="{9D8B030D-6E8A-4147-A177-3AD203B41FA5}">
                      <a16:colId xmlns:a16="http://schemas.microsoft.com/office/drawing/2014/main" val="2841289455"/>
                    </a:ext>
                  </a:extLst>
                </a:gridCol>
                <a:gridCol w="733530">
                  <a:extLst>
                    <a:ext uri="{9D8B030D-6E8A-4147-A177-3AD203B41FA5}">
                      <a16:colId xmlns:a16="http://schemas.microsoft.com/office/drawing/2014/main" val="3241509570"/>
                    </a:ext>
                  </a:extLst>
                </a:gridCol>
                <a:gridCol w="1115367">
                  <a:extLst>
                    <a:ext uri="{9D8B030D-6E8A-4147-A177-3AD203B41FA5}">
                      <a16:colId xmlns:a16="http://schemas.microsoft.com/office/drawing/2014/main" val="3135359873"/>
                    </a:ext>
                  </a:extLst>
                </a:gridCol>
                <a:gridCol w="1006037">
                  <a:extLst>
                    <a:ext uri="{9D8B030D-6E8A-4147-A177-3AD203B41FA5}">
                      <a16:colId xmlns:a16="http://schemas.microsoft.com/office/drawing/2014/main" val="2924479172"/>
                    </a:ext>
                  </a:extLst>
                </a:gridCol>
              </a:tblGrid>
              <a:tr h="361285">
                <a:tc>
                  <a:txBody>
                    <a:bodyPr/>
                    <a:lstStyle/>
                    <a:p>
                      <a:pPr algn="ctr"/>
                      <a:r>
                        <a:rPr lang="it-IT" sz="1400" dirty="0"/>
                        <a:t>preprocessing</a:t>
                      </a:r>
                    </a:p>
                  </a:txBody>
                  <a:tcPr/>
                </a:tc>
                <a:tc>
                  <a:txBody>
                    <a:bodyPr/>
                    <a:lstStyle/>
                    <a:p>
                      <a:pPr algn="ctr"/>
                      <a:r>
                        <a:rPr lang="it-IT" sz="1400" dirty="0"/>
                        <a:t>metodo</a:t>
                      </a:r>
                    </a:p>
                  </a:txBody>
                  <a:tcPr/>
                </a:tc>
                <a:tc>
                  <a:txBody>
                    <a:bodyPr/>
                    <a:lstStyle/>
                    <a:p>
                      <a:pPr algn="ctr"/>
                      <a:r>
                        <a:rPr lang="it-IT" sz="1400" dirty="0"/>
                        <a:t>numero bin</a:t>
                      </a:r>
                    </a:p>
                  </a:txBody>
                  <a:tcPr/>
                </a:tc>
                <a:tc>
                  <a:txBody>
                    <a:bodyPr/>
                    <a:lstStyle/>
                    <a:p>
                      <a:pPr algn="ctr"/>
                      <a:r>
                        <a:rPr lang="it-IT" sz="1400" dirty="0"/>
                        <a:t>mae_tx</a:t>
                      </a:r>
                    </a:p>
                  </a:txBody>
                  <a:tcPr/>
                </a:tc>
                <a:tc>
                  <a:txBody>
                    <a:bodyPr/>
                    <a:lstStyle/>
                    <a:p>
                      <a:pPr algn="ctr"/>
                      <a:r>
                        <a:rPr lang="it-IT" sz="1400" dirty="0"/>
                        <a:t>std_tx</a:t>
                      </a:r>
                    </a:p>
                  </a:txBody>
                  <a:tcPr/>
                </a:tc>
                <a:tc>
                  <a:txBody>
                    <a:bodyPr/>
                    <a:lstStyle/>
                    <a:p>
                      <a:pPr algn="ctr"/>
                      <a:r>
                        <a:rPr lang="it-IT" sz="1400" dirty="0"/>
                        <a:t>mae_ty</a:t>
                      </a:r>
                    </a:p>
                  </a:txBody>
                  <a:tcPr/>
                </a:tc>
                <a:tc>
                  <a:txBody>
                    <a:bodyPr/>
                    <a:lstStyle/>
                    <a:p>
                      <a:pPr algn="ctr"/>
                      <a:r>
                        <a:rPr lang="it-IT" sz="1400" dirty="0"/>
                        <a:t>std_ty</a:t>
                      </a:r>
                    </a:p>
                  </a:txBody>
                  <a:tcPr/>
                </a:tc>
                <a:tc>
                  <a:txBody>
                    <a:bodyPr/>
                    <a:lstStyle/>
                    <a:p>
                      <a:pPr algn="ctr"/>
                      <a:r>
                        <a:rPr lang="it-IT" sz="1400" dirty="0"/>
                        <a:t>mae_theta</a:t>
                      </a:r>
                    </a:p>
                  </a:txBody>
                  <a:tcPr/>
                </a:tc>
                <a:tc>
                  <a:txBody>
                    <a:bodyPr/>
                    <a:lstStyle/>
                    <a:p>
                      <a:pPr algn="ctr"/>
                      <a:r>
                        <a:rPr lang="it-IT" sz="1400" dirty="0"/>
                        <a:t>std_theta</a:t>
                      </a:r>
                    </a:p>
                  </a:txBody>
                  <a:tcPr/>
                </a:tc>
                <a:extLst>
                  <a:ext uri="{0D108BD9-81ED-4DB2-BD59-A6C34878D82A}">
                    <a16:rowId xmlns:a16="http://schemas.microsoft.com/office/drawing/2014/main" val="2492567403"/>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hsv_v-gauss-3</a:t>
                      </a:r>
                      <a:endParaRPr lang="it-IT" sz="12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Nelder-Mead</a:t>
                      </a:r>
                      <a:endParaRPr lang="it-IT" sz="1200" kern="1200" dirty="0">
                        <a:solidFill>
                          <a:schemeClr val="dk1"/>
                        </a:solidFill>
                        <a:effectLst/>
                        <a:latin typeface="+mn-lt"/>
                        <a:ea typeface="+mn-ea"/>
                        <a:cs typeface="+mn-cs"/>
                      </a:endParaRPr>
                    </a:p>
                  </a:txBody>
                  <a:tcPr/>
                </a:tc>
                <a:tc>
                  <a:txBody>
                    <a:bodyPr/>
                    <a:lstStyle/>
                    <a:p>
                      <a:pPr algn="ctr"/>
                      <a:r>
                        <a:rPr lang="it-IT" sz="1400" dirty="0"/>
                        <a:t>64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3.05</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2.87</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3.67</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3.35</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0.0009</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0.0009</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671879042"/>
                  </a:ext>
                </a:extLst>
              </a:tr>
              <a:tr h="309996">
                <a:tc>
                  <a:txBody>
                    <a:bodyPr/>
                    <a:lstStyle/>
                    <a:p>
                      <a:pPr algn="ctr"/>
                      <a:r>
                        <a:rPr lang="it-IT" sz="1200" dirty="0"/>
                        <a:t>gray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Nelder-Mead</a:t>
                      </a:r>
                      <a:endParaRPr lang="it-IT" sz="1200" kern="1200" dirty="0">
                        <a:solidFill>
                          <a:schemeClr val="dk1"/>
                        </a:solidFill>
                        <a:effectLst/>
                        <a:latin typeface="+mn-lt"/>
                        <a:ea typeface="+mn-ea"/>
                        <a:cs typeface="+mn-cs"/>
                      </a:endParaRPr>
                    </a:p>
                  </a:txBody>
                  <a:tcPr/>
                </a:tc>
                <a:tc>
                  <a:txBody>
                    <a:bodyPr/>
                    <a:lstStyle/>
                    <a:p>
                      <a:pPr algn="ctr"/>
                      <a:r>
                        <a:rPr lang="it-IT" sz="1400" dirty="0"/>
                        <a:t>64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3.07</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2.90</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3.71</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3.34</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0.0008</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0.0005</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1299882572"/>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gray-gauss-3</a:t>
                      </a:r>
                      <a:endParaRPr lang="it-IT" sz="12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Nelder-Mead</a:t>
                      </a:r>
                      <a:endParaRPr lang="it-IT" sz="1200" kern="1200" dirty="0">
                        <a:solidFill>
                          <a:schemeClr val="dk1"/>
                        </a:solidFill>
                        <a:effectLst/>
                        <a:latin typeface="+mn-lt"/>
                        <a:ea typeface="+mn-ea"/>
                        <a:cs typeface="+mn-cs"/>
                      </a:endParaRPr>
                    </a:p>
                  </a:txBody>
                  <a:tcPr/>
                </a:tc>
                <a:tc>
                  <a:txBody>
                    <a:bodyPr/>
                    <a:lstStyle/>
                    <a:p>
                      <a:pPr algn="ctr"/>
                      <a:r>
                        <a:rPr lang="it-IT" sz="1400" dirty="0"/>
                        <a:t>64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3.01</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2.91</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3.76</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3.40</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0.0010</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0.0008</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2094793193"/>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hsv_v-gauss-7</a:t>
                      </a:r>
                      <a:endParaRPr lang="it-IT" sz="1200" kern="1200" dirty="0">
                        <a:solidFill>
                          <a:schemeClr val="dk1"/>
                        </a:solidFill>
                        <a:effectLst/>
                        <a:latin typeface="+mn-lt"/>
                        <a:ea typeface="+mn-ea"/>
                        <a:cs typeface="+mn-cs"/>
                      </a:endParaRPr>
                    </a:p>
                  </a:txBody>
                  <a:tcPr/>
                </a:tc>
                <a:tc>
                  <a:txBody>
                    <a:bodyPr/>
                    <a:lstStyle/>
                    <a:p>
                      <a:r>
                        <a:rPr lang="it-IT" sz="1200" i="1" kern="1200" dirty="0">
                          <a:solidFill>
                            <a:schemeClr val="dk1"/>
                          </a:solidFill>
                          <a:effectLst/>
                          <a:latin typeface="+mn-lt"/>
                          <a:ea typeface="+mn-ea"/>
                          <a:cs typeface="+mn-cs"/>
                        </a:rPr>
                        <a:t>Nelder-Mead</a:t>
                      </a:r>
                      <a:endParaRPr lang="it-IT" sz="1200" dirty="0"/>
                    </a:p>
                  </a:txBody>
                  <a:tcPr/>
                </a:tc>
                <a:tc>
                  <a:txBody>
                    <a:bodyPr/>
                    <a:lstStyle/>
                    <a:p>
                      <a:pPr algn="ctr"/>
                      <a:r>
                        <a:rPr lang="it-IT" sz="1400" dirty="0"/>
                        <a:t>128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3.01</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2.86</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3.70</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3.38</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0.001</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0.001</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3749290726"/>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gray-gauss-5</a:t>
                      </a:r>
                      <a:endParaRPr lang="it-IT" sz="1200" kern="1200" dirty="0">
                        <a:solidFill>
                          <a:schemeClr val="dk1"/>
                        </a:solidFill>
                        <a:effectLst/>
                        <a:latin typeface="+mn-lt"/>
                        <a:ea typeface="+mn-ea"/>
                        <a:cs typeface="+mn-cs"/>
                      </a:endParaRPr>
                    </a:p>
                  </a:txBody>
                  <a:tcPr/>
                </a:tc>
                <a:tc>
                  <a:txBody>
                    <a:bodyPr/>
                    <a:lstStyle/>
                    <a:p>
                      <a:r>
                        <a:rPr lang="it-IT" sz="1200" i="1" kern="1200" dirty="0">
                          <a:solidFill>
                            <a:schemeClr val="dk1"/>
                          </a:solidFill>
                          <a:effectLst/>
                          <a:latin typeface="+mn-lt"/>
                          <a:ea typeface="+mn-ea"/>
                          <a:cs typeface="+mn-cs"/>
                        </a:rPr>
                        <a:t>Nelder-Mead</a:t>
                      </a:r>
                      <a:endParaRPr lang="it-IT" sz="1200" dirty="0"/>
                    </a:p>
                  </a:txBody>
                  <a:tcPr/>
                </a:tc>
                <a:tc>
                  <a:txBody>
                    <a:bodyPr/>
                    <a:lstStyle/>
                    <a:p>
                      <a:pPr algn="ctr"/>
                      <a:r>
                        <a:rPr lang="it-IT" sz="1400" dirty="0"/>
                        <a:t>128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3.04</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2.87</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3.71</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3.34</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0.0009</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0.0008</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4224594177"/>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pca-gauss-5</a:t>
                      </a:r>
                      <a:endParaRPr lang="it-IT" sz="12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r>
                        <a:rPr lang="it-IT" sz="1200" i="1" kern="1200" dirty="0">
                          <a:solidFill>
                            <a:schemeClr val="dk1"/>
                          </a:solidFill>
                          <a:effectLst/>
                          <a:latin typeface="+mn-lt"/>
                          <a:ea typeface="+mn-ea"/>
                          <a:cs typeface="+mn-cs"/>
                        </a:rPr>
                        <a:t>Nelder-Mead</a:t>
                      </a:r>
                      <a:endParaRPr lang="it-IT" sz="1200" dirty="0"/>
                    </a:p>
                  </a:txBody>
                  <a:tcPr>
                    <a:solidFill>
                      <a:schemeClr val="accent2">
                        <a:lumMod val="20000"/>
                        <a:lumOff val="80000"/>
                      </a:schemeClr>
                    </a:solidFill>
                  </a:tcPr>
                </a:tc>
                <a:tc>
                  <a:txBody>
                    <a:bodyPr/>
                    <a:lstStyle/>
                    <a:p>
                      <a:pPr algn="ctr"/>
                      <a:r>
                        <a:rPr lang="it-IT" sz="1400" dirty="0"/>
                        <a:t>64</a:t>
                      </a:r>
                    </a:p>
                  </a:txBody>
                  <a:tcP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3.03</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2.88</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algn="ctr"/>
                      <a:r>
                        <a:rPr lang="it-IT" sz="1400" i="1" kern="1200" dirty="0">
                          <a:solidFill>
                            <a:schemeClr val="dk1"/>
                          </a:solidFill>
                          <a:effectLst/>
                          <a:latin typeface="+mn-lt"/>
                          <a:ea typeface="+mn-ea"/>
                          <a:cs typeface="+mn-cs"/>
                        </a:rPr>
                        <a:t>3.71</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3.43</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algn="ctr"/>
                      <a:r>
                        <a:rPr lang="it-IT" sz="1400" i="1" kern="1200" dirty="0">
                          <a:solidFill>
                            <a:schemeClr val="dk1"/>
                          </a:solidFill>
                          <a:effectLst/>
                          <a:latin typeface="+mn-lt"/>
                          <a:ea typeface="+mn-ea"/>
                          <a:cs typeface="+mn-cs"/>
                        </a:rPr>
                        <a:t>0.0007</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algn="ctr"/>
                      <a:r>
                        <a:rPr lang="it-IT" sz="1400" i="1" kern="1200" dirty="0">
                          <a:solidFill>
                            <a:schemeClr val="dk1"/>
                          </a:solidFill>
                          <a:effectLst/>
                          <a:latin typeface="+mn-lt"/>
                          <a:ea typeface="+mn-ea"/>
                          <a:cs typeface="+mn-cs"/>
                        </a:rPr>
                        <a:t>0.0006</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extLst>
                  <a:ext uri="{0D108BD9-81ED-4DB2-BD59-A6C34878D82A}">
                    <a16:rowId xmlns:a16="http://schemas.microsoft.com/office/drawing/2014/main" val="1212607636"/>
                  </a:ext>
                </a:extLst>
              </a:tr>
            </a:tbl>
          </a:graphicData>
        </a:graphic>
      </p:graphicFrame>
      <p:sp>
        <p:nvSpPr>
          <p:cNvPr id="11" name="CasellaDiTesto 10">
            <a:extLst>
              <a:ext uri="{FF2B5EF4-FFF2-40B4-BE49-F238E27FC236}">
                <a16:creationId xmlns:a16="http://schemas.microsoft.com/office/drawing/2014/main" id="{95748B6C-BC5C-B821-0ACC-6F800B878498}"/>
              </a:ext>
            </a:extLst>
          </p:cNvPr>
          <p:cNvSpPr txBox="1"/>
          <p:nvPr/>
        </p:nvSpPr>
        <p:spPr>
          <a:xfrm>
            <a:off x="9166528" y="3885188"/>
            <a:ext cx="2713300" cy="1267655"/>
          </a:xfrm>
          <a:prstGeom prst="rect">
            <a:avLst/>
          </a:prstGeom>
          <a:noFill/>
        </p:spPr>
        <p:txBody>
          <a:bodyPr wrap="square" rtlCol="0">
            <a:spAutoFit/>
          </a:bodyPr>
          <a:lstStyle/>
          <a:p>
            <a:pPr>
              <a:lnSpc>
                <a:spcPct val="107000"/>
              </a:lnSpc>
              <a:spcAft>
                <a:spcPts val="800"/>
              </a:spcAft>
            </a:pPr>
            <a:r>
              <a:rPr lang="it-IT" kern="100" noProof="0" dirty="0">
                <a:cs typeface="Arial" panose="020B0604020202020204" pitchFamily="34" charset="0"/>
              </a:rPr>
              <a:t>configurazione migliore, in quanto l’unica presente nei top migliori di entrambi i gruppi </a:t>
            </a:r>
          </a:p>
        </p:txBody>
      </p:sp>
      <p:graphicFrame>
        <p:nvGraphicFramePr>
          <p:cNvPr id="2" name="Tabella 1">
            <a:extLst>
              <a:ext uri="{FF2B5EF4-FFF2-40B4-BE49-F238E27FC236}">
                <a16:creationId xmlns:a16="http://schemas.microsoft.com/office/drawing/2014/main" id="{A2B0FB7D-CC6A-8628-F1D3-20142FCAE332}"/>
              </a:ext>
            </a:extLst>
          </p:cNvPr>
          <p:cNvGraphicFramePr>
            <a:graphicFrameLocks noGrp="1"/>
          </p:cNvGraphicFramePr>
          <p:nvPr>
            <p:extLst>
              <p:ext uri="{D42A27DB-BD31-4B8C-83A1-F6EECF244321}">
                <p14:modId xmlns:p14="http://schemas.microsoft.com/office/powerpoint/2010/main" val="1259142670"/>
              </p:ext>
            </p:extLst>
          </p:nvPr>
        </p:nvGraphicFramePr>
        <p:xfrm>
          <a:off x="370317" y="4474085"/>
          <a:ext cx="8684450" cy="2221261"/>
        </p:xfrm>
        <a:graphic>
          <a:graphicData uri="http://schemas.openxmlformats.org/drawingml/2006/table">
            <a:tbl>
              <a:tblPr firstRow="1" bandRow="1">
                <a:tableStyleId>{5C22544A-7EE6-4342-B048-85BDC9FD1C3A}</a:tableStyleId>
              </a:tblPr>
              <a:tblGrid>
                <a:gridCol w="1367895">
                  <a:extLst>
                    <a:ext uri="{9D8B030D-6E8A-4147-A177-3AD203B41FA5}">
                      <a16:colId xmlns:a16="http://schemas.microsoft.com/office/drawing/2014/main" val="87444673"/>
                    </a:ext>
                  </a:extLst>
                </a:gridCol>
                <a:gridCol w="1065988">
                  <a:extLst>
                    <a:ext uri="{9D8B030D-6E8A-4147-A177-3AD203B41FA5}">
                      <a16:colId xmlns:a16="http://schemas.microsoft.com/office/drawing/2014/main" val="2283952525"/>
                    </a:ext>
                  </a:extLst>
                </a:gridCol>
                <a:gridCol w="1110715">
                  <a:extLst>
                    <a:ext uri="{9D8B030D-6E8A-4147-A177-3AD203B41FA5}">
                      <a16:colId xmlns:a16="http://schemas.microsoft.com/office/drawing/2014/main" val="2728922838"/>
                    </a:ext>
                  </a:extLst>
                </a:gridCol>
                <a:gridCol w="819991">
                  <a:extLst>
                    <a:ext uri="{9D8B030D-6E8A-4147-A177-3AD203B41FA5}">
                      <a16:colId xmlns:a16="http://schemas.microsoft.com/office/drawing/2014/main" val="4230650793"/>
                    </a:ext>
                  </a:extLst>
                </a:gridCol>
                <a:gridCol w="691204">
                  <a:extLst>
                    <a:ext uri="{9D8B030D-6E8A-4147-A177-3AD203B41FA5}">
                      <a16:colId xmlns:a16="http://schemas.microsoft.com/office/drawing/2014/main" val="1057302898"/>
                    </a:ext>
                  </a:extLst>
                </a:gridCol>
                <a:gridCol w="773723">
                  <a:extLst>
                    <a:ext uri="{9D8B030D-6E8A-4147-A177-3AD203B41FA5}">
                      <a16:colId xmlns:a16="http://schemas.microsoft.com/office/drawing/2014/main" val="2841289455"/>
                    </a:ext>
                  </a:extLst>
                </a:gridCol>
                <a:gridCol w="733530">
                  <a:extLst>
                    <a:ext uri="{9D8B030D-6E8A-4147-A177-3AD203B41FA5}">
                      <a16:colId xmlns:a16="http://schemas.microsoft.com/office/drawing/2014/main" val="3241509570"/>
                    </a:ext>
                  </a:extLst>
                </a:gridCol>
                <a:gridCol w="1115367">
                  <a:extLst>
                    <a:ext uri="{9D8B030D-6E8A-4147-A177-3AD203B41FA5}">
                      <a16:colId xmlns:a16="http://schemas.microsoft.com/office/drawing/2014/main" val="3135359873"/>
                    </a:ext>
                  </a:extLst>
                </a:gridCol>
                <a:gridCol w="1006037">
                  <a:extLst>
                    <a:ext uri="{9D8B030D-6E8A-4147-A177-3AD203B41FA5}">
                      <a16:colId xmlns:a16="http://schemas.microsoft.com/office/drawing/2014/main" val="2924479172"/>
                    </a:ext>
                  </a:extLst>
                </a:gridCol>
              </a:tblGrid>
              <a:tr h="361285">
                <a:tc>
                  <a:txBody>
                    <a:bodyPr/>
                    <a:lstStyle/>
                    <a:p>
                      <a:pPr algn="ctr"/>
                      <a:r>
                        <a:rPr lang="it-IT" sz="1400" dirty="0"/>
                        <a:t>preprocessing</a:t>
                      </a:r>
                    </a:p>
                  </a:txBody>
                  <a:tcPr/>
                </a:tc>
                <a:tc>
                  <a:txBody>
                    <a:bodyPr/>
                    <a:lstStyle/>
                    <a:p>
                      <a:pPr algn="ctr"/>
                      <a:r>
                        <a:rPr lang="it-IT" sz="1400" dirty="0"/>
                        <a:t>metodo</a:t>
                      </a:r>
                    </a:p>
                  </a:txBody>
                  <a:tcPr/>
                </a:tc>
                <a:tc>
                  <a:txBody>
                    <a:bodyPr/>
                    <a:lstStyle/>
                    <a:p>
                      <a:pPr algn="ctr"/>
                      <a:r>
                        <a:rPr lang="it-IT" sz="1400" dirty="0"/>
                        <a:t>numero bin</a:t>
                      </a:r>
                    </a:p>
                  </a:txBody>
                  <a:tcPr/>
                </a:tc>
                <a:tc>
                  <a:txBody>
                    <a:bodyPr/>
                    <a:lstStyle/>
                    <a:p>
                      <a:pPr algn="ctr"/>
                      <a:r>
                        <a:rPr lang="it-IT" sz="1400" dirty="0"/>
                        <a:t>mae_tx</a:t>
                      </a:r>
                    </a:p>
                  </a:txBody>
                  <a:tcPr/>
                </a:tc>
                <a:tc>
                  <a:txBody>
                    <a:bodyPr/>
                    <a:lstStyle/>
                    <a:p>
                      <a:pPr algn="ctr"/>
                      <a:r>
                        <a:rPr lang="it-IT" sz="1400" dirty="0"/>
                        <a:t>std_tx</a:t>
                      </a:r>
                    </a:p>
                  </a:txBody>
                  <a:tcPr/>
                </a:tc>
                <a:tc>
                  <a:txBody>
                    <a:bodyPr/>
                    <a:lstStyle/>
                    <a:p>
                      <a:pPr algn="ctr"/>
                      <a:r>
                        <a:rPr lang="it-IT" sz="1400" dirty="0"/>
                        <a:t>mae_ty</a:t>
                      </a:r>
                    </a:p>
                  </a:txBody>
                  <a:tcPr/>
                </a:tc>
                <a:tc>
                  <a:txBody>
                    <a:bodyPr/>
                    <a:lstStyle/>
                    <a:p>
                      <a:pPr algn="ctr"/>
                      <a:r>
                        <a:rPr lang="it-IT" sz="1400" dirty="0"/>
                        <a:t>std_ty</a:t>
                      </a:r>
                    </a:p>
                  </a:txBody>
                  <a:tcPr/>
                </a:tc>
                <a:tc>
                  <a:txBody>
                    <a:bodyPr/>
                    <a:lstStyle/>
                    <a:p>
                      <a:pPr algn="ctr"/>
                      <a:r>
                        <a:rPr lang="it-IT" sz="1400" dirty="0"/>
                        <a:t>mae_theta</a:t>
                      </a:r>
                    </a:p>
                  </a:txBody>
                  <a:tcPr/>
                </a:tc>
                <a:tc>
                  <a:txBody>
                    <a:bodyPr/>
                    <a:lstStyle/>
                    <a:p>
                      <a:pPr algn="ctr"/>
                      <a:r>
                        <a:rPr lang="it-IT" sz="1400" dirty="0"/>
                        <a:t>std_theta</a:t>
                      </a:r>
                    </a:p>
                  </a:txBody>
                  <a:tcPr/>
                </a:tc>
                <a:extLst>
                  <a:ext uri="{0D108BD9-81ED-4DB2-BD59-A6C34878D82A}">
                    <a16:rowId xmlns:a16="http://schemas.microsoft.com/office/drawing/2014/main" val="2492567403"/>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gray</a:t>
                      </a:r>
                      <a:endParaRPr lang="it-IT" sz="12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Nelder-Mead</a:t>
                      </a:r>
                      <a:endParaRPr lang="it-IT" sz="1200" kern="1200" dirty="0">
                        <a:solidFill>
                          <a:schemeClr val="dk1"/>
                        </a:solidFill>
                        <a:effectLst/>
                        <a:latin typeface="+mn-lt"/>
                        <a:ea typeface="+mn-ea"/>
                        <a:cs typeface="+mn-cs"/>
                      </a:endParaRPr>
                    </a:p>
                  </a:txBody>
                  <a:tcPr/>
                </a:tc>
                <a:tc>
                  <a:txBody>
                    <a:bodyPr/>
                    <a:lstStyle/>
                    <a:p>
                      <a:pPr algn="ctr"/>
                      <a:r>
                        <a:rPr lang="it-IT" sz="1400" dirty="0"/>
                        <a:t>128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3.11</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2.94</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3.73</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3.43</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0.0005</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0.0004</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671879042"/>
                  </a:ext>
                </a:extLst>
              </a:tr>
              <a:tr h="309996">
                <a:tc>
                  <a:txBody>
                    <a:bodyPr/>
                    <a:lstStyle/>
                    <a:p>
                      <a:pPr algn="ctr"/>
                      <a:r>
                        <a:rPr lang="it-IT" sz="1200" dirty="0"/>
                        <a:t>pca-gauss-5</a:t>
                      </a:r>
                    </a:p>
                  </a:txBody>
                  <a:tcPr>
                    <a:solidFill>
                      <a:schemeClr val="accent2">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Nelder-Mead</a:t>
                      </a:r>
                      <a:endParaRPr lang="it-IT" sz="12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algn="ctr"/>
                      <a:r>
                        <a:rPr lang="it-IT" sz="1400" dirty="0"/>
                        <a:t>64</a:t>
                      </a:r>
                    </a:p>
                  </a:txBody>
                  <a:tcP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3.03</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2.88</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3.71</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3.43</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algn="ctr"/>
                      <a:r>
                        <a:rPr lang="it-IT" sz="1400" i="1" kern="1200" dirty="0">
                          <a:solidFill>
                            <a:schemeClr val="dk1"/>
                          </a:solidFill>
                          <a:effectLst/>
                          <a:latin typeface="+mn-lt"/>
                          <a:ea typeface="+mn-ea"/>
                          <a:cs typeface="+mn-cs"/>
                        </a:rPr>
                        <a:t>0.0007</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tc>
                  <a:txBody>
                    <a:bodyPr/>
                    <a:lstStyle/>
                    <a:p>
                      <a:pPr algn="ctr"/>
                      <a:r>
                        <a:rPr lang="it-IT" sz="1400" i="1" kern="1200" dirty="0">
                          <a:solidFill>
                            <a:schemeClr val="dk1"/>
                          </a:solidFill>
                          <a:effectLst/>
                          <a:latin typeface="+mn-lt"/>
                          <a:ea typeface="+mn-ea"/>
                          <a:cs typeface="+mn-cs"/>
                        </a:rPr>
                        <a:t>0.0006</a:t>
                      </a:r>
                      <a:endParaRPr lang="it-IT" sz="1400" kern="1200" dirty="0">
                        <a:solidFill>
                          <a:schemeClr val="dk1"/>
                        </a:solidFill>
                        <a:effectLst/>
                        <a:latin typeface="+mn-lt"/>
                        <a:ea typeface="+mn-ea"/>
                        <a:cs typeface="+mn-cs"/>
                      </a:endParaRPr>
                    </a:p>
                  </a:txBody>
                  <a:tcPr>
                    <a:solidFill>
                      <a:schemeClr val="accent2">
                        <a:lumMod val="20000"/>
                        <a:lumOff val="80000"/>
                      </a:schemeClr>
                    </a:solidFill>
                  </a:tcPr>
                </a:tc>
                <a:extLst>
                  <a:ext uri="{0D108BD9-81ED-4DB2-BD59-A6C34878D82A}">
                    <a16:rowId xmlns:a16="http://schemas.microsoft.com/office/drawing/2014/main" val="1299882572"/>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gray-gauss-5</a:t>
                      </a:r>
                      <a:endParaRPr lang="it-IT" sz="1200" kern="1200" dirty="0">
                        <a:solidFill>
                          <a:schemeClr val="dk1"/>
                        </a:solidFill>
                        <a:effectLst/>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Nelder-Mead</a:t>
                      </a:r>
                      <a:endParaRPr lang="it-IT" sz="1200" kern="1200" dirty="0">
                        <a:solidFill>
                          <a:schemeClr val="dk1"/>
                        </a:solidFill>
                        <a:effectLst/>
                        <a:latin typeface="+mn-lt"/>
                        <a:ea typeface="+mn-ea"/>
                        <a:cs typeface="+mn-cs"/>
                      </a:endParaRPr>
                    </a:p>
                  </a:txBody>
                  <a:tcPr/>
                </a:tc>
                <a:tc>
                  <a:txBody>
                    <a:bodyPr/>
                    <a:lstStyle/>
                    <a:p>
                      <a:pPr algn="ctr"/>
                      <a:r>
                        <a:rPr lang="it-IT" sz="1400" dirty="0"/>
                        <a:t>64</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3.07</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2.94</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3.74</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3.42</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0.0007</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0.0005</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2094793193"/>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hsv_v</a:t>
                      </a:r>
                      <a:endParaRPr lang="it-IT" sz="1200" kern="1200" dirty="0">
                        <a:solidFill>
                          <a:schemeClr val="dk1"/>
                        </a:solidFill>
                        <a:effectLst/>
                        <a:latin typeface="+mn-lt"/>
                        <a:ea typeface="+mn-ea"/>
                        <a:cs typeface="+mn-cs"/>
                      </a:endParaRPr>
                    </a:p>
                  </a:txBody>
                  <a:tcPr/>
                </a:tc>
                <a:tc>
                  <a:txBody>
                    <a:bodyPr/>
                    <a:lstStyle/>
                    <a:p>
                      <a:r>
                        <a:rPr lang="it-IT" sz="1200" i="1" kern="1200" dirty="0">
                          <a:solidFill>
                            <a:schemeClr val="dk1"/>
                          </a:solidFill>
                          <a:effectLst/>
                          <a:latin typeface="+mn-lt"/>
                          <a:ea typeface="+mn-ea"/>
                          <a:cs typeface="+mn-cs"/>
                        </a:rPr>
                        <a:t>Nelder-Mead</a:t>
                      </a:r>
                      <a:endParaRPr lang="it-IT" sz="1200" dirty="0"/>
                    </a:p>
                  </a:txBody>
                  <a:tcPr/>
                </a:tc>
                <a:tc>
                  <a:txBody>
                    <a:bodyPr/>
                    <a:lstStyle/>
                    <a:p>
                      <a:pPr algn="ctr"/>
                      <a:r>
                        <a:rPr lang="it-IT" sz="1400" dirty="0"/>
                        <a:t>128</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3.06</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2.93</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3.77</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3.33</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0.0007</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0.0007</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3749290726"/>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gray</a:t>
                      </a:r>
                      <a:endParaRPr lang="it-IT" sz="1200" kern="1200" dirty="0">
                        <a:solidFill>
                          <a:schemeClr val="dk1"/>
                        </a:solidFill>
                        <a:effectLst/>
                        <a:latin typeface="+mn-lt"/>
                        <a:ea typeface="+mn-ea"/>
                        <a:cs typeface="+mn-cs"/>
                      </a:endParaRPr>
                    </a:p>
                  </a:txBody>
                  <a:tcPr/>
                </a:tc>
                <a:tc>
                  <a:txBody>
                    <a:bodyPr/>
                    <a:lstStyle/>
                    <a:p>
                      <a:r>
                        <a:rPr lang="it-IT" sz="1200" i="1" kern="1200" dirty="0">
                          <a:solidFill>
                            <a:schemeClr val="dk1"/>
                          </a:solidFill>
                          <a:effectLst/>
                          <a:latin typeface="+mn-lt"/>
                          <a:ea typeface="+mn-ea"/>
                          <a:cs typeface="+mn-cs"/>
                        </a:rPr>
                        <a:t>Nelder-Mead</a:t>
                      </a:r>
                      <a:endParaRPr lang="it-IT" sz="1200" dirty="0"/>
                    </a:p>
                  </a:txBody>
                  <a:tcPr/>
                </a:tc>
                <a:tc>
                  <a:txBody>
                    <a:bodyPr/>
                    <a:lstStyle/>
                    <a:p>
                      <a:pPr algn="ctr"/>
                      <a:r>
                        <a:rPr lang="it-IT" sz="1400" dirty="0"/>
                        <a:t>256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3.06</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2.94</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3.77</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3.34</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0.0007</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0.0008</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4224594177"/>
                  </a:ext>
                </a:extLst>
              </a:tr>
              <a:tr h="30999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200" i="1" kern="1200" dirty="0">
                          <a:solidFill>
                            <a:schemeClr val="dk1"/>
                          </a:solidFill>
                          <a:effectLst/>
                          <a:latin typeface="+mn-lt"/>
                          <a:ea typeface="+mn-ea"/>
                          <a:cs typeface="+mn-cs"/>
                        </a:rPr>
                        <a:t>pca</a:t>
                      </a:r>
                      <a:endParaRPr lang="it-IT" sz="1200" kern="1200" dirty="0">
                        <a:solidFill>
                          <a:schemeClr val="dk1"/>
                        </a:solidFill>
                        <a:effectLst/>
                        <a:latin typeface="+mn-lt"/>
                        <a:ea typeface="+mn-ea"/>
                        <a:cs typeface="+mn-cs"/>
                      </a:endParaRPr>
                    </a:p>
                  </a:txBody>
                  <a:tcPr/>
                </a:tc>
                <a:tc>
                  <a:txBody>
                    <a:bodyPr/>
                    <a:lstStyle/>
                    <a:p>
                      <a:r>
                        <a:rPr lang="it-IT" sz="1200" i="1" kern="1200" dirty="0">
                          <a:solidFill>
                            <a:schemeClr val="dk1"/>
                          </a:solidFill>
                          <a:effectLst/>
                          <a:latin typeface="+mn-lt"/>
                          <a:ea typeface="+mn-ea"/>
                          <a:cs typeface="+mn-cs"/>
                        </a:rPr>
                        <a:t>Nelder-Mead</a:t>
                      </a:r>
                      <a:endParaRPr lang="it-IT" sz="1200" dirty="0"/>
                    </a:p>
                  </a:txBody>
                  <a:tcPr/>
                </a:tc>
                <a:tc>
                  <a:txBody>
                    <a:bodyPr/>
                    <a:lstStyle/>
                    <a:p>
                      <a:pPr algn="ctr"/>
                      <a:r>
                        <a:rPr lang="it-IT" sz="1400" dirty="0"/>
                        <a:t>256</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3.07</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2.91</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3.80</a:t>
                      </a:r>
                      <a:endParaRPr lang="it-IT" sz="1400" kern="1200" dirty="0">
                        <a:solidFill>
                          <a:schemeClr val="dk1"/>
                        </a:solidFill>
                        <a:effectLst/>
                        <a:latin typeface="+mn-lt"/>
                        <a:ea typeface="+mn-ea"/>
                        <a:cs typeface="+mn-cs"/>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kern="1200" dirty="0">
                          <a:solidFill>
                            <a:schemeClr val="dk1"/>
                          </a:solidFill>
                          <a:effectLst/>
                          <a:latin typeface="+mn-lt"/>
                          <a:ea typeface="+mn-ea"/>
                          <a:cs typeface="+mn-cs"/>
                        </a:rPr>
                        <a:t>3.34</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0.0007</a:t>
                      </a:r>
                      <a:endParaRPr lang="it-IT" sz="1400" kern="1200" dirty="0">
                        <a:solidFill>
                          <a:schemeClr val="dk1"/>
                        </a:solidFill>
                        <a:effectLst/>
                        <a:latin typeface="+mn-lt"/>
                        <a:ea typeface="+mn-ea"/>
                        <a:cs typeface="+mn-cs"/>
                      </a:endParaRPr>
                    </a:p>
                  </a:txBody>
                  <a:tcPr/>
                </a:tc>
                <a:tc>
                  <a:txBody>
                    <a:bodyPr/>
                    <a:lstStyle/>
                    <a:p>
                      <a:pPr algn="ctr"/>
                      <a:r>
                        <a:rPr lang="it-IT" sz="1400" i="1" kern="1200" dirty="0">
                          <a:solidFill>
                            <a:schemeClr val="dk1"/>
                          </a:solidFill>
                          <a:effectLst/>
                          <a:latin typeface="+mn-lt"/>
                          <a:ea typeface="+mn-ea"/>
                          <a:cs typeface="+mn-cs"/>
                        </a:rPr>
                        <a:t>0.0005</a:t>
                      </a:r>
                      <a:endParaRPr lang="it-IT" sz="1400" kern="1200" dirty="0">
                        <a:solidFill>
                          <a:schemeClr val="dk1"/>
                        </a:solidFill>
                        <a:effectLst/>
                        <a:latin typeface="+mn-lt"/>
                        <a:ea typeface="+mn-ea"/>
                        <a:cs typeface="+mn-cs"/>
                      </a:endParaRPr>
                    </a:p>
                  </a:txBody>
                  <a:tcPr/>
                </a:tc>
                <a:extLst>
                  <a:ext uri="{0D108BD9-81ED-4DB2-BD59-A6C34878D82A}">
                    <a16:rowId xmlns:a16="http://schemas.microsoft.com/office/drawing/2014/main" val="1212607636"/>
                  </a:ext>
                </a:extLst>
              </a:tr>
            </a:tbl>
          </a:graphicData>
        </a:graphic>
      </p:graphicFrame>
      <p:sp>
        <p:nvSpPr>
          <p:cNvPr id="4" name="CasellaDiTesto 3">
            <a:extLst>
              <a:ext uri="{FF2B5EF4-FFF2-40B4-BE49-F238E27FC236}">
                <a16:creationId xmlns:a16="http://schemas.microsoft.com/office/drawing/2014/main" id="{3698EE84-A0FA-39EE-668C-8831B8700354}"/>
              </a:ext>
            </a:extLst>
          </p:cNvPr>
          <p:cNvSpPr txBox="1"/>
          <p:nvPr/>
        </p:nvSpPr>
        <p:spPr>
          <a:xfrm>
            <a:off x="312173" y="1289641"/>
            <a:ext cx="11339053" cy="378565"/>
          </a:xfrm>
          <a:prstGeom prst="rect">
            <a:avLst/>
          </a:prstGeom>
          <a:noFill/>
        </p:spPr>
        <p:txBody>
          <a:bodyPr wrap="square" rtlCol="0">
            <a:spAutoFit/>
          </a:bodyPr>
          <a:lstStyle/>
          <a:p>
            <a:pPr>
              <a:lnSpc>
                <a:spcPct val="107000"/>
              </a:lnSpc>
              <a:spcAft>
                <a:spcPts val="800"/>
              </a:spcAft>
            </a:pPr>
            <a:r>
              <a:rPr lang="it-IT" kern="100" noProof="0" dirty="0">
                <a:cs typeface="Arial" panose="020B0604020202020204" pitchFamily="34" charset="0"/>
              </a:rPr>
              <a:t>Configurazioni ordinate con priorità rispetto all’errore di traslazione, calcolato combinando ascisse ed ordinate.</a:t>
            </a:r>
          </a:p>
        </p:txBody>
      </p:sp>
      <p:sp>
        <p:nvSpPr>
          <p:cNvPr id="6" name="CasellaDiTesto 5">
            <a:extLst>
              <a:ext uri="{FF2B5EF4-FFF2-40B4-BE49-F238E27FC236}">
                <a16:creationId xmlns:a16="http://schemas.microsoft.com/office/drawing/2014/main" id="{75D59159-F516-C06F-B316-F7BC11762AA1}"/>
              </a:ext>
            </a:extLst>
          </p:cNvPr>
          <p:cNvSpPr txBox="1"/>
          <p:nvPr/>
        </p:nvSpPr>
        <p:spPr>
          <a:xfrm>
            <a:off x="312173" y="4079163"/>
            <a:ext cx="7696363" cy="378565"/>
          </a:xfrm>
          <a:prstGeom prst="rect">
            <a:avLst/>
          </a:prstGeom>
          <a:noFill/>
        </p:spPr>
        <p:txBody>
          <a:bodyPr wrap="square" rtlCol="0">
            <a:spAutoFit/>
          </a:bodyPr>
          <a:lstStyle/>
          <a:p>
            <a:pPr>
              <a:lnSpc>
                <a:spcPct val="107000"/>
              </a:lnSpc>
              <a:spcAft>
                <a:spcPts val="800"/>
              </a:spcAft>
            </a:pPr>
            <a:r>
              <a:rPr lang="it-IT" kern="100" noProof="0" dirty="0">
                <a:cs typeface="Arial" panose="020B0604020202020204" pitchFamily="34" charset="0"/>
              </a:rPr>
              <a:t>Configurazioni ordinate con priorità rispetto all’errore di rotazione.</a:t>
            </a:r>
          </a:p>
        </p:txBody>
      </p:sp>
      <p:cxnSp>
        <p:nvCxnSpPr>
          <p:cNvPr id="9" name="Connettore a gomito 8">
            <a:extLst>
              <a:ext uri="{FF2B5EF4-FFF2-40B4-BE49-F238E27FC236}">
                <a16:creationId xmlns:a16="http://schemas.microsoft.com/office/drawing/2014/main" id="{6BE1318A-FB0C-712D-0F68-8AF18A6BFB2C}"/>
              </a:ext>
            </a:extLst>
          </p:cNvPr>
          <p:cNvCxnSpPr>
            <a:cxnSpLocks/>
            <a:endCxn id="11" idx="2"/>
          </p:cNvCxnSpPr>
          <p:nvPr/>
        </p:nvCxnSpPr>
        <p:spPr>
          <a:xfrm flipV="1">
            <a:off x="9166527" y="5152843"/>
            <a:ext cx="1356651" cy="150677"/>
          </a:xfrm>
          <a:prstGeom prst="bentConnector2">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ttore a gomito 14">
            <a:extLst>
              <a:ext uri="{FF2B5EF4-FFF2-40B4-BE49-F238E27FC236}">
                <a16:creationId xmlns:a16="http://schemas.microsoft.com/office/drawing/2014/main" id="{A7AE8134-853E-8A05-73F1-28174B6C56FD}"/>
              </a:ext>
            </a:extLst>
          </p:cNvPr>
          <p:cNvCxnSpPr>
            <a:cxnSpLocks/>
            <a:endCxn id="11" idx="0"/>
          </p:cNvCxnSpPr>
          <p:nvPr/>
        </p:nvCxnSpPr>
        <p:spPr>
          <a:xfrm>
            <a:off x="9166527" y="3735274"/>
            <a:ext cx="1356651" cy="149914"/>
          </a:xfrm>
          <a:prstGeom prst="bentConnector2">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250748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D89FD-72FA-23EB-DEEB-479468BD461C}"/>
            </a:ext>
          </a:extLst>
        </p:cNvPr>
        <p:cNvGrpSpPr/>
        <p:nvPr/>
      </p:nvGrpSpPr>
      <p:grpSpPr>
        <a:xfrm>
          <a:off x="0" y="0"/>
          <a:ext cx="0" cy="0"/>
          <a:chOff x="0" y="0"/>
          <a:chExt cx="0" cy="0"/>
        </a:xfrm>
      </p:grpSpPr>
      <p:pic>
        <p:nvPicPr>
          <p:cNvPr id="14" name="Immagine 13">
            <a:extLst>
              <a:ext uri="{FF2B5EF4-FFF2-40B4-BE49-F238E27FC236}">
                <a16:creationId xmlns:a16="http://schemas.microsoft.com/office/drawing/2014/main" id="{2E924ABA-B3E5-2BE5-3FBB-E3F5F2C454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71116" y="1002172"/>
            <a:ext cx="5063623" cy="2531812"/>
          </a:xfrm>
          <a:prstGeom prst="rect">
            <a:avLst/>
          </a:prstGeom>
        </p:spPr>
      </p:pic>
      <p:pic>
        <p:nvPicPr>
          <p:cNvPr id="9" name="Immagine 8">
            <a:extLst>
              <a:ext uri="{FF2B5EF4-FFF2-40B4-BE49-F238E27FC236}">
                <a16:creationId xmlns:a16="http://schemas.microsoft.com/office/drawing/2014/main" id="{8D3098BA-B9DA-91FC-E1BD-DF3D8FEE55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99022" y="3870636"/>
            <a:ext cx="5253048" cy="2626524"/>
          </a:xfrm>
          <a:prstGeom prst="rect">
            <a:avLst/>
          </a:prstGeom>
        </p:spPr>
      </p:pic>
      <p:pic>
        <p:nvPicPr>
          <p:cNvPr id="6" name="Immagine 5">
            <a:extLst>
              <a:ext uri="{FF2B5EF4-FFF2-40B4-BE49-F238E27FC236}">
                <a16:creationId xmlns:a16="http://schemas.microsoft.com/office/drawing/2014/main" id="{07A0F728-F521-4E1C-A39C-DF3D59E9C0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7096" y="1002172"/>
            <a:ext cx="5053790" cy="2526896"/>
          </a:xfrm>
          <a:prstGeom prst="rect">
            <a:avLst/>
          </a:prstGeom>
        </p:spPr>
      </p:pic>
      <p:sp>
        <p:nvSpPr>
          <p:cNvPr id="7" name="TextBox 2">
            <a:extLst>
              <a:ext uri="{FF2B5EF4-FFF2-40B4-BE49-F238E27FC236}">
                <a16:creationId xmlns:a16="http://schemas.microsoft.com/office/drawing/2014/main" id="{34E1AD3E-7727-7D44-ED44-EB6E78ED8739}"/>
              </a:ext>
            </a:extLst>
          </p:cNvPr>
          <p:cNvSpPr txBox="1"/>
          <p:nvPr/>
        </p:nvSpPr>
        <p:spPr>
          <a:xfrm>
            <a:off x="367095" y="228464"/>
            <a:ext cx="11316905"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Alcuni risultati qualitativi sul val set</a:t>
            </a:r>
            <a:endParaRPr lang="it-IT" sz="4067" noProof="0" dirty="0"/>
          </a:p>
        </p:txBody>
      </p:sp>
      <p:sp>
        <p:nvSpPr>
          <p:cNvPr id="11" name="CasellaDiTesto 10">
            <a:extLst>
              <a:ext uri="{FF2B5EF4-FFF2-40B4-BE49-F238E27FC236}">
                <a16:creationId xmlns:a16="http://schemas.microsoft.com/office/drawing/2014/main" id="{54473D60-FAB1-E79B-83B2-FC999D430FBC}"/>
              </a:ext>
            </a:extLst>
          </p:cNvPr>
          <p:cNvSpPr txBox="1"/>
          <p:nvPr/>
        </p:nvSpPr>
        <p:spPr>
          <a:xfrm>
            <a:off x="384468" y="3512350"/>
            <a:ext cx="4819047" cy="315023"/>
          </a:xfrm>
          <a:prstGeom prst="rect">
            <a:avLst/>
          </a:prstGeom>
          <a:noFill/>
        </p:spPr>
        <p:txBody>
          <a:bodyPr wrap="square" rtlCol="0">
            <a:spAutoFit/>
          </a:bodyPr>
          <a:lstStyle/>
          <a:p>
            <a:pPr>
              <a:lnSpc>
                <a:spcPct val="107000"/>
              </a:lnSpc>
              <a:spcAft>
                <a:spcPts val="800"/>
              </a:spcAft>
            </a:pPr>
            <a:r>
              <a:rPr lang="en-US" sz="1400" kern="100" dirty="0">
                <a:solidFill>
                  <a:srgbClr val="FF0000"/>
                </a:solidFill>
                <a:cs typeface="Arial" panose="020B0604020202020204" pitchFamily="34" charset="0"/>
              </a:rPr>
              <a:t>Coppia: c3, Preprocessing: hsv_v, Metodo: Powell, Bins: 256</a:t>
            </a:r>
            <a:endParaRPr lang="it-IT" sz="1400" kern="100" noProof="0" dirty="0">
              <a:solidFill>
                <a:srgbClr val="FF0000"/>
              </a:solidFill>
              <a:cs typeface="Arial" panose="020B0604020202020204" pitchFamily="34" charset="0"/>
            </a:endParaRPr>
          </a:p>
        </p:txBody>
      </p:sp>
      <p:sp>
        <p:nvSpPr>
          <p:cNvPr id="2" name="CasellaDiTesto 1">
            <a:extLst>
              <a:ext uri="{FF2B5EF4-FFF2-40B4-BE49-F238E27FC236}">
                <a16:creationId xmlns:a16="http://schemas.microsoft.com/office/drawing/2014/main" id="{D5956715-9E35-EB6F-3DA0-0779C832919D}"/>
              </a:ext>
            </a:extLst>
          </p:cNvPr>
          <p:cNvSpPr txBox="1"/>
          <p:nvPr/>
        </p:nvSpPr>
        <p:spPr>
          <a:xfrm>
            <a:off x="6249410" y="3506130"/>
            <a:ext cx="5854100" cy="315023"/>
          </a:xfrm>
          <a:prstGeom prst="rect">
            <a:avLst/>
          </a:prstGeom>
          <a:noFill/>
        </p:spPr>
        <p:txBody>
          <a:bodyPr wrap="square" rtlCol="0">
            <a:spAutoFit/>
          </a:bodyPr>
          <a:lstStyle/>
          <a:p>
            <a:pPr>
              <a:lnSpc>
                <a:spcPct val="107000"/>
              </a:lnSpc>
              <a:spcAft>
                <a:spcPts val="800"/>
              </a:spcAft>
            </a:pPr>
            <a:r>
              <a:rPr lang="en-US" sz="1400" kern="100" dirty="0">
                <a:solidFill>
                  <a:srgbClr val="FF0000"/>
                </a:solidFill>
                <a:cs typeface="Arial" panose="020B0604020202020204" pitchFamily="34" charset="0"/>
              </a:rPr>
              <a:t>Coppia: c3, Preprocessing: gray-gauss-5, Metodo: Nelder-Mead, Bins: 128</a:t>
            </a:r>
            <a:endParaRPr lang="it-IT" sz="1400" kern="100" noProof="0" dirty="0">
              <a:solidFill>
                <a:srgbClr val="FF0000"/>
              </a:solidFill>
              <a:cs typeface="Arial" panose="020B0604020202020204" pitchFamily="34" charset="0"/>
            </a:endParaRPr>
          </a:p>
        </p:txBody>
      </p:sp>
      <p:sp>
        <p:nvSpPr>
          <p:cNvPr id="3" name="CasellaDiTesto 2">
            <a:extLst>
              <a:ext uri="{FF2B5EF4-FFF2-40B4-BE49-F238E27FC236}">
                <a16:creationId xmlns:a16="http://schemas.microsoft.com/office/drawing/2014/main" id="{E129AE99-2DEC-EE48-DCD3-86433549A641}"/>
              </a:ext>
            </a:extLst>
          </p:cNvPr>
          <p:cNvSpPr txBox="1"/>
          <p:nvPr/>
        </p:nvSpPr>
        <p:spPr>
          <a:xfrm>
            <a:off x="3111095" y="6514200"/>
            <a:ext cx="5828903" cy="315023"/>
          </a:xfrm>
          <a:prstGeom prst="rect">
            <a:avLst/>
          </a:prstGeom>
          <a:noFill/>
        </p:spPr>
        <p:txBody>
          <a:bodyPr wrap="square" rtlCol="0">
            <a:spAutoFit/>
          </a:bodyPr>
          <a:lstStyle/>
          <a:p>
            <a:pPr>
              <a:lnSpc>
                <a:spcPct val="107000"/>
              </a:lnSpc>
              <a:spcAft>
                <a:spcPts val="800"/>
              </a:spcAft>
            </a:pPr>
            <a:r>
              <a:rPr lang="en-US" sz="1400" kern="100" dirty="0">
                <a:solidFill>
                  <a:srgbClr val="FF0000"/>
                </a:solidFill>
                <a:cs typeface="Arial" panose="020B0604020202020204" pitchFamily="34" charset="0"/>
              </a:rPr>
              <a:t>Coppia: c3, Preprocessing: pca-gauss-5, Metodo: Nelder-Mead, Bins: 64</a:t>
            </a:r>
            <a:endParaRPr lang="it-IT" sz="1400" kern="100" noProof="0" dirty="0">
              <a:solidFill>
                <a:srgbClr val="FF0000"/>
              </a:solidFill>
              <a:cs typeface="Arial" panose="020B0604020202020204" pitchFamily="34" charset="0"/>
            </a:endParaRPr>
          </a:p>
        </p:txBody>
      </p:sp>
    </p:spTree>
    <p:extLst>
      <p:ext uri="{BB962C8B-B14F-4D97-AF65-F5344CB8AC3E}">
        <p14:creationId xmlns:p14="http://schemas.microsoft.com/office/powerpoint/2010/main" val="2928617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D6DAC-CFA6-9947-540D-33271D432DFF}"/>
            </a:ext>
          </a:extLst>
        </p:cNvPr>
        <p:cNvGrpSpPr/>
        <p:nvPr/>
      </p:nvGrpSpPr>
      <p:grpSpPr>
        <a:xfrm>
          <a:off x="0" y="0"/>
          <a:ext cx="0" cy="0"/>
          <a:chOff x="0" y="0"/>
          <a:chExt cx="0" cy="0"/>
        </a:xfrm>
      </p:grpSpPr>
      <p:pic>
        <p:nvPicPr>
          <p:cNvPr id="16" name="Immagine 15">
            <a:extLst>
              <a:ext uri="{FF2B5EF4-FFF2-40B4-BE49-F238E27FC236}">
                <a16:creationId xmlns:a16="http://schemas.microsoft.com/office/drawing/2014/main" id="{86C63BC8-8030-13A4-A32E-BAC377D220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34189" y="2808877"/>
            <a:ext cx="6238204" cy="3465669"/>
          </a:xfrm>
          <a:prstGeom prst="rect">
            <a:avLst/>
          </a:prstGeom>
        </p:spPr>
      </p:pic>
      <p:pic>
        <p:nvPicPr>
          <p:cNvPr id="14" name="Immagine 13">
            <a:extLst>
              <a:ext uri="{FF2B5EF4-FFF2-40B4-BE49-F238E27FC236}">
                <a16:creationId xmlns:a16="http://schemas.microsoft.com/office/drawing/2014/main" id="{DFB9E57E-9282-5596-01F4-FDD0977CC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60" y="1104935"/>
            <a:ext cx="6238204" cy="3465669"/>
          </a:xfrm>
          <a:prstGeom prst="rect">
            <a:avLst/>
          </a:prstGeom>
        </p:spPr>
      </p:pic>
      <p:sp>
        <p:nvSpPr>
          <p:cNvPr id="7" name="TextBox 2">
            <a:extLst>
              <a:ext uri="{FF2B5EF4-FFF2-40B4-BE49-F238E27FC236}">
                <a16:creationId xmlns:a16="http://schemas.microsoft.com/office/drawing/2014/main" id="{7C7D3F90-4D9A-93D0-8F64-582891BCBE10}"/>
              </a:ext>
            </a:extLst>
          </p:cNvPr>
          <p:cNvSpPr txBox="1"/>
          <p:nvPr/>
        </p:nvSpPr>
        <p:spPr>
          <a:xfrm>
            <a:off x="389370" y="247558"/>
            <a:ext cx="5799674"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Andamento MI</a:t>
            </a:r>
            <a:endParaRPr lang="it-IT" sz="4067" noProof="0" dirty="0"/>
          </a:p>
        </p:txBody>
      </p:sp>
      <p:sp>
        <p:nvSpPr>
          <p:cNvPr id="12" name="CasellaDiTesto 11">
            <a:extLst>
              <a:ext uri="{FF2B5EF4-FFF2-40B4-BE49-F238E27FC236}">
                <a16:creationId xmlns:a16="http://schemas.microsoft.com/office/drawing/2014/main" id="{09121E68-CC37-C063-0E0E-CAC37CE8EE3E}"/>
              </a:ext>
            </a:extLst>
          </p:cNvPr>
          <p:cNvSpPr txBox="1"/>
          <p:nvPr/>
        </p:nvSpPr>
        <p:spPr>
          <a:xfrm>
            <a:off x="853912" y="4413911"/>
            <a:ext cx="4870589" cy="545534"/>
          </a:xfrm>
          <a:prstGeom prst="rect">
            <a:avLst/>
          </a:prstGeom>
          <a:noFill/>
        </p:spPr>
        <p:txBody>
          <a:bodyPr wrap="square" rtlCol="0">
            <a:spAutoFit/>
          </a:bodyPr>
          <a:lstStyle/>
          <a:p>
            <a:pPr algn="ctr">
              <a:lnSpc>
                <a:spcPct val="107000"/>
              </a:lnSpc>
              <a:spcAft>
                <a:spcPts val="800"/>
              </a:spcAft>
            </a:pPr>
            <a:r>
              <a:rPr lang="it-IT" sz="1400" kern="100" noProof="0" dirty="0">
                <a:cs typeface="Arial" panose="020B0604020202020204" pitchFamily="34" charset="0"/>
              </a:rPr>
              <a:t>Andamento della MI</a:t>
            </a:r>
            <a:r>
              <a:rPr lang="it-IT" sz="1400" kern="100" dirty="0">
                <a:cs typeface="Arial" panose="020B0604020202020204" pitchFamily="34" charset="0"/>
              </a:rPr>
              <a:t> per la coppia c3 del val set</a:t>
            </a:r>
            <a:r>
              <a:rPr lang="en-US" sz="1400" kern="100" dirty="0">
                <a:cs typeface="Arial" panose="020B0604020202020204" pitchFamily="34" charset="0"/>
              </a:rPr>
              <a:t>, Preprocessing: pca-gauss-5, Metodo: Nelder-Mead, Bins: 64</a:t>
            </a:r>
            <a:endParaRPr lang="it-IT" sz="1400" kern="100" dirty="0">
              <a:cs typeface="Arial" panose="020B0604020202020204" pitchFamily="34" charset="0"/>
            </a:endParaRPr>
          </a:p>
        </p:txBody>
      </p:sp>
      <p:sp>
        <p:nvSpPr>
          <p:cNvPr id="13" name="CasellaDiTesto 12">
            <a:extLst>
              <a:ext uri="{FF2B5EF4-FFF2-40B4-BE49-F238E27FC236}">
                <a16:creationId xmlns:a16="http://schemas.microsoft.com/office/drawing/2014/main" id="{EC30F8D0-F0C8-69F9-A17A-85BAC1A4FA9D}"/>
              </a:ext>
            </a:extLst>
          </p:cNvPr>
          <p:cNvSpPr txBox="1"/>
          <p:nvPr/>
        </p:nvSpPr>
        <p:spPr>
          <a:xfrm>
            <a:off x="6774096" y="6119493"/>
            <a:ext cx="4958389" cy="545534"/>
          </a:xfrm>
          <a:prstGeom prst="rect">
            <a:avLst/>
          </a:prstGeom>
          <a:noFill/>
        </p:spPr>
        <p:txBody>
          <a:bodyPr wrap="square" rtlCol="0">
            <a:spAutoFit/>
          </a:bodyPr>
          <a:lstStyle/>
          <a:p>
            <a:pPr algn="ctr">
              <a:lnSpc>
                <a:spcPct val="107000"/>
              </a:lnSpc>
              <a:spcAft>
                <a:spcPts val="800"/>
              </a:spcAft>
            </a:pPr>
            <a:r>
              <a:rPr lang="it-IT" sz="1400" kern="100" dirty="0">
                <a:cs typeface="Arial" panose="020B0604020202020204" pitchFamily="34" charset="0"/>
              </a:rPr>
              <a:t>Andamento della MI per la coppia c6 del val set</a:t>
            </a:r>
            <a:r>
              <a:rPr lang="en-US" sz="1400" kern="100" dirty="0">
                <a:cs typeface="Arial" panose="020B0604020202020204" pitchFamily="34" charset="0"/>
              </a:rPr>
              <a:t>, Preprocessing: pca-gauss-5, Metodo: Nelder-Mead, Bins: 64</a:t>
            </a:r>
            <a:endParaRPr lang="it-IT" sz="1400" kern="100" dirty="0">
              <a:cs typeface="Arial" panose="020B0604020202020204" pitchFamily="34" charset="0"/>
            </a:endParaRPr>
          </a:p>
        </p:txBody>
      </p:sp>
    </p:spTree>
    <p:extLst>
      <p:ext uri="{BB962C8B-B14F-4D97-AF65-F5344CB8AC3E}">
        <p14:creationId xmlns:p14="http://schemas.microsoft.com/office/powerpoint/2010/main" val="27388111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EDF2-8544-90C5-FB46-E69D3F95E006}"/>
            </a:ext>
          </a:extLst>
        </p:cNvPr>
        <p:cNvGrpSpPr/>
        <p:nvPr/>
      </p:nvGrpSpPr>
      <p:grpSpPr>
        <a:xfrm>
          <a:off x="0" y="0"/>
          <a:ext cx="0" cy="0"/>
          <a:chOff x="0" y="0"/>
          <a:chExt cx="0" cy="0"/>
        </a:xfrm>
      </p:grpSpPr>
      <p:pic>
        <p:nvPicPr>
          <p:cNvPr id="19" name="Immagine 18">
            <a:extLst>
              <a:ext uri="{FF2B5EF4-FFF2-40B4-BE49-F238E27FC236}">
                <a16:creationId xmlns:a16="http://schemas.microsoft.com/office/drawing/2014/main" id="{577E04C7-B96B-5235-5046-E8876F4634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03626" y="607446"/>
            <a:ext cx="5753266" cy="2876633"/>
          </a:xfrm>
          <a:prstGeom prst="rect">
            <a:avLst/>
          </a:prstGeom>
        </p:spPr>
      </p:pic>
      <p:pic>
        <p:nvPicPr>
          <p:cNvPr id="16" name="Immagine 15">
            <a:extLst>
              <a:ext uri="{FF2B5EF4-FFF2-40B4-BE49-F238E27FC236}">
                <a16:creationId xmlns:a16="http://schemas.microsoft.com/office/drawing/2014/main" id="{23F62E73-7E75-2CB7-CE34-459E7B4666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74824" y="3781909"/>
            <a:ext cx="5753266" cy="2876633"/>
          </a:xfrm>
          <a:prstGeom prst="rect">
            <a:avLst/>
          </a:prstGeom>
        </p:spPr>
      </p:pic>
      <p:sp>
        <p:nvSpPr>
          <p:cNvPr id="7" name="TextBox 2">
            <a:extLst>
              <a:ext uri="{FF2B5EF4-FFF2-40B4-BE49-F238E27FC236}">
                <a16:creationId xmlns:a16="http://schemas.microsoft.com/office/drawing/2014/main" id="{DA5C0B4D-2FD5-0439-3EFF-1F9E4E926AC0}"/>
              </a:ext>
            </a:extLst>
          </p:cNvPr>
          <p:cNvSpPr txBox="1"/>
          <p:nvPr/>
        </p:nvSpPr>
        <p:spPr>
          <a:xfrm>
            <a:off x="251718" y="304513"/>
            <a:ext cx="7053649"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Performance sul test set</a:t>
            </a:r>
            <a:endParaRPr lang="it-IT" sz="4067" noProof="0" dirty="0"/>
          </a:p>
        </p:txBody>
      </p:sp>
      <p:sp>
        <p:nvSpPr>
          <p:cNvPr id="3" name="CasellaDiTesto 2">
            <a:extLst>
              <a:ext uri="{FF2B5EF4-FFF2-40B4-BE49-F238E27FC236}">
                <a16:creationId xmlns:a16="http://schemas.microsoft.com/office/drawing/2014/main" id="{D8C631B5-34A6-F8E5-9CEB-6A4208826A68}"/>
              </a:ext>
            </a:extLst>
          </p:cNvPr>
          <p:cNvSpPr txBox="1"/>
          <p:nvPr/>
        </p:nvSpPr>
        <p:spPr>
          <a:xfrm>
            <a:off x="2274444" y="4969743"/>
            <a:ext cx="1722035" cy="394532"/>
          </a:xfrm>
          <a:prstGeom prst="rect">
            <a:avLst/>
          </a:prstGeom>
          <a:noFill/>
        </p:spPr>
        <p:txBody>
          <a:bodyPr wrap="square" rtlCol="0">
            <a:spAutoFit/>
          </a:bodyPr>
          <a:lstStyle/>
          <a:p>
            <a:pPr>
              <a:lnSpc>
                <a:spcPct val="107000"/>
              </a:lnSpc>
              <a:spcAft>
                <a:spcPts val="800"/>
              </a:spcAft>
            </a:pPr>
            <a:r>
              <a:rPr lang="it-IT" sz="1900" kern="100" dirty="0">
                <a:cs typeface="Arial" panose="020B0604020202020204" pitchFamily="34" charset="0"/>
              </a:rPr>
              <a:t>Risultati medi</a:t>
            </a:r>
            <a:endParaRPr lang="it-IT" sz="1900" kern="100" noProof="0" dirty="0">
              <a:cs typeface="Arial" panose="020B0604020202020204" pitchFamily="34" charset="0"/>
            </a:endParaRPr>
          </a:p>
        </p:txBody>
      </p:sp>
      <p:graphicFrame>
        <p:nvGraphicFramePr>
          <p:cNvPr id="4" name="Tabella 3">
            <a:extLst>
              <a:ext uri="{FF2B5EF4-FFF2-40B4-BE49-F238E27FC236}">
                <a16:creationId xmlns:a16="http://schemas.microsoft.com/office/drawing/2014/main" id="{C857DB1E-458A-FA12-E802-3139E98FB12B}"/>
              </a:ext>
            </a:extLst>
          </p:cNvPr>
          <p:cNvGraphicFramePr>
            <a:graphicFrameLocks noGrp="1"/>
          </p:cNvGraphicFramePr>
          <p:nvPr>
            <p:extLst>
              <p:ext uri="{D42A27DB-BD31-4B8C-83A1-F6EECF244321}">
                <p14:modId xmlns:p14="http://schemas.microsoft.com/office/powerpoint/2010/main" val="3673393047"/>
              </p:ext>
            </p:extLst>
          </p:nvPr>
        </p:nvGraphicFramePr>
        <p:xfrm>
          <a:off x="57601" y="1611933"/>
          <a:ext cx="6381133" cy="3051966"/>
        </p:xfrm>
        <a:graphic>
          <a:graphicData uri="http://schemas.openxmlformats.org/drawingml/2006/table">
            <a:tbl>
              <a:tblPr firstRow="1" bandRow="1">
                <a:tableStyleId>{5C22544A-7EE6-4342-B048-85BDC9FD1C3A}</a:tableStyleId>
              </a:tblPr>
              <a:tblGrid>
                <a:gridCol w="1012413">
                  <a:extLst>
                    <a:ext uri="{9D8B030D-6E8A-4147-A177-3AD203B41FA5}">
                      <a16:colId xmlns:a16="http://schemas.microsoft.com/office/drawing/2014/main" val="87444673"/>
                    </a:ext>
                  </a:extLst>
                </a:gridCol>
                <a:gridCol w="762000">
                  <a:extLst>
                    <a:ext uri="{9D8B030D-6E8A-4147-A177-3AD203B41FA5}">
                      <a16:colId xmlns:a16="http://schemas.microsoft.com/office/drawing/2014/main" val="2283952525"/>
                    </a:ext>
                  </a:extLst>
                </a:gridCol>
                <a:gridCol w="685800">
                  <a:extLst>
                    <a:ext uri="{9D8B030D-6E8A-4147-A177-3AD203B41FA5}">
                      <a16:colId xmlns:a16="http://schemas.microsoft.com/office/drawing/2014/main" val="2728922838"/>
                    </a:ext>
                  </a:extLst>
                </a:gridCol>
                <a:gridCol w="800100">
                  <a:extLst>
                    <a:ext uri="{9D8B030D-6E8A-4147-A177-3AD203B41FA5}">
                      <a16:colId xmlns:a16="http://schemas.microsoft.com/office/drawing/2014/main" val="2239828005"/>
                    </a:ext>
                  </a:extLst>
                </a:gridCol>
                <a:gridCol w="685800">
                  <a:extLst>
                    <a:ext uri="{9D8B030D-6E8A-4147-A177-3AD203B41FA5}">
                      <a16:colId xmlns:a16="http://schemas.microsoft.com/office/drawing/2014/main" val="4230650793"/>
                    </a:ext>
                  </a:extLst>
                </a:gridCol>
                <a:gridCol w="815340">
                  <a:extLst>
                    <a:ext uri="{9D8B030D-6E8A-4147-A177-3AD203B41FA5}">
                      <a16:colId xmlns:a16="http://schemas.microsoft.com/office/drawing/2014/main" val="180656240"/>
                    </a:ext>
                  </a:extLst>
                </a:gridCol>
                <a:gridCol w="811606">
                  <a:extLst>
                    <a:ext uri="{9D8B030D-6E8A-4147-A177-3AD203B41FA5}">
                      <a16:colId xmlns:a16="http://schemas.microsoft.com/office/drawing/2014/main" val="1057302898"/>
                    </a:ext>
                  </a:extLst>
                </a:gridCol>
                <a:gridCol w="808074">
                  <a:extLst>
                    <a:ext uri="{9D8B030D-6E8A-4147-A177-3AD203B41FA5}">
                      <a16:colId xmlns:a16="http://schemas.microsoft.com/office/drawing/2014/main" val="3924260202"/>
                    </a:ext>
                  </a:extLst>
                </a:gridCol>
              </a:tblGrid>
              <a:tr h="343990">
                <a:tc>
                  <a:txBody>
                    <a:bodyPr/>
                    <a:lstStyle/>
                    <a:p>
                      <a:pPr algn="ctr"/>
                      <a:r>
                        <a:rPr lang="it-IT" sz="1400" dirty="0"/>
                        <a:t>immagine</a:t>
                      </a:r>
                    </a:p>
                  </a:txBody>
                  <a:tcPr/>
                </a:tc>
                <a:tc>
                  <a:txBody>
                    <a:bodyPr/>
                    <a:lstStyle/>
                    <a:p>
                      <a:pPr algn="ctr"/>
                      <a:r>
                        <a:rPr lang="it-IT" sz="1400" dirty="0"/>
                        <a:t>coppia</a:t>
                      </a:r>
                    </a:p>
                  </a:txBody>
                  <a:tcPr/>
                </a:tc>
                <a:tc>
                  <a:txBody>
                    <a:bodyPr/>
                    <a:lstStyle/>
                    <a:p>
                      <a:pPr algn="ctr"/>
                      <a:r>
                        <a:rPr lang="it-IT" sz="1400" dirty="0"/>
                        <a:t>tx</a:t>
                      </a:r>
                    </a:p>
                  </a:txBody>
                  <a:tcPr/>
                </a:tc>
                <a:tc>
                  <a:txBody>
                    <a:bodyPr/>
                    <a:lstStyle/>
                    <a:p>
                      <a:pPr algn="ctr"/>
                      <a:r>
                        <a:rPr lang="it-IT" sz="1400" dirty="0"/>
                        <a:t>residuo</a:t>
                      </a:r>
                    </a:p>
                  </a:txBody>
                  <a:tcPr/>
                </a:tc>
                <a:tc>
                  <a:txBody>
                    <a:bodyPr/>
                    <a:lstStyle/>
                    <a:p>
                      <a:pPr algn="ctr"/>
                      <a:r>
                        <a:rPr lang="it-IT" sz="1400" dirty="0"/>
                        <a:t>ty</a:t>
                      </a:r>
                    </a:p>
                  </a:txBody>
                  <a:tcPr/>
                </a:tc>
                <a:tc>
                  <a:txBody>
                    <a:bodyPr/>
                    <a:lstStyle/>
                    <a:p>
                      <a:pPr algn="ctr"/>
                      <a:r>
                        <a:rPr lang="it-IT" sz="1400" dirty="0"/>
                        <a:t>residuo</a:t>
                      </a:r>
                    </a:p>
                  </a:txBody>
                  <a:tcPr/>
                </a:tc>
                <a:tc>
                  <a:txBody>
                    <a:bodyPr/>
                    <a:lstStyle/>
                    <a:p>
                      <a:pPr algn="ctr"/>
                      <a:r>
                        <a:rPr lang="it-IT" sz="1400" dirty="0"/>
                        <a:t>theta</a:t>
                      </a:r>
                    </a:p>
                  </a:txBody>
                  <a:tcPr/>
                </a:tc>
                <a:tc>
                  <a:txBody>
                    <a:bodyPr/>
                    <a:lstStyle/>
                    <a:p>
                      <a:pPr algn="ctr"/>
                      <a:r>
                        <a:rPr lang="it-IT" sz="1400" dirty="0"/>
                        <a:t>residuo</a:t>
                      </a:r>
                    </a:p>
                  </a:txBody>
                  <a:tcPr/>
                </a:tc>
                <a:extLst>
                  <a:ext uri="{0D108BD9-81ED-4DB2-BD59-A6C34878D82A}">
                    <a16:rowId xmlns:a16="http://schemas.microsoft.com/office/drawing/2014/main" val="2492567403"/>
                  </a:ext>
                </a:extLst>
              </a:tr>
              <a:tr h="338497">
                <a:tc>
                  <a:txBody>
                    <a:bodyPr/>
                    <a:lstStyle/>
                    <a:p>
                      <a:pPr algn="ctr">
                        <a:buNone/>
                      </a:pPr>
                      <a:r>
                        <a:rPr lang="it-IT" sz="1400" i="1" dirty="0">
                          <a:solidFill>
                            <a:schemeClr val="tx1"/>
                          </a:solidFill>
                          <a:effectLst/>
                          <a:latin typeface="+mn-lt"/>
                        </a:rPr>
                        <a:t>zh3_01_03</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c1</a:t>
                      </a:r>
                    </a:p>
                  </a:txBody>
                  <a:tcPr/>
                </a:tc>
                <a:tc>
                  <a:txBody>
                    <a:bodyPr/>
                    <a:lstStyle/>
                    <a:p>
                      <a:pPr algn="ctr"/>
                      <a:r>
                        <a:rPr lang="it-IT" sz="1400" dirty="0"/>
                        <a:t>8.97</a:t>
                      </a:r>
                    </a:p>
                  </a:txBody>
                  <a:tcPr/>
                </a:tc>
                <a:tc>
                  <a:txBody>
                    <a:bodyPr/>
                    <a:lstStyle/>
                    <a:p>
                      <a:pPr algn="ctr"/>
                      <a:r>
                        <a:rPr lang="it-IT" sz="1400" dirty="0"/>
                        <a:t>0.90</a:t>
                      </a:r>
                    </a:p>
                  </a:txBody>
                  <a:tcPr/>
                </a:tc>
                <a:tc>
                  <a:txBody>
                    <a:bodyPr/>
                    <a:lstStyle/>
                    <a:p>
                      <a:pPr algn="ctr"/>
                      <a:r>
                        <a:rPr lang="it-IT" sz="1400" dirty="0"/>
                        <a:t>-15.01</a:t>
                      </a:r>
                    </a:p>
                  </a:txBody>
                  <a:tcPr/>
                </a:tc>
                <a:tc>
                  <a:txBody>
                    <a:bodyPr/>
                    <a:lstStyle/>
                    <a:p>
                      <a:pPr algn="ctr"/>
                      <a:r>
                        <a:rPr lang="it-IT" sz="1400" dirty="0"/>
                        <a:t>0.02</a:t>
                      </a:r>
                    </a:p>
                  </a:txBody>
                  <a:tcPr/>
                </a:tc>
                <a:tc>
                  <a:txBody>
                    <a:bodyPr/>
                    <a:lstStyle/>
                    <a:p>
                      <a:pPr algn="ctr"/>
                      <a:r>
                        <a:rPr lang="it-IT" sz="1400" dirty="0"/>
                        <a:t>0.0645</a:t>
                      </a:r>
                    </a:p>
                  </a:txBody>
                  <a:tcPr/>
                </a:tc>
                <a:tc>
                  <a:txBody>
                    <a:bodyPr/>
                    <a:lstStyle/>
                    <a:p>
                      <a:pPr algn="ctr"/>
                      <a:r>
                        <a:rPr lang="it-IT" sz="1400" dirty="0"/>
                        <a:t>0.0004</a:t>
                      </a:r>
                    </a:p>
                  </a:txBody>
                  <a:tcPr/>
                </a:tc>
                <a:extLst>
                  <a:ext uri="{0D108BD9-81ED-4DB2-BD59-A6C34878D82A}">
                    <a16:rowId xmlns:a16="http://schemas.microsoft.com/office/drawing/2014/main" val="671879042"/>
                  </a:ext>
                </a:extLst>
              </a:tr>
              <a:tr h="338497">
                <a:tc>
                  <a:txBody>
                    <a:bodyPr/>
                    <a:lstStyle/>
                    <a:p>
                      <a:pPr algn="ctr">
                        <a:buNone/>
                      </a:pPr>
                      <a:r>
                        <a:rPr lang="it-IT" sz="1400" i="1" dirty="0">
                          <a:solidFill>
                            <a:schemeClr val="tx1"/>
                          </a:solidFill>
                          <a:effectLst/>
                          <a:latin typeface="+mn-lt"/>
                        </a:rPr>
                        <a:t>zh3_02_01</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c2</a:t>
                      </a:r>
                    </a:p>
                  </a:txBody>
                  <a:tcPr/>
                </a:tc>
                <a:tc>
                  <a:txBody>
                    <a:bodyPr/>
                    <a:lstStyle/>
                    <a:p>
                      <a:pPr algn="ctr"/>
                      <a:r>
                        <a:rPr lang="it-IT" sz="1400" dirty="0"/>
                        <a:t>16.55</a:t>
                      </a:r>
                    </a:p>
                  </a:txBody>
                  <a:tcPr/>
                </a:tc>
                <a:tc>
                  <a:txBody>
                    <a:bodyPr/>
                    <a:lstStyle/>
                    <a:p>
                      <a:pPr algn="ctr"/>
                      <a:r>
                        <a:rPr lang="it-IT" sz="1400" dirty="0"/>
                        <a:t>-1.15</a:t>
                      </a:r>
                    </a:p>
                  </a:txBody>
                  <a:tcPr/>
                </a:tc>
                <a:tc>
                  <a:txBody>
                    <a:bodyPr/>
                    <a:lstStyle/>
                    <a:p>
                      <a:pPr algn="ctr"/>
                      <a:r>
                        <a:rPr lang="it-IT" sz="1400" dirty="0"/>
                        <a:t>-5.16</a:t>
                      </a:r>
                    </a:p>
                  </a:txBody>
                  <a:tcPr/>
                </a:tc>
                <a:tc>
                  <a:txBody>
                    <a:bodyPr/>
                    <a:lstStyle/>
                    <a:p>
                      <a:pPr algn="ctr"/>
                      <a:r>
                        <a:rPr lang="it-IT" sz="1400" dirty="0"/>
                        <a:t>0.21</a:t>
                      </a:r>
                    </a:p>
                  </a:txBody>
                  <a:tcPr/>
                </a:tc>
                <a:tc>
                  <a:txBody>
                    <a:bodyPr/>
                    <a:lstStyle/>
                    <a:p>
                      <a:pPr algn="ctr"/>
                      <a:r>
                        <a:rPr lang="it-IT" sz="1400" dirty="0"/>
                        <a:t>0.0788</a:t>
                      </a:r>
                    </a:p>
                  </a:txBody>
                  <a:tcPr/>
                </a:tc>
                <a:tc>
                  <a:txBody>
                    <a:bodyPr/>
                    <a:lstStyle/>
                    <a:p>
                      <a:pPr algn="ctr"/>
                      <a:r>
                        <a:rPr lang="it-IT" sz="1400" dirty="0"/>
                        <a:t>-0.0007</a:t>
                      </a:r>
                    </a:p>
                  </a:txBody>
                  <a:tcPr/>
                </a:tc>
                <a:extLst>
                  <a:ext uri="{0D108BD9-81ED-4DB2-BD59-A6C34878D82A}">
                    <a16:rowId xmlns:a16="http://schemas.microsoft.com/office/drawing/2014/main" val="1299882572"/>
                  </a:ext>
                </a:extLst>
              </a:tr>
              <a:tr h="338497">
                <a:tc>
                  <a:txBody>
                    <a:bodyPr/>
                    <a:lstStyle/>
                    <a:p>
                      <a:pPr algn="ctr">
                        <a:buNone/>
                      </a:pPr>
                      <a:r>
                        <a:rPr lang="it-IT" sz="1400" i="1" dirty="0">
                          <a:solidFill>
                            <a:schemeClr val="tx1"/>
                          </a:solidFill>
                          <a:effectLst/>
                          <a:latin typeface="+mn-lt"/>
                        </a:rPr>
                        <a:t>zh3_03_01</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c3</a:t>
                      </a:r>
                    </a:p>
                  </a:txBody>
                  <a:tcPr/>
                </a:tc>
                <a:tc>
                  <a:txBody>
                    <a:bodyPr/>
                    <a:lstStyle/>
                    <a:p>
                      <a:pPr algn="ctr"/>
                      <a:r>
                        <a:rPr lang="it-IT" sz="1400" dirty="0"/>
                        <a:t>-23.82</a:t>
                      </a:r>
                    </a:p>
                  </a:txBody>
                  <a:tcPr/>
                </a:tc>
                <a:tc>
                  <a:txBody>
                    <a:bodyPr/>
                    <a:lstStyle/>
                    <a:p>
                      <a:pPr algn="ctr"/>
                      <a:r>
                        <a:rPr lang="it-IT" sz="1400" dirty="0"/>
                        <a:t>0.96</a:t>
                      </a:r>
                    </a:p>
                  </a:txBody>
                  <a:tcPr/>
                </a:tc>
                <a:tc>
                  <a:txBody>
                    <a:bodyPr/>
                    <a:lstStyle/>
                    <a:p>
                      <a:pPr algn="ctr"/>
                      <a:r>
                        <a:rPr lang="it-IT" sz="1400" dirty="0"/>
                        <a:t>23.71</a:t>
                      </a:r>
                    </a:p>
                  </a:txBody>
                  <a:tcPr/>
                </a:tc>
                <a:tc>
                  <a:txBody>
                    <a:bodyPr/>
                    <a:lstStyle/>
                    <a:p>
                      <a:pPr algn="ctr"/>
                      <a:r>
                        <a:rPr lang="it-IT" sz="1400" dirty="0"/>
                        <a:t>1.62</a:t>
                      </a:r>
                    </a:p>
                  </a:txBody>
                  <a:tcPr/>
                </a:tc>
                <a:tc>
                  <a:txBody>
                    <a:bodyPr/>
                    <a:lstStyle/>
                    <a:p>
                      <a:pPr algn="ctr"/>
                      <a:r>
                        <a:rPr lang="it-IT" sz="1400" dirty="0"/>
                        <a:t>-0.0915</a:t>
                      </a:r>
                    </a:p>
                  </a:txBody>
                  <a:tcPr/>
                </a:tc>
                <a:tc>
                  <a:txBody>
                    <a:bodyPr/>
                    <a:lstStyle/>
                    <a:p>
                      <a:pPr algn="ctr"/>
                      <a:r>
                        <a:rPr lang="it-IT" sz="1400" dirty="0"/>
                        <a:t>-0.0012</a:t>
                      </a:r>
                    </a:p>
                  </a:txBody>
                  <a:tcPr/>
                </a:tc>
                <a:extLst>
                  <a:ext uri="{0D108BD9-81ED-4DB2-BD59-A6C34878D82A}">
                    <a16:rowId xmlns:a16="http://schemas.microsoft.com/office/drawing/2014/main" val="2094793193"/>
                  </a:ext>
                </a:extLst>
              </a:tr>
              <a:tr h="338497">
                <a:tc>
                  <a:txBody>
                    <a:bodyPr/>
                    <a:lstStyle/>
                    <a:p>
                      <a:pPr algn="ctr">
                        <a:buNone/>
                      </a:pPr>
                      <a:r>
                        <a:rPr lang="it-IT" sz="1400" i="1" dirty="0">
                          <a:solidFill>
                            <a:schemeClr val="tx1"/>
                          </a:solidFill>
                          <a:effectLst/>
                          <a:latin typeface="+mn-lt"/>
                        </a:rPr>
                        <a:t>zh3_03_02</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c4</a:t>
                      </a:r>
                    </a:p>
                  </a:txBody>
                  <a:tcPr/>
                </a:tc>
                <a:tc>
                  <a:txBody>
                    <a:bodyPr/>
                    <a:lstStyle/>
                    <a:p>
                      <a:pPr algn="ctr"/>
                      <a:r>
                        <a:rPr lang="it-IT" sz="1400" dirty="0"/>
                        <a:t>-27.13</a:t>
                      </a:r>
                    </a:p>
                  </a:txBody>
                  <a:tcPr/>
                </a:tc>
                <a:tc>
                  <a:txBody>
                    <a:bodyPr/>
                    <a:lstStyle/>
                    <a:p>
                      <a:pPr algn="ctr"/>
                      <a:r>
                        <a:rPr lang="it-IT" sz="1400" dirty="0"/>
                        <a:t>0.51</a:t>
                      </a:r>
                    </a:p>
                  </a:txBody>
                  <a:tcPr/>
                </a:tc>
                <a:tc>
                  <a:txBody>
                    <a:bodyPr/>
                    <a:lstStyle/>
                    <a:p>
                      <a:pPr algn="ctr"/>
                      <a:r>
                        <a:rPr lang="it-IT" sz="1400" dirty="0"/>
                        <a:t>27.29</a:t>
                      </a:r>
                    </a:p>
                  </a:txBody>
                  <a:tcPr/>
                </a:tc>
                <a:tc>
                  <a:txBody>
                    <a:bodyPr/>
                    <a:lstStyle/>
                    <a:p>
                      <a:pPr algn="ctr"/>
                      <a:r>
                        <a:rPr lang="it-IT" sz="1400" dirty="0"/>
                        <a:t>1.14</a:t>
                      </a:r>
                    </a:p>
                  </a:txBody>
                  <a:tcPr/>
                </a:tc>
                <a:tc>
                  <a:txBody>
                    <a:bodyPr/>
                    <a:lstStyle/>
                    <a:p>
                      <a:pPr algn="ctr"/>
                      <a:r>
                        <a:rPr lang="it-IT" sz="1400" dirty="0"/>
                        <a:t>-0.1017</a:t>
                      </a:r>
                    </a:p>
                  </a:txBody>
                  <a:tcPr/>
                </a:tc>
                <a:tc>
                  <a:txBody>
                    <a:bodyPr/>
                    <a:lstStyle/>
                    <a:p>
                      <a:pPr algn="ctr"/>
                      <a:r>
                        <a:rPr lang="it-IT" sz="1400" dirty="0"/>
                        <a:t>-0.0017</a:t>
                      </a:r>
                    </a:p>
                  </a:txBody>
                  <a:tcPr/>
                </a:tc>
                <a:extLst>
                  <a:ext uri="{0D108BD9-81ED-4DB2-BD59-A6C34878D82A}">
                    <a16:rowId xmlns:a16="http://schemas.microsoft.com/office/drawing/2014/main" val="3749290726"/>
                  </a:ext>
                </a:extLst>
              </a:tr>
              <a:tr h="338497">
                <a:tc>
                  <a:txBody>
                    <a:bodyPr/>
                    <a:lstStyle/>
                    <a:p>
                      <a:pPr algn="ctr">
                        <a:buNone/>
                      </a:pPr>
                      <a:r>
                        <a:rPr lang="it-IT" sz="1400" i="1" dirty="0">
                          <a:solidFill>
                            <a:schemeClr val="tx1"/>
                          </a:solidFill>
                          <a:effectLst/>
                          <a:latin typeface="+mn-lt"/>
                        </a:rPr>
                        <a:t>zh1_01_03</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c5</a:t>
                      </a:r>
                    </a:p>
                  </a:txBody>
                  <a:tcPr/>
                </a:tc>
                <a:tc>
                  <a:txBody>
                    <a:bodyPr/>
                    <a:lstStyle/>
                    <a:p>
                      <a:pPr algn="ctr"/>
                      <a:r>
                        <a:rPr lang="it-IT" sz="1400" dirty="0"/>
                        <a:t>-14.80</a:t>
                      </a:r>
                    </a:p>
                  </a:txBody>
                  <a:tcPr/>
                </a:tc>
                <a:tc>
                  <a:txBody>
                    <a:bodyPr/>
                    <a:lstStyle/>
                    <a:p>
                      <a:pPr algn="ctr"/>
                      <a:r>
                        <a:rPr lang="it-IT" sz="1400" dirty="0"/>
                        <a:t>37.89</a:t>
                      </a:r>
                    </a:p>
                  </a:txBody>
                  <a:tcPr/>
                </a:tc>
                <a:tc>
                  <a:txBody>
                    <a:bodyPr/>
                    <a:lstStyle/>
                    <a:p>
                      <a:pPr algn="ctr"/>
                      <a:r>
                        <a:rPr lang="it-IT" sz="1400" dirty="0"/>
                        <a:t>23.06</a:t>
                      </a:r>
                    </a:p>
                  </a:txBody>
                  <a:tcPr/>
                </a:tc>
                <a:tc>
                  <a:txBody>
                    <a:bodyPr/>
                    <a:lstStyle/>
                    <a:p>
                      <a:pPr algn="ctr"/>
                      <a:r>
                        <a:rPr lang="it-IT" sz="1400" dirty="0"/>
                        <a:t>-34.57</a:t>
                      </a:r>
                    </a:p>
                  </a:txBody>
                  <a:tcPr/>
                </a:tc>
                <a:tc>
                  <a:txBody>
                    <a:bodyPr/>
                    <a:lstStyle/>
                    <a:p>
                      <a:pPr algn="ctr"/>
                      <a:r>
                        <a:rPr lang="it-IT" sz="1400" dirty="0"/>
                        <a:t>-0.1426</a:t>
                      </a:r>
                    </a:p>
                  </a:txBody>
                  <a:tcPr/>
                </a:tc>
                <a:tc>
                  <a:txBody>
                    <a:bodyPr/>
                    <a:lstStyle/>
                    <a:p>
                      <a:pPr algn="ctr"/>
                      <a:r>
                        <a:rPr lang="it-IT" sz="1400" dirty="0"/>
                        <a:t>0.1084</a:t>
                      </a:r>
                    </a:p>
                  </a:txBody>
                  <a:tcPr/>
                </a:tc>
                <a:extLst>
                  <a:ext uri="{0D108BD9-81ED-4DB2-BD59-A6C34878D82A}">
                    <a16:rowId xmlns:a16="http://schemas.microsoft.com/office/drawing/2014/main" val="4224594177"/>
                  </a:ext>
                </a:extLst>
              </a:tr>
              <a:tr h="3384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dirty="0">
                          <a:solidFill>
                            <a:schemeClr val="tx1"/>
                          </a:solidFill>
                          <a:effectLst/>
                          <a:latin typeface="+mn-lt"/>
                        </a:rPr>
                        <a:t>zh1_01_04</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c6</a:t>
                      </a:r>
                    </a:p>
                  </a:txBody>
                  <a:tcPr/>
                </a:tc>
                <a:tc>
                  <a:txBody>
                    <a:bodyPr/>
                    <a:lstStyle/>
                    <a:p>
                      <a:pPr algn="ctr"/>
                      <a:r>
                        <a:rPr lang="it-IT" sz="1400" dirty="0"/>
                        <a:t>-20.99</a:t>
                      </a:r>
                    </a:p>
                  </a:txBody>
                  <a:tcPr/>
                </a:tc>
                <a:tc>
                  <a:txBody>
                    <a:bodyPr/>
                    <a:lstStyle/>
                    <a:p>
                      <a:pPr algn="ctr"/>
                      <a:r>
                        <a:rPr lang="it-IT" sz="1400" dirty="0"/>
                        <a:t>-4.90</a:t>
                      </a:r>
                    </a:p>
                  </a:txBody>
                  <a:tcPr/>
                </a:tc>
                <a:tc>
                  <a:txBody>
                    <a:bodyPr/>
                    <a:lstStyle/>
                    <a:p>
                      <a:pPr algn="ctr"/>
                      <a:r>
                        <a:rPr lang="it-IT" sz="1400" dirty="0"/>
                        <a:t>19.40</a:t>
                      </a:r>
                    </a:p>
                  </a:txBody>
                  <a:tcPr/>
                </a:tc>
                <a:tc>
                  <a:txBody>
                    <a:bodyPr/>
                    <a:lstStyle/>
                    <a:p>
                      <a:pPr algn="ctr"/>
                      <a:r>
                        <a:rPr lang="it-IT" sz="1400" dirty="0"/>
                        <a:t>-3.46</a:t>
                      </a:r>
                    </a:p>
                  </a:txBody>
                  <a:tcPr/>
                </a:tc>
                <a:tc>
                  <a:txBody>
                    <a:bodyPr/>
                    <a:lstStyle/>
                    <a:p>
                      <a:pPr algn="ctr"/>
                      <a:r>
                        <a:rPr lang="it-IT" sz="1400" dirty="0"/>
                        <a:t>-0.2450</a:t>
                      </a:r>
                    </a:p>
                  </a:txBody>
                  <a:tcPr/>
                </a:tc>
                <a:tc>
                  <a:txBody>
                    <a:bodyPr/>
                    <a:lstStyle/>
                    <a:p>
                      <a:pPr algn="ctr"/>
                      <a:r>
                        <a:rPr lang="it-IT" sz="1400" dirty="0"/>
                        <a:t>-0.0008</a:t>
                      </a:r>
                    </a:p>
                  </a:txBody>
                  <a:tcPr/>
                </a:tc>
                <a:extLst>
                  <a:ext uri="{0D108BD9-81ED-4DB2-BD59-A6C34878D82A}">
                    <a16:rowId xmlns:a16="http://schemas.microsoft.com/office/drawing/2014/main" val="1212607636"/>
                  </a:ext>
                </a:extLst>
              </a:tr>
              <a:tr h="3384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dirty="0">
                          <a:solidFill>
                            <a:schemeClr val="tx1"/>
                          </a:solidFill>
                          <a:effectLst/>
                          <a:latin typeface="+mn-lt"/>
                        </a:rPr>
                        <a:t>zh1_01_03</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c7</a:t>
                      </a:r>
                    </a:p>
                  </a:txBody>
                  <a:tcPr/>
                </a:tc>
                <a:tc>
                  <a:txBody>
                    <a:bodyPr/>
                    <a:lstStyle/>
                    <a:p>
                      <a:pPr algn="ctr"/>
                      <a:r>
                        <a:rPr lang="it-IT" sz="1400" dirty="0"/>
                        <a:t>-3.70</a:t>
                      </a:r>
                    </a:p>
                  </a:txBody>
                  <a:tcPr/>
                </a:tc>
                <a:tc>
                  <a:txBody>
                    <a:bodyPr/>
                    <a:lstStyle/>
                    <a:p>
                      <a:pPr algn="ctr"/>
                      <a:r>
                        <a:rPr lang="it-IT" sz="1400" dirty="0"/>
                        <a:t>17.17</a:t>
                      </a:r>
                    </a:p>
                  </a:txBody>
                  <a:tcPr/>
                </a:tc>
                <a:tc>
                  <a:txBody>
                    <a:bodyPr/>
                    <a:lstStyle/>
                    <a:p>
                      <a:pPr algn="ctr"/>
                      <a:r>
                        <a:rPr lang="it-IT" sz="1400" dirty="0"/>
                        <a:t>8.21</a:t>
                      </a:r>
                    </a:p>
                  </a:txBody>
                  <a:tcPr/>
                </a:tc>
                <a:tc>
                  <a:txBody>
                    <a:bodyPr/>
                    <a:lstStyle/>
                    <a:p>
                      <a:pPr algn="ctr"/>
                      <a:r>
                        <a:rPr lang="it-IT" sz="1400" dirty="0"/>
                        <a:t>-25.23</a:t>
                      </a:r>
                    </a:p>
                  </a:txBody>
                  <a:tcPr/>
                </a:tc>
                <a:tc>
                  <a:txBody>
                    <a:bodyPr/>
                    <a:lstStyle/>
                    <a:p>
                      <a:pPr algn="ctr"/>
                      <a:r>
                        <a:rPr lang="it-IT" sz="1400" dirty="0"/>
                        <a:t>-0.0154</a:t>
                      </a:r>
                    </a:p>
                  </a:txBody>
                  <a:tcPr/>
                </a:tc>
                <a:tc>
                  <a:txBody>
                    <a:bodyPr/>
                    <a:lstStyle/>
                    <a:p>
                      <a:pPr algn="ctr"/>
                      <a:r>
                        <a:rPr lang="it-IT" sz="1400" dirty="0"/>
                        <a:t>0.3330</a:t>
                      </a:r>
                    </a:p>
                  </a:txBody>
                  <a:tcPr/>
                </a:tc>
                <a:extLst>
                  <a:ext uri="{0D108BD9-81ED-4DB2-BD59-A6C34878D82A}">
                    <a16:rowId xmlns:a16="http://schemas.microsoft.com/office/drawing/2014/main" val="2891610483"/>
                  </a:ext>
                </a:extLst>
              </a:tr>
              <a:tr h="3384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it-IT" sz="1400" i="1" dirty="0">
                          <a:solidFill>
                            <a:schemeClr val="tx1"/>
                          </a:solidFill>
                          <a:effectLst/>
                          <a:latin typeface="+mn-lt"/>
                        </a:rPr>
                        <a:t>zh1_02_01</a:t>
                      </a:r>
                      <a:endParaRPr lang="it-IT" sz="1400" dirty="0">
                        <a:solidFill>
                          <a:schemeClr val="tx1"/>
                        </a:solidFill>
                        <a:effectLst/>
                        <a:latin typeface="+mn-lt"/>
                      </a:endParaRPr>
                    </a:p>
                  </a:txBody>
                  <a:tcPr/>
                </a:tc>
                <a:tc>
                  <a:txBody>
                    <a:bodyPr/>
                    <a:lstStyle/>
                    <a:p>
                      <a:pPr algn="ctr"/>
                      <a:r>
                        <a:rPr lang="it-IT" sz="1400" dirty="0">
                          <a:solidFill>
                            <a:schemeClr val="tx1"/>
                          </a:solidFill>
                          <a:latin typeface="+mn-lt"/>
                        </a:rPr>
                        <a:t>c8</a:t>
                      </a:r>
                    </a:p>
                  </a:txBody>
                  <a:tcPr/>
                </a:tc>
                <a:tc>
                  <a:txBody>
                    <a:bodyPr/>
                    <a:lstStyle/>
                    <a:p>
                      <a:pPr algn="ctr"/>
                      <a:r>
                        <a:rPr lang="it-IT" sz="1400" dirty="0"/>
                        <a:t>8.80</a:t>
                      </a:r>
                    </a:p>
                  </a:txBody>
                  <a:tcPr/>
                </a:tc>
                <a:tc>
                  <a:txBody>
                    <a:bodyPr/>
                    <a:lstStyle/>
                    <a:p>
                      <a:pPr algn="ctr"/>
                      <a:r>
                        <a:rPr lang="it-IT" sz="1400" dirty="0"/>
                        <a:t>22.80</a:t>
                      </a:r>
                    </a:p>
                  </a:txBody>
                  <a:tcPr/>
                </a:tc>
                <a:tc>
                  <a:txBody>
                    <a:bodyPr/>
                    <a:lstStyle/>
                    <a:p>
                      <a:pPr algn="ctr"/>
                      <a:r>
                        <a:rPr lang="it-IT" sz="1400" dirty="0"/>
                        <a:t>1.46</a:t>
                      </a:r>
                    </a:p>
                  </a:txBody>
                  <a:tcPr/>
                </a:tc>
                <a:tc>
                  <a:txBody>
                    <a:bodyPr/>
                    <a:lstStyle/>
                    <a:p>
                      <a:pPr algn="ctr"/>
                      <a:r>
                        <a:rPr lang="it-IT" sz="1400" dirty="0"/>
                        <a:t>-77.23</a:t>
                      </a:r>
                    </a:p>
                  </a:txBody>
                  <a:tcPr/>
                </a:tc>
                <a:tc>
                  <a:txBody>
                    <a:bodyPr/>
                    <a:lstStyle/>
                    <a:p>
                      <a:pPr algn="ctr"/>
                      <a:r>
                        <a:rPr lang="it-IT" sz="1400" dirty="0"/>
                        <a:t>-0.0405</a:t>
                      </a:r>
                    </a:p>
                  </a:txBody>
                  <a:tcPr/>
                </a:tc>
                <a:tc>
                  <a:txBody>
                    <a:bodyPr/>
                    <a:lstStyle/>
                    <a:p>
                      <a:pPr algn="ctr"/>
                      <a:r>
                        <a:rPr lang="it-IT" sz="1400" dirty="0"/>
                        <a:t>0.2782</a:t>
                      </a:r>
                    </a:p>
                  </a:txBody>
                  <a:tcPr/>
                </a:tc>
                <a:extLst>
                  <a:ext uri="{0D108BD9-81ED-4DB2-BD59-A6C34878D82A}">
                    <a16:rowId xmlns:a16="http://schemas.microsoft.com/office/drawing/2014/main" val="4270290623"/>
                  </a:ext>
                </a:extLst>
              </a:tr>
            </a:tbl>
          </a:graphicData>
        </a:graphic>
      </p:graphicFrame>
      <p:graphicFrame>
        <p:nvGraphicFramePr>
          <p:cNvPr id="6" name="Tabella 5">
            <a:extLst>
              <a:ext uri="{FF2B5EF4-FFF2-40B4-BE49-F238E27FC236}">
                <a16:creationId xmlns:a16="http://schemas.microsoft.com/office/drawing/2014/main" id="{F55E6191-DFB1-DA6D-7427-AE655531AD3A}"/>
              </a:ext>
            </a:extLst>
          </p:cNvPr>
          <p:cNvGraphicFramePr>
            <a:graphicFrameLocks noGrp="1"/>
          </p:cNvGraphicFramePr>
          <p:nvPr>
            <p:extLst>
              <p:ext uri="{D42A27DB-BD31-4B8C-83A1-F6EECF244321}">
                <p14:modId xmlns:p14="http://schemas.microsoft.com/office/powerpoint/2010/main" val="1932324324"/>
              </p:ext>
            </p:extLst>
          </p:nvPr>
        </p:nvGraphicFramePr>
        <p:xfrm>
          <a:off x="516097" y="5427996"/>
          <a:ext cx="5472952" cy="670840"/>
        </p:xfrm>
        <a:graphic>
          <a:graphicData uri="http://schemas.openxmlformats.org/drawingml/2006/table">
            <a:tbl>
              <a:tblPr firstRow="1" bandRow="1">
                <a:tableStyleId>{5C22544A-7EE6-4342-B048-85BDC9FD1C3A}</a:tableStyleId>
              </a:tblPr>
              <a:tblGrid>
                <a:gridCol w="931432">
                  <a:extLst>
                    <a:ext uri="{9D8B030D-6E8A-4147-A177-3AD203B41FA5}">
                      <a16:colId xmlns:a16="http://schemas.microsoft.com/office/drawing/2014/main" val="87444673"/>
                    </a:ext>
                  </a:extLst>
                </a:gridCol>
                <a:gridCol w="762000">
                  <a:extLst>
                    <a:ext uri="{9D8B030D-6E8A-4147-A177-3AD203B41FA5}">
                      <a16:colId xmlns:a16="http://schemas.microsoft.com/office/drawing/2014/main" val="2283952525"/>
                    </a:ext>
                  </a:extLst>
                </a:gridCol>
                <a:gridCol w="863600">
                  <a:extLst>
                    <a:ext uri="{9D8B030D-6E8A-4147-A177-3AD203B41FA5}">
                      <a16:colId xmlns:a16="http://schemas.microsoft.com/office/drawing/2014/main" val="2728922838"/>
                    </a:ext>
                  </a:extLst>
                </a:gridCol>
                <a:gridCol w="731520">
                  <a:extLst>
                    <a:ext uri="{9D8B030D-6E8A-4147-A177-3AD203B41FA5}">
                      <a16:colId xmlns:a16="http://schemas.microsoft.com/office/drawing/2014/main" val="4230650793"/>
                    </a:ext>
                  </a:extLst>
                </a:gridCol>
                <a:gridCol w="1137920">
                  <a:extLst>
                    <a:ext uri="{9D8B030D-6E8A-4147-A177-3AD203B41FA5}">
                      <a16:colId xmlns:a16="http://schemas.microsoft.com/office/drawing/2014/main" val="1057302898"/>
                    </a:ext>
                  </a:extLst>
                </a:gridCol>
                <a:gridCol w="1046480">
                  <a:extLst>
                    <a:ext uri="{9D8B030D-6E8A-4147-A177-3AD203B41FA5}">
                      <a16:colId xmlns:a16="http://schemas.microsoft.com/office/drawing/2014/main" val="2841289455"/>
                    </a:ext>
                  </a:extLst>
                </a:gridCol>
              </a:tblGrid>
              <a:tr h="343722">
                <a:tc>
                  <a:txBody>
                    <a:bodyPr/>
                    <a:lstStyle/>
                    <a:p>
                      <a:pPr algn="ctr"/>
                      <a:r>
                        <a:rPr lang="it-IT" sz="1400" dirty="0"/>
                        <a:t>mae_tx</a:t>
                      </a:r>
                    </a:p>
                  </a:txBody>
                  <a:tcPr/>
                </a:tc>
                <a:tc>
                  <a:txBody>
                    <a:bodyPr/>
                    <a:lstStyle/>
                    <a:p>
                      <a:pPr algn="ctr"/>
                      <a:r>
                        <a:rPr lang="it-IT" sz="1400" dirty="0"/>
                        <a:t>std_tx</a:t>
                      </a:r>
                    </a:p>
                  </a:txBody>
                  <a:tcPr/>
                </a:tc>
                <a:tc>
                  <a:txBody>
                    <a:bodyPr/>
                    <a:lstStyle/>
                    <a:p>
                      <a:pPr algn="ctr"/>
                      <a:r>
                        <a:rPr lang="it-IT" sz="1400" dirty="0"/>
                        <a:t>mae_ty</a:t>
                      </a:r>
                    </a:p>
                  </a:txBody>
                  <a:tcPr/>
                </a:tc>
                <a:tc>
                  <a:txBody>
                    <a:bodyPr/>
                    <a:lstStyle/>
                    <a:p>
                      <a:pPr algn="ctr"/>
                      <a:r>
                        <a:rPr lang="it-IT" sz="1400" dirty="0"/>
                        <a:t>std_ty</a:t>
                      </a:r>
                    </a:p>
                  </a:txBody>
                  <a:tcPr/>
                </a:tc>
                <a:tc>
                  <a:txBody>
                    <a:bodyPr/>
                    <a:lstStyle/>
                    <a:p>
                      <a:pPr algn="ctr"/>
                      <a:r>
                        <a:rPr lang="it-IT" sz="1400" dirty="0"/>
                        <a:t>mae_theta</a:t>
                      </a:r>
                    </a:p>
                  </a:txBody>
                  <a:tcPr/>
                </a:tc>
                <a:tc>
                  <a:txBody>
                    <a:bodyPr/>
                    <a:lstStyle/>
                    <a:p>
                      <a:pPr algn="ctr"/>
                      <a:r>
                        <a:rPr lang="it-IT" sz="1400" dirty="0"/>
                        <a:t>std_theta</a:t>
                      </a:r>
                    </a:p>
                  </a:txBody>
                  <a:tcPr/>
                </a:tc>
                <a:extLst>
                  <a:ext uri="{0D108BD9-81ED-4DB2-BD59-A6C34878D82A}">
                    <a16:rowId xmlns:a16="http://schemas.microsoft.com/office/drawing/2014/main" val="2492567403"/>
                  </a:ext>
                </a:extLst>
              </a:tr>
              <a:tr h="327118">
                <a:tc>
                  <a:txBody>
                    <a:bodyPr/>
                    <a:lstStyle/>
                    <a:p>
                      <a:pPr algn="ctr"/>
                      <a:r>
                        <a:rPr lang="it-IT" sz="1400" dirty="0"/>
                        <a:t>10.80</a:t>
                      </a:r>
                    </a:p>
                  </a:txBody>
                  <a:tcPr/>
                </a:tc>
                <a:tc>
                  <a:txBody>
                    <a:bodyPr/>
                    <a:lstStyle/>
                    <a:p>
                      <a:pPr algn="ctr"/>
                      <a:r>
                        <a:rPr lang="it-IT" sz="1400" dirty="0"/>
                        <a:t>13.86</a:t>
                      </a:r>
                    </a:p>
                  </a:txBody>
                  <a:tcPr/>
                </a:tc>
                <a:tc>
                  <a:txBody>
                    <a:bodyPr/>
                    <a:lstStyle/>
                    <a:p>
                      <a:pPr algn="ctr"/>
                      <a:r>
                        <a:rPr lang="it-IT" sz="1400" dirty="0"/>
                        <a:t>17.93</a:t>
                      </a:r>
                    </a:p>
                  </a:txBody>
                  <a:tcPr/>
                </a:tc>
                <a:tc>
                  <a:txBody>
                    <a:bodyPr/>
                    <a:lstStyle/>
                    <a:p>
                      <a:pPr algn="ctr"/>
                      <a:r>
                        <a:rPr lang="it-IT" sz="1400" dirty="0"/>
                        <a:t>27.36</a:t>
                      </a:r>
                    </a:p>
                  </a:txBody>
                  <a:tcPr/>
                </a:tc>
                <a:tc>
                  <a:txBody>
                    <a:bodyPr/>
                    <a:lstStyle/>
                    <a:p>
                      <a:pPr algn="ctr"/>
                      <a:r>
                        <a:rPr lang="it-IT" sz="1400" dirty="0"/>
                        <a:t>0.0905</a:t>
                      </a:r>
                    </a:p>
                  </a:txBody>
                  <a:tcPr/>
                </a:tc>
                <a:tc>
                  <a:txBody>
                    <a:bodyPr/>
                    <a:lstStyle/>
                    <a:p>
                      <a:pPr algn="ctr"/>
                      <a:r>
                        <a:rPr lang="it-IT" sz="1400" dirty="0"/>
                        <a:t>0.1386</a:t>
                      </a:r>
                    </a:p>
                  </a:txBody>
                  <a:tcPr/>
                </a:tc>
                <a:extLst>
                  <a:ext uri="{0D108BD9-81ED-4DB2-BD59-A6C34878D82A}">
                    <a16:rowId xmlns:a16="http://schemas.microsoft.com/office/drawing/2014/main" val="4270290623"/>
                  </a:ext>
                </a:extLst>
              </a:tr>
            </a:tbl>
          </a:graphicData>
        </a:graphic>
      </p:graphicFrame>
      <p:sp>
        <p:nvSpPr>
          <p:cNvPr id="8" name="CasellaDiTesto 7">
            <a:extLst>
              <a:ext uri="{FF2B5EF4-FFF2-40B4-BE49-F238E27FC236}">
                <a16:creationId xmlns:a16="http://schemas.microsoft.com/office/drawing/2014/main" id="{58C93F4C-FC5E-5D18-DC89-5FC98DC09C89}"/>
              </a:ext>
            </a:extLst>
          </p:cNvPr>
          <p:cNvSpPr txBox="1"/>
          <p:nvPr/>
        </p:nvSpPr>
        <p:spPr>
          <a:xfrm>
            <a:off x="0" y="1099193"/>
            <a:ext cx="6381132" cy="394532"/>
          </a:xfrm>
          <a:prstGeom prst="rect">
            <a:avLst/>
          </a:prstGeom>
          <a:noFill/>
        </p:spPr>
        <p:txBody>
          <a:bodyPr wrap="square" rtlCol="0">
            <a:spAutoFit/>
          </a:bodyPr>
          <a:lstStyle/>
          <a:p>
            <a:pPr>
              <a:lnSpc>
                <a:spcPct val="107000"/>
              </a:lnSpc>
              <a:spcAft>
                <a:spcPts val="800"/>
              </a:spcAft>
            </a:pPr>
            <a:r>
              <a:rPr lang="it-IT" sz="1900" kern="100" noProof="0" dirty="0">
                <a:cs typeface="Arial" panose="020B0604020202020204" pitchFamily="34" charset="0"/>
              </a:rPr>
              <a:t>L’unit</a:t>
            </a:r>
            <a:r>
              <a:rPr lang="it-IT" sz="1900" kern="100" dirty="0">
                <a:cs typeface="Arial" panose="020B0604020202020204" pitchFamily="34" charset="0"/>
              </a:rPr>
              <a:t>à di misura è pixel per tx e ty, mentre radianti per theta.</a:t>
            </a:r>
            <a:endParaRPr lang="it-IT" sz="1900" kern="100" noProof="0" dirty="0">
              <a:cs typeface="Arial" panose="020B0604020202020204" pitchFamily="34" charset="0"/>
            </a:endParaRPr>
          </a:p>
        </p:txBody>
      </p:sp>
      <p:sp>
        <p:nvSpPr>
          <p:cNvPr id="5" name="AutoShape 20">
            <a:extLst>
              <a:ext uri="{FF2B5EF4-FFF2-40B4-BE49-F238E27FC236}">
                <a16:creationId xmlns:a16="http://schemas.microsoft.com/office/drawing/2014/main" id="{896F7DE4-C7BC-0E97-0E20-A7172ACAB5B7}"/>
              </a:ext>
            </a:extLst>
          </p:cNvPr>
          <p:cNvSpPr/>
          <p:nvPr/>
        </p:nvSpPr>
        <p:spPr>
          <a:xfrm flipV="1">
            <a:off x="6522557" y="1390572"/>
            <a:ext cx="1" cy="4557038"/>
          </a:xfrm>
          <a:prstGeom prst="line">
            <a:avLst/>
          </a:prstGeom>
          <a:ln/>
        </p:spPr>
        <p:style>
          <a:lnRef idx="2">
            <a:schemeClr val="accent1"/>
          </a:lnRef>
          <a:fillRef idx="0">
            <a:schemeClr val="accent1"/>
          </a:fillRef>
          <a:effectRef idx="1">
            <a:schemeClr val="accent1"/>
          </a:effectRef>
          <a:fontRef idx="minor">
            <a:schemeClr val="tx1"/>
          </a:fontRef>
        </p:style>
        <p:txBody>
          <a:bodyPr lIns="45719" rIns="45719"/>
          <a:lstStyle/>
          <a:p>
            <a:pPr>
              <a:lnSpc>
                <a:spcPct val="100000"/>
              </a:lnSpc>
              <a:defRPr sz="1800">
                <a:solidFill>
                  <a:srgbClr val="000000"/>
                </a:solidFill>
                <a:latin typeface="+mn-lt"/>
                <a:ea typeface="+mn-ea"/>
                <a:cs typeface="+mn-cs"/>
                <a:sym typeface="Calibri"/>
              </a:defRPr>
            </a:pPr>
            <a:endParaRPr/>
          </a:p>
        </p:txBody>
      </p:sp>
      <p:sp>
        <p:nvSpPr>
          <p:cNvPr id="13" name="CasellaDiTesto 12">
            <a:extLst>
              <a:ext uri="{FF2B5EF4-FFF2-40B4-BE49-F238E27FC236}">
                <a16:creationId xmlns:a16="http://schemas.microsoft.com/office/drawing/2014/main" id="{658148F9-8B89-4E9D-DA2F-03F087B2763A}"/>
              </a:ext>
            </a:extLst>
          </p:cNvPr>
          <p:cNvSpPr txBox="1"/>
          <p:nvPr/>
        </p:nvSpPr>
        <p:spPr>
          <a:xfrm>
            <a:off x="8047491" y="3332298"/>
            <a:ext cx="2607933" cy="315023"/>
          </a:xfrm>
          <a:prstGeom prst="rect">
            <a:avLst/>
          </a:prstGeom>
          <a:noFill/>
        </p:spPr>
        <p:txBody>
          <a:bodyPr wrap="square" rtlCol="0">
            <a:spAutoFit/>
          </a:bodyPr>
          <a:lstStyle/>
          <a:p>
            <a:pPr>
              <a:lnSpc>
                <a:spcPct val="107000"/>
              </a:lnSpc>
              <a:spcAft>
                <a:spcPts val="800"/>
              </a:spcAft>
            </a:pPr>
            <a:r>
              <a:rPr lang="it-IT" sz="1400" kern="100" dirty="0">
                <a:cs typeface="Arial" panose="020B0604020202020204" pitchFamily="34" charset="0"/>
              </a:rPr>
              <a:t>Risultato migliore: coppia c1</a:t>
            </a:r>
            <a:endParaRPr lang="it-IT" sz="1400" kern="100" noProof="0" dirty="0">
              <a:cs typeface="Arial" panose="020B0604020202020204" pitchFamily="34" charset="0"/>
            </a:endParaRPr>
          </a:p>
        </p:txBody>
      </p:sp>
      <p:sp>
        <p:nvSpPr>
          <p:cNvPr id="18" name="CasellaDiTesto 17">
            <a:extLst>
              <a:ext uri="{FF2B5EF4-FFF2-40B4-BE49-F238E27FC236}">
                <a16:creationId xmlns:a16="http://schemas.microsoft.com/office/drawing/2014/main" id="{B8CE94F2-D613-3E4B-D121-529E54FC989F}"/>
              </a:ext>
            </a:extLst>
          </p:cNvPr>
          <p:cNvSpPr txBox="1"/>
          <p:nvPr/>
        </p:nvSpPr>
        <p:spPr>
          <a:xfrm>
            <a:off x="8113530" y="6501031"/>
            <a:ext cx="2475854" cy="315023"/>
          </a:xfrm>
          <a:prstGeom prst="rect">
            <a:avLst/>
          </a:prstGeom>
          <a:noFill/>
        </p:spPr>
        <p:txBody>
          <a:bodyPr wrap="square" rtlCol="0">
            <a:spAutoFit/>
          </a:bodyPr>
          <a:lstStyle/>
          <a:p>
            <a:pPr>
              <a:lnSpc>
                <a:spcPct val="107000"/>
              </a:lnSpc>
              <a:spcAft>
                <a:spcPts val="800"/>
              </a:spcAft>
            </a:pPr>
            <a:r>
              <a:rPr lang="it-IT" sz="1400" kern="100" dirty="0">
                <a:cs typeface="Arial" panose="020B0604020202020204" pitchFamily="34" charset="0"/>
              </a:rPr>
              <a:t>Risultato peggiore: coppia c8</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38036248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E5102-93D1-AA88-356F-49249166A3E1}"/>
            </a:ext>
          </a:extLst>
        </p:cNvPr>
        <p:cNvGrpSpPr/>
        <p:nvPr/>
      </p:nvGrpSpPr>
      <p:grpSpPr>
        <a:xfrm>
          <a:off x="0" y="0"/>
          <a:ext cx="0" cy="0"/>
          <a:chOff x="0" y="0"/>
          <a:chExt cx="0" cy="0"/>
        </a:xfrm>
      </p:grpSpPr>
      <p:sp>
        <p:nvSpPr>
          <p:cNvPr id="7" name="TextBox 2">
            <a:extLst>
              <a:ext uri="{FF2B5EF4-FFF2-40B4-BE49-F238E27FC236}">
                <a16:creationId xmlns:a16="http://schemas.microsoft.com/office/drawing/2014/main" id="{05E78EAE-F7EA-9111-4A3B-232AFC3F712A}"/>
              </a:ext>
            </a:extLst>
          </p:cNvPr>
          <p:cNvSpPr txBox="1"/>
          <p:nvPr/>
        </p:nvSpPr>
        <p:spPr>
          <a:xfrm>
            <a:off x="389370" y="521878"/>
            <a:ext cx="5799674" cy="57894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4067" dirty="0"/>
              <a:t>Bibliografia</a:t>
            </a:r>
            <a:endParaRPr lang="it-IT" sz="4067" noProof="0" dirty="0"/>
          </a:p>
        </p:txBody>
      </p:sp>
      <p:sp>
        <p:nvSpPr>
          <p:cNvPr id="5" name="CasellaDiTesto 4">
            <a:extLst>
              <a:ext uri="{FF2B5EF4-FFF2-40B4-BE49-F238E27FC236}">
                <a16:creationId xmlns:a16="http://schemas.microsoft.com/office/drawing/2014/main" id="{C8B22340-1A62-20F7-3383-0989CEFED212}"/>
              </a:ext>
            </a:extLst>
          </p:cNvPr>
          <p:cNvSpPr txBox="1"/>
          <p:nvPr/>
        </p:nvSpPr>
        <p:spPr>
          <a:xfrm>
            <a:off x="370317" y="1351500"/>
            <a:ext cx="11713527" cy="3139321"/>
          </a:xfrm>
          <a:prstGeom prst="rect">
            <a:avLst/>
          </a:prstGeom>
          <a:noFill/>
        </p:spPr>
        <p:txBody>
          <a:bodyPr wrap="square" rtlCol="0">
            <a:spAutoFit/>
          </a:bodyPr>
          <a:lstStyle/>
          <a:p>
            <a:r>
              <a:rPr lang="en-US" dirty="0">
                <a:hlinkClick r:id="rId2"/>
              </a:rPr>
              <a:t>[1] CHAPTER 8-Image Registration, J. Michael Fitzpatrick, Derek L. G. Hill, Calvin R. Maurer, Jr.</a:t>
            </a:r>
            <a:endParaRPr lang="en-US" dirty="0"/>
          </a:p>
          <a:p>
            <a:endParaRPr lang="en-US" dirty="0"/>
          </a:p>
          <a:p>
            <a:r>
              <a:rPr lang="en-US" dirty="0">
                <a:hlinkClick r:id="rId3"/>
              </a:rPr>
              <a:t>[2] Voxel Similarity Measures for 3D Serial MR Brain</a:t>
            </a:r>
            <a:endParaRPr lang="en-US" dirty="0"/>
          </a:p>
          <a:p>
            <a:endParaRPr lang="en-US" dirty="0"/>
          </a:p>
          <a:p>
            <a:r>
              <a:rPr lang="en-US" dirty="0">
                <a:hlinkClick r:id="rId4"/>
              </a:rPr>
              <a:t>[3] Robust Image Registration Based on Mutual Information</a:t>
            </a:r>
            <a:endParaRPr lang="en-US" dirty="0"/>
          </a:p>
          <a:p>
            <a:endParaRPr lang="it-IT" dirty="0"/>
          </a:p>
          <a:p>
            <a:r>
              <a:rPr lang="en-US" dirty="0">
                <a:hlinkClick r:id="rId5"/>
              </a:rPr>
              <a:t>[4] Comparative evaluation of multiresolution optimization strategies for multimodality image registration by maximization of mutual Information, Frederik Maes</a:t>
            </a:r>
            <a:endParaRPr lang="en-US" dirty="0"/>
          </a:p>
          <a:p>
            <a:endParaRPr lang="en-US" dirty="0"/>
          </a:p>
          <a:p>
            <a:r>
              <a:rPr lang="en-US" dirty="0">
                <a:hlinkClick r:id="rId6"/>
              </a:rPr>
              <a:t>[5] Implementing the Nelder-Mead simplex algorithm with adaptive parameters, Fuchang Gao, Lixing Han</a:t>
            </a:r>
            <a:endParaRPr lang="it-IT" dirty="0"/>
          </a:p>
          <a:p>
            <a:endParaRPr lang="en-US" dirty="0"/>
          </a:p>
        </p:txBody>
      </p:sp>
      <p:sp>
        <p:nvSpPr>
          <p:cNvPr id="2" name="TextBox 2">
            <a:extLst>
              <a:ext uri="{FF2B5EF4-FFF2-40B4-BE49-F238E27FC236}">
                <a16:creationId xmlns:a16="http://schemas.microsoft.com/office/drawing/2014/main" id="{0499EC8C-003D-789D-7062-33F08AA52A44}"/>
              </a:ext>
            </a:extLst>
          </p:cNvPr>
          <p:cNvSpPr txBox="1"/>
          <p:nvPr/>
        </p:nvSpPr>
        <p:spPr>
          <a:xfrm>
            <a:off x="389370" y="4542216"/>
            <a:ext cx="9160501" cy="39857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0" tIns="0" rIns="0" bIns="0">
            <a:spAutoFit/>
          </a:bodyPr>
          <a:lstStyle>
            <a:lvl1pPr>
              <a:lnSpc>
                <a:spcPct val="90000"/>
              </a:lnSpc>
              <a:defRPr sz="6100" b="1">
                <a:solidFill>
                  <a:srgbClr val="000000"/>
                </a:solidFill>
                <a:latin typeface="Nunito-Bold"/>
                <a:ea typeface="Nunito-Bold"/>
                <a:cs typeface="Nunito-Bold"/>
                <a:sym typeface="Nunito-Bold"/>
              </a:defRPr>
            </a:lvl1pPr>
          </a:lstStyle>
          <a:p>
            <a:r>
              <a:rPr lang="it-IT" sz="2800" b="0" noProof="0" dirty="0"/>
              <a:t>Disclaimer</a:t>
            </a:r>
          </a:p>
        </p:txBody>
      </p:sp>
      <p:sp>
        <p:nvSpPr>
          <p:cNvPr id="4" name="CasellaDiTesto 3">
            <a:extLst>
              <a:ext uri="{FF2B5EF4-FFF2-40B4-BE49-F238E27FC236}">
                <a16:creationId xmlns:a16="http://schemas.microsoft.com/office/drawing/2014/main" id="{9395080B-1B48-37E8-412B-75BA2B15EDAE}"/>
              </a:ext>
            </a:extLst>
          </p:cNvPr>
          <p:cNvSpPr txBox="1"/>
          <p:nvPr/>
        </p:nvSpPr>
        <p:spPr>
          <a:xfrm>
            <a:off x="370317" y="4992182"/>
            <a:ext cx="11429004" cy="1754326"/>
          </a:xfrm>
          <a:prstGeom prst="rect">
            <a:avLst/>
          </a:prstGeom>
          <a:noFill/>
        </p:spPr>
        <p:txBody>
          <a:bodyPr wrap="square">
            <a:spAutoFit/>
          </a:bodyPr>
          <a:lstStyle/>
          <a:p>
            <a:r>
              <a:rPr lang="en-US" dirty="0"/>
              <a:t>Modelli generativi come Gemini e Claude sono stati utilizzati per:</a:t>
            </a:r>
          </a:p>
          <a:p>
            <a:pPr marL="742950" lvl="1" indent="-285750">
              <a:buFont typeface="Wingdings" panose="05000000000000000000" pitchFamily="2" charset="2"/>
              <a:buChar char="§"/>
            </a:pPr>
            <a:r>
              <a:rPr lang="en-US" dirty="0"/>
              <a:t>Realizzazione delle parti di codice che coinvolge la libreria matplotlib</a:t>
            </a:r>
          </a:p>
          <a:p>
            <a:pPr marL="742950" lvl="1" indent="-285750">
              <a:buFont typeface="Wingdings" panose="05000000000000000000" pitchFamily="2" charset="2"/>
              <a:buChar char="§"/>
            </a:pPr>
            <a:r>
              <a:rPr lang="en-US" dirty="0"/>
              <a:t>Interagire velocemente con la documentazione delle librerie</a:t>
            </a:r>
          </a:p>
          <a:p>
            <a:pPr marL="742950" lvl="1" indent="-285750">
              <a:buFont typeface="Wingdings" panose="05000000000000000000" pitchFamily="2" charset="2"/>
              <a:buChar char="§"/>
            </a:pPr>
            <a:endParaRPr lang="en-US" dirty="0"/>
          </a:p>
          <a:p>
            <a:r>
              <a:rPr lang="en-US" dirty="0"/>
              <a:t>Il motore di ricerca Perplexity è stato utilizzato per reperire ed analizzare paper scientifici, è stato utile soprattutto per comprendere come materializzare alcuni spunti scientifici in codice Python.</a:t>
            </a:r>
          </a:p>
        </p:txBody>
      </p:sp>
    </p:spTree>
    <p:extLst>
      <p:ext uri="{BB962C8B-B14F-4D97-AF65-F5344CB8AC3E}">
        <p14:creationId xmlns:p14="http://schemas.microsoft.com/office/powerpoint/2010/main" val="23622712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sellaDiTesto 3">
            <a:extLst>
              <a:ext uri="{FF2B5EF4-FFF2-40B4-BE49-F238E27FC236}">
                <a16:creationId xmlns:a16="http://schemas.microsoft.com/office/drawing/2014/main" id="{C13AAC01-BE64-5943-5545-229F06A13087}"/>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c1, Preprocessing: pca-gauss-5, Metodo: Nelder-Mead, Bins: 64</a:t>
            </a:r>
            <a:endParaRPr lang="it-IT" sz="1400" kern="100" noProof="0" dirty="0">
              <a:cs typeface="Arial" panose="020B0604020202020204" pitchFamily="34" charset="0"/>
            </a:endParaRPr>
          </a:p>
        </p:txBody>
      </p:sp>
      <p:pic>
        <p:nvPicPr>
          <p:cNvPr id="21" name="Immagine 20">
            <a:extLst>
              <a:ext uri="{FF2B5EF4-FFF2-40B4-BE49-F238E27FC236}">
                <a16:creationId xmlns:a16="http://schemas.microsoft.com/office/drawing/2014/main" id="{CFB427B1-76F7-7936-39C3-DE2586A60C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Tree>
    <p:extLst>
      <p:ext uri="{BB962C8B-B14F-4D97-AF65-F5344CB8AC3E}">
        <p14:creationId xmlns:p14="http://schemas.microsoft.com/office/powerpoint/2010/main" val="31427428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magine 21">
            <a:extLst>
              <a:ext uri="{FF2B5EF4-FFF2-40B4-BE49-F238E27FC236}">
                <a16:creationId xmlns:a16="http://schemas.microsoft.com/office/drawing/2014/main" id="{81C22848-A388-A01A-71B8-FA3B0C05DB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
        <p:nvSpPr>
          <p:cNvPr id="6" name="CasellaDiTesto 5">
            <a:extLst>
              <a:ext uri="{FF2B5EF4-FFF2-40B4-BE49-F238E27FC236}">
                <a16:creationId xmlns:a16="http://schemas.microsoft.com/office/drawing/2014/main" id="{727BF58A-3587-C7BC-854E-7D15FC80E67B}"/>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c2, Preprocessing: pca-gauss-5, Metodo: Nelder-Mead, Bins: 64</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20068537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89167-4229-2E06-D32B-C502EB5152CF}"/>
            </a:ext>
          </a:extLst>
        </p:cNvPr>
        <p:cNvGrpSpPr/>
        <p:nvPr/>
      </p:nvGrpSpPr>
      <p:grpSpPr>
        <a:xfrm>
          <a:off x="0" y="0"/>
          <a:ext cx="0" cy="0"/>
          <a:chOff x="0" y="0"/>
          <a:chExt cx="0" cy="0"/>
        </a:xfrm>
      </p:grpSpPr>
      <p:pic>
        <p:nvPicPr>
          <p:cNvPr id="23" name="Immagine 22">
            <a:extLst>
              <a:ext uri="{FF2B5EF4-FFF2-40B4-BE49-F238E27FC236}">
                <a16:creationId xmlns:a16="http://schemas.microsoft.com/office/drawing/2014/main" id="{B4FE5543-8105-7D6F-FCE0-5E44E7C926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
        <p:nvSpPr>
          <p:cNvPr id="5" name="CasellaDiTesto 4">
            <a:extLst>
              <a:ext uri="{FF2B5EF4-FFF2-40B4-BE49-F238E27FC236}">
                <a16:creationId xmlns:a16="http://schemas.microsoft.com/office/drawing/2014/main" id="{74A49F97-3646-BB35-7D84-775FF0947C8B}"/>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c3, Preprocessing: pca-gauss-5, Metodo: Nelder-Mead, Bins: 64</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6020765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ACF76-656A-270E-1D58-0BE2D58926E2}"/>
            </a:ext>
          </a:extLst>
        </p:cNvPr>
        <p:cNvGrpSpPr/>
        <p:nvPr/>
      </p:nvGrpSpPr>
      <p:grpSpPr>
        <a:xfrm>
          <a:off x="0" y="0"/>
          <a:ext cx="0" cy="0"/>
          <a:chOff x="0" y="0"/>
          <a:chExt cx="0" cy="0"/>
        </a:xfrm>
      </p:grpSpPr>
      <p:pic>
        <p:nvPicPr>
          <p:cNvPr id="24" name="Immagine 23">
            <a:extLst>
              <a:ext uri="{FF2B5EF4-FFF2-40B4-BE49-F238E27FC236}">
                <a16:creationId xmlns:a16="http://schemas.microsoft.com/office/drawing/2014/main" id="{D8250545-5A16-9D8E-99D7-37CF85F874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
        <p:nvSpPr>
          <p:cNvPr id="5" name="CasellaDiTesto 4">
            <a:extLst>
              <a:ext uri="{FF2B5EF4-FFF2-40B4-BE49-F238E27FC236}">
                <a16:creationId xmlns:a16="http://schemas.microsoft.com/office/drawing/2014/main" id="{D4472C80-5D34-1105-D16D-F57CB6EC40E7}"/>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c4, Preprocessing: pca-gauss-5, Metodo: Nelder-Mead, Bins: 64</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791994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8B28-3DB5-B4CD-1F06-21B4AE90EE2C}"/>
            </a:ext>
          </a:extLst>
        </p:cNvPr>
        <p:cNvGrpSpPr/>
        <p:nvPr/>
      </p:nvGrpSpPr>
      <p:grpSpPr>
        <a:xfrm>
          <a:off x="0" y="0"/>
          <a:ext cx="0" cy="0"/>
          <a:chOff x="0" y="0"/>
          <a:chExt cx="0" cy="0"/>
        </a:xfrm>
      </p:grpSpPr>
      <p:pic>
        <p:nvPicPr>
          <p:cNvPr id="25" name="Immagine 24">
            <a:extLst>
              <a:ext uri="{FF2B5EF4-FFF2-40B4-BE49-F238E27FC236}">
                <a16:creationId xmlns:a16="http://schemas.microsoft.com/office/drawing/2014/main" id="{16E76C9D-898E-5375-1B61-35A6AB395A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
        <p:nvSpPr>
          <p:cNvPr id="5" name="CasellaDiTesto 4">
            <a:extLst>
              <a:ext uri="{FF2B5EF4-FFF2-40B4-BE49-F238E27FC236}">
                <a16:creationId xmlns:a16="http://schemas.microsoft.com/office/drawing/2014/main" id="{D38279C0-009A-D841-FF6F-404B513F4296}"/>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c5, Preprocessing: pca-gauss-5, Metodo: Nelder-Mead, Bins: 64</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7897713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F21C3-0A1F-E87C-C7D7-78FF7AEBA880}"/>
            </a:ext>
          </a:extLst>
        </p:cNvPr>
        <p:cNvGrpSpPr/>
        <p:nvPr/>
      </p:nvGrpSpPr>
      <p:grpSpPr>
        <a:xfrm>
          <a:off x="0" y="0"/>
          <a:ext cx="0" cy="0"/>
          <a:chOff x="0" y="0"/>
          <a:chExt cx="0" cy="0"/>
        </a:xfrm>
      </p:grpSpPr>
      <p:pic>
        <p:nvPicPr>
          <p:cNvPr id="26" name="Immagine 25">
            <a:extLst>
              <a:ext uri="{FF2B5EF4-FFF2-40B4-BE49-F238E27FC236}">
                <a16:creationId xmlns:a16="http://schemas.microsoft.com/office/drawing/2014/main" id="{F3CB95C5-B487-072B-499E-2E4B9A5934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
        <p:nvSpPr>
          <p:cNvPr id="5" name="CasellaDiTesto 4">
            <a:extLst>
              <a:ext uri="{FF2B5EF4-FFF2-40B4-BE49-F238E27FC236}">
                <a16:creationId xmlns:a16="http://schemas.microsoft.com/office/drawing/2014/main" id="{363A0CB2-CE4B-506C-A8BD-26D7899284A0}"/>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c6, Preprocessing: pca-gauss-5, Metodo: Nelder-Mead, Bins: 64</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1309352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06550-40AC-D0AF-7CB4-3CDAB995DA30}"/>
            </a:ext>
          </a:extLst>
        </p:cNvPr>
        <p:cNvGrpSpPr/>
        <p:nvPr/>
      </p:nvGrpSpPr>
      <p:grpSpPr>
        <a:xfrm>
          <a:off x="0" y="0"/>
          <a:ext cx="0" cy="0"/>
          <a:chOff x="0" y="0"/>
          <a:chExt cx="0" cy="0"/>
        </a:xfrm>
      </p:grpSpPr>
      <p:pic>
        <p:nvPicPr>
          <p:cNvPr id="27" name="Immagine 26">
            <a:extLst>
              <a:ext uri="{FF2B5EF4-FFF2-40B4-BE49-F238E27FC236}">
                <a16:creationId xmlns:a16="http://schemas.microsoft.com/office/drawing/2014/main" id="{52BFB623-3131-5F7B-0F8B-C7711180A9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
        <p:nvSpPr>
          <p:cNvPr id="5" name="CasellaDiTesto 4">
            <a:extLst>
              <a:ext uri="{FF2B5EF4-FFF2-40B4-BE49-F238E27FC236}">
                <a16:creationId xmlns:a16="http://schemas.microsoft.com/office/drawing/2014/main" id="{E42A4F07-1FC0-F67D-B3CB-EE69933F40CE}"/>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c7, Preprocessing: pca-gauss-5, Metodo: Nelder-Mead, Bins: 64</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400023563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3B7427-4F5D-5AB6-779A-07198BC9D9EB}"/>
            </a:ext>
          </a:extLst>
        </p:cNvPr>
        <p:cNvGrpSpPr/>
        <p:nvPr/>
      </p:nvGrpSpPr>
      <p:grpSpPr>
        <a:xfrm>
          <a:off x="0" y="0"/>
          <a:ext cx="0" cy="0"/>
          <a:chOff x="0" y="0"/>
          <a:chExt cx="0" cy="0"/>
        </a:xfrm>
      </p:grpSpPr>
      <p:pic>
        <p:nvPicPr>
          <p:cNvPr id="28" name="Immagine 27">
            <a:extLst>
              <a:ext uri="{FF2B5EF4-FFF2-40B4-BE49-F238E27FC236}">
                <a16:creationId xmlns:a16="http://schemas.microsoft.com/office/drawing/2014/main" id="{1487E84D-3ADF-E7EA-1C0A-22D48D266E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903" y="235777"/>
            <a:ext cx="12437806" cy="6218904"/>
          </a:xfrm>
          <a:prstGeom prst="rect">
            <a:avLst/>
          </a:prstGeom>
        </p:spPr>
      </p:pic>
      <p:sp>
        <p:nvSpPr>
          <p:cNvPr id="5" name="CasellaDiTesto 4">
            <a:extLst>
              <a:ext uri="{FF2B5EF4-FFF2-40B4-BE49-F238E27FC236}">
                <a16:creationId xmlns:a16="http://schemas.microsoft.com/office/drawing/2014/main" id="{ABECA694-7DE4-268B-329E-FD4A53CE88C9}"/>
              </a:ext>
            </a:extLst>
          </p:cNvPr>
          <p:cNvSpPr txBox="1"/>
          <p:nvPr/>
        </p:nvSpPr>
        <p:spPr>
          <a:xfrm>
            <a:off x="3177651" y="6454681"/>
            <a:ext cx="5836698" cy="315023"/>
          </a:xfrm>
          <a:prstGeom prst="rect">
            <a:avLst/>
          </a:prstGeom>
          <a:noFill/>
        </p:spPr>
        <p:txBody>
          <a:bodyPr wrap="square" rtlCol="0">
            <a:spAutoFit/>
          </a:bodyPr>
          <a:lstStyle/>
          <a:p>
            <a:pPr>
              <a:lnSpc>
                <a:spcPct val="107000"/>
              </a:lnSpc>
              <a:spcAft>
                <a:spcPts val="800"/>
              </a:spcAft>
            </a:pPr>
            <a:r>
              <a:rPr lang="en-US" sz="1400" kern="100" dirty="0">
                <a:cs typeface="Arial" panose="020B0604020202020204" pitchFamily="34" charset="0"/>
              </a:rPr>
              <a:t>Coppia: c8, Preprocessing: pca-gauss-5, Metodo: Nelder-Mead, Bins: 64</a:t>
            </a:r>
            <a:endParaRPr lang="it-IT" sz="1400" kern="100" noProof="0" dirty="0">
              <a:cs typeface="Arial" panose="020B0604020202020204" pitchFamily="34" charset="0"/>
            </a:endParaRPr>
          </a:p>
        </p:txBody>
      </p:sp>
    </p:spTree>
    <p:extLst>
      <p:ext uri="{BB962C8B-B14F-4D97-AF65-F5344CB8AC3E}">
        <p14:creationId xmlns:p14="http://schemas.microsoft.com/office/powerpoint/2010/main" val="3116468746"/>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7507</TotalTime>
  <Words>1953</Words>
  <Application>Microsoft Office PowerPoint</Application>
  <PresentationFormat>Widescreen</PresentationFormat>
  <Paragraphs>295</Paragraphs>
  <Slides>19</Slides>
  <Notes>0</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19</vt:i4>
      </vt:variant>
    </vt:vector>
  </HeadingPairs>
  <TitlesOfParts>
    <vt:vector size="27" baseType="lpstr">
      <vt:lpstr>Aptos</vt:lpstr>
      <vt:lpstr>Aptos Display</vt:lpstr>
      <vt:lpstr>Arial</vt:lpstr>
      <vt:lpstr>Cambria Math</vt:lpstr>
      <vt:lpstr>Courier New</vt:lpstr>
      <vt:lpstr>OCR A Extended</vt:lpstr>
      <vt:lpstr>Wingdings</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GABRIELE LO CASCIO</dc:creator>
  <cp:lastModifiedBy>GABRIELE LO CASCIO</cp:lastModifiedBy>
  <cp:revision>64</cp:revision>
  <dcterms:created xsi:type="dcterms:W3CDTF">2026-02-22T14:20:26Z</dcterms:created>
  <dcterms:modified xsi:type="dcterms:W3CDTF">2026-04-05T20:23:43Z</dcterms:modified>
</cp:coreProperties>
</file>