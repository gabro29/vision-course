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0" r:id="rId2"/>
    <p:sldId id="307" r:id="rId3"/>
    <p:sldId id="311" r:id="rId4"/>
    <p:sldId id="310" r:id="rId5"/>
    <p:sldId id="314" r:id="rId6"/>
    <p:sldId id="309" r:id="rId7"/>
    <p:sldId id="315" r:id="rId8"/>
    <p:sldId id="313" r:id="rId9"/>
    <p:sldId id="312" r:id="rId10"/>
    <p:sldId id="316" r:id="rId11"/>
    <p:sldId id="317" r:id="rId12"/>
    <p:sldId id="318" r:id="rId13"/>
    <p:sldId id="321" r:id="rId14"/>
    <p:sldId id="319" r:id="rId15"/>
    <p:sldId id="306"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Stile medio 3 - Color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41" autoAdjust="0"/>
  </p:normalViewPr>
  <p:slideViewPr>
    <p:cSldViewPr snapToGrid="0">
      <p:cViewPr varScale="1">
        <p:scale>
          <a:sx n="100" d="100"/>
          <a:sy n="100" d="100"/>
        </p:scale>
        <p:origin x="90" y="18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85E600-56B4-46C7-9B0A-9CD7422AE937}" type="datetimeFigureOut">
              <a:rPr lang="it-IT" smtClean="0"/>
              <a:t>20/06/2026</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167D42-683A-4831-AAE7-9DA66916BF79}" type="slidenum">
              <a:rPr lang="it-IT" smtClean="0"/>
              <a:t>‹N›</a:t>
            </a:fld>
            <a:endParaRPr lang="it-IT" dirty="0"/>
          </a:p>
        </p:txBody>
      </p:sp>
    </p:spTree>
    <p:extLst>
      <p:ext uri="{BB962C8B-B14F-4D97-AF65-F5344CB8AC3E}">
        <p14:creationId xmlns:p14="http://schemas.microsoft.com/office/powerpoint/2010/main" val="2868125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8</a:t>
            </a:fld>
            <a:endParaRPr lang="it-IT" dirty="0"/>
          </a:p>
        </p:txBody>
      </p:sp>
    </p:spTree>
    <p:extLst>
      <p:ext uri="{BB962C8B-B14F-4D97-AF65-F5344CB8AC3E}">
        <p14:creationId xmlns:p14="http://schemas.microsoft.com/office/powerpoint/2010/main" val="1505314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dirty="0"/>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9</a:t>
            </a:fld>
            <a:endParaRPr lang="it-IT" dirty="0"/>
          </a:p>
        </p:txBody>
      </p:sp>
    </p:spTree>
    <p:extLst>
      <p:ext uri="{BB962C8B-B14F-4D97-AF65-F5344CB8AC3E}">
        <p14:creationId xmlns:p14="http://schemas.microsoft.com/office/powerpoint/2010/main" val="1511672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D11B35-A78A-2BEB-A23E-647739C5D22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59E62FA-A17C-C9A6-F958-949D3F0FAB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225130B-8104-60CB-1F5E-4028868DA8B9}"/>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5" name="Segnaposto piè di pagina 4">
            <a:extLst>
              <a:ext uri="{FF2B5EF4-FFF2-40B4-BE49-F238E27FC236}">
                <a16:creationId xmlns:a16="http://schemas.microsoft.com/office/drawing/2014/main" id="{3CD4A31C-6B5A-D94C-CA47-12B710C5B2B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93D792BA-3E50-7292-5837-F659CFA432B3}"/>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690229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C701E-0598-511F-3A84-E0ADFCCCF8F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6DEBECD-76F8-016E-2581-1022EFCC62E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630E89C-FFA1-4C27-627A-14EE0DC377EF}"/>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5" name="Segnaposto piè di pagina 4">
            <a:extLst>
              <a:ext uri="{FF2B5EF4-FFF2-40B4-BE49-F238E27FC236}">
                <a16:creationId xmlns:a16="http://schemas.microsoft.com/office/drawing/2014/main" id="{A90DF1FA-5DA2-3A2A-13CD-F90A2BC65E90}"/>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F7E9A7E1-2FB2-5886-8801-518A924AAC20}"/>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339493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27CD2-2EE2-60A4-C550-CA929A04DCF6}"/>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A78A65F-684F-F953-9A15-3B0672466F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D781DE5-2C20-477C-EED3-DB6F738AFCD4}"/>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5" name="Segnaposto piè di pagina 4">
            <a:extLst>
              <a:ext uri="{FF2B5EF4-FFF2-40B4-BE49-F238E27FC236}">
                <a16:creationId xmlns:a16="http://schemas.microsoft.com/office/drawing/2014/main" id="{E79B1E29-6AAE-DB27-53D0-C99479783512}"/>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84FE696E-2429-B736-5579-AE4B37033BC7}"/>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26654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7948B4-A5CA-328A-A369-E23EB799B5A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803EF47-7AB4-122F-45FF-C94A3F535DBE}"/>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59D5032-6393-A6E1-4F10-F3299A8B8E6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1A5E8AE-14AF-34DA-7EDD-DA42932468AA}"/>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6" name="Segnaposto piè di pagina 5">
            <a:extLst>
              <a:ext uri="{FF2B5EF4-FFF2-40B4-BE49-F238E27FC236}">
                <a16:creationId xmlns:a16="http://schemas.microsoft.com/office/drawing/2014/main" id="{58EBEE54-4212-68E0-6672-8C54FB2D8751}"/>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3A989421-CC3F-E270-6FD7-41FCB4F878F4}"/>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38598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D364E5-8A4C-7E88-7D21-6747F9652AC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BDE33D6-4ED1-1112-01C5-C2F7573750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1CA9B67-B50B-5D96-CBE7-809134D53DE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D7932F6-029A-F5B5-1FDE-B716F8D0F0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A456D79-7883-2F74-DDED-F4388A4B9FC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7D0E54A-249B-7086-C701-09D53B41E389}"/>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8" name="Segnaposto piè di pagina 7">
            <a:extLst>
              <a:ext uri="{FF2B5EF4-FFF2-40B4-BE49-F238E27FC236}">
                <a16:creationId xmlns:a16="http://schemas.microsoft.com/office/drawing/2014/main" id="{88B42CBE-D851-82CD-6BB6-29B4251656E2}"/>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F6ABBEAA-E39C-5B57-B0C2-0F105BFCAB91}"/>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950002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38793A-7FB5-D906-E071-089C4529C8C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5F74A0C-9FCC-0616-AED8-F8972C6895E5}"/>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4" name="Segnaposto piè di pagina 3">
            <a:extLst>
              <a:ext uri="{FF2B5EF4-FFF2-40B4-BE49-F238E27FC236}">
                <a16:creationId xmlns:a16="http://schemas.microsoft.com/office/drawing/2014/main" id="{44FC6F7C-F3E8-44AE-05F5-9BD592406C13}"/>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43804D9D-9012-C06F-E17E-1C3A190C2A53}"/>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69352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53193006-1514-C138-3E4F-ECC0F0301908}"/>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3" name="Segnaposto piè di pagina 2">
            <a:extLst>
              <a:ext uri="{FF2B5EF4-FFF2-40B4-BE49-F238E27FC236}">
                <a16:creationId xmlns:a16="http://schemas.microsoft.com/office/drawing/2014/main" id="{199DD1C8-0744-FE0B-018D-1D646AFDA455}"/>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894E57B6-0E03-2F31-A001-BA450197AC32}"/>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50928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3F02B0-B259-D857-A26E-5249C1E9D121}"/>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71354CB-C9E1-6B0E-C569-5ABC9A1F24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EF08262D-77AB-327B-8A41-551BF9598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9E548CA-7751-6ED7-470A-A7BD1F95833E}"/>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6" name="Segnaposto piè di pagina 5">
            <a:extLst>
              <a:ext uri="{FF2B5EF4-FFF2-40B4-BE49-F238E27FC236}">
                <a16:creationId xmlns:a16="http://schemas.microsoft.com/office/drawing/2014/main" id="{11E69CB1-54B7-FA21-929A-F7271B705B06}"/>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0B36072F-C82E-7FF0-EEC6-F852AB56CACF}"/>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1814687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D9FE02-B52E-9037-012D-1721E0E907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9E8E64B-85D3-EFA9-150B-6E51A71F35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885913B0-2CDF-6162-F43B-364AD54E7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7BFB4C2-0CA1-9082-CBA0-743E35E78555}"/>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6" name="Segnaposto piè di pagina 5">
            <a:extLst>
              <a:ext uri="{FF2B5EF4-FFF2-40B4-BE49-F238E27FC236}">
                <a16:creationId xmlns:a16="http://schemas.microsoft.com/office/drawing/2014/main" id="{6730DC3F-7FB5-9BAF-5D27-84B27068CBD7}"/>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4C60F495-A6D7-FA67-3B87-01C2E90D9F1E}"/>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69386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8359EA-B0E9-AF59-83DB-8920B978E01F}"/>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0F022ED-BE35-EFD3-1492-DD7EFDD5367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44B5508-01C4-2085-A272-479EC57FBE5B}"/>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5" name="Segnaposto piè di pagina 4">
            <a:extLst>
              <a:ext uri="{FF2B5EF4-FFF2-40B4-BE49-F238E27FC236}">
                <a16:creationId xmlns:a16="http://schemas.microsoft.com/office/drawing/2014/main" id="{1287838E-E708-72F0-38CF-2EFD50340870}"/>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A2436E11-E8A4-0F1F-AE01-0AF216599D05}"/>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1960824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D0FE4D6-FDED-6EEB-16F2-5B3C350E203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D38C437-2A09-2C4E-FB1E-4873BFCFAFE4}"/>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8620AA-B0D7-ED1C-CB6D-1B53F5E13E85}"/>
              </a:ext>
            </a:extLst>
          </p:cNvPr>
          <p:cNvSpPr>
            <a:spLocks noGrp="1"/>
          </p:cNvSpPr>
          <p:nvPr>
            <p:ph type="dt" sz="half" idx="10"/>
          </p:nvPr>
        </p:nvSpPr>
        <p:spPr/>
        <p:txBody>
          <a:bodyPr/>
          <a:lstStyle/>
          <a:p>
            <a:fld id="{76A3598E-AD3F-4717-88B8-E163AC0105A1}" type="datetimeFigureOut">
              <a:rPr lang="it-IT" smtClean="0"/>
              <a:t>20/06/2026</a:t>
            </a:fld>
            <a:endParaRPr lang="it-IT" dirty="0"/>
          </a:p>
        </p:txBody>
      </p:sp>
      <p:sp>
        <p:nvSpPr>
          <p:cNvPr id="5" name="Segnaposto piè di pagina 4">
            <a:extLst>
              <a:ext uri="{FF2B5EF4-FFF2-40B4-BE49-F238E27FC236}">
                <a16:creationId xmlns:a16="http://schemas.microsoft.com/office/drawing/2014/main" id="{0A4EBA16-598B-7500-318E-9CB9B35B4A92}"/>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727313DF-2CA2-64F4-C557-885E142A5FE9}"/>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60814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108DF02-07A0-E71C-BB68-DA1ADE259D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1AE2025-EB48-2834-1BD3-423E8BCFC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18E9286-B972-9B71-3489-BEAACA359A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3598E-AD3F-4717-88B8-E163AC0105A1}" type="datetimeFigureOut">
              <a:rPr lang="it-IT" smtClean="0"/>
              <a:t>20/06/2026</a:t>
            </a:fld>
            <a:endParaRPr lang="it-IT" dirty="0"/>
          </a:p>
        </p:txBody>
      </p:sp>
      <p:sp>
        <p:nvSpPr>
          <p:cNvPr id="5" name="Segnaposto piè di pagina 4">
            <a:extLst>
              <a:ext uri="{FF2B5EF4-FFF2-40B4-BE49-F238E27FC236}">
                <a16:creationId xmlns:a16="http://schemas.microsoft.com/office/drawing/2014/main" id="{1C33CBE1-6DC9-20D8-6945-D86E51D17A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dirty="0"/>
          </a:p>
        </p:txBody>
      </p:sp>
      <p:sp>
        <p:nvSpPr>
          <p:cNvPr id="6" name="Segnaposto numero diapositiva 5">
            <a:extLst>
              <a:ext uri="{FF2B5EF4-FFF2-40B4-BE49-F238E27FC236}">
                <a16:creationId xmlns:a16="http://schemas.microsoft.com/office/drawing/2014/main" id="{B5003053-166C-490D-E21C-A5A3039ED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ED0AF-F907-4F10-99F9-6406D94D9369}" type="slidenum">
              <a:rPr lang="it-IT" smtClean="0"/>
              <a:t>‹N›</a:t>
            </a:fld>
            <a:endParaRPr lang="it-IT" dirty="0"/>
          </a:p>
        </p:txBody>
      </p:sp>
    </p:spTree>
    <p:extLst>
      <p:ext uri="{BB962C8B-B14F-4D97-AF65-F5344CB8AC3E}">
        <p14:creationId xmlns:p14="http://schemas.microsoft.com/office/powerpoint/2010/main" val="912177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5.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7.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pdf/1409.1556" TargetMode="External"/><Relationship Id="rId2" Type="http://schemas.openxmlformats.org/officeDocument/2006/relationships/hyperlink" Target="https://proceedings.neurips.cc/paper/4824-imagenet-classification-with-deep-convolutional-neural-networks.pdf" TargetMode="External"/><Relationship Id="rId1" Type="http://schemas.openxmlformats.org/officeDocument/2006/relationships/slideLayout" Target="../slideLayouts/slideLayout7.xml"/><Relationship Id="rId6" Type="http://schemas.openxmlformats.org/officeDocument/2006/relationships/hyperlink" Target="https://x.com/ylecun/status/989610208497360896?lang=it" TargetMode="External"/><Relationship Id="rId5" Type="http://schemas.openxmlformats.org/officeDocument/2006/relationships/hyperlink" Target="https://arxiv.org/pdf/1512.03385" TargetMode="External"/><Relationship Id="rId4" Type="http://schemas.openxmlformats.org/officeDocument/2006/relationships/hyperlink" Target="https://www.tensorflow.org/tutorials/load_data/images?hl=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FCF5AC3-37E9-2C99-9F61-BA0E2C1E9C95}"/>
              </a:ext>
            </a:extLst>
          </p:cNvPr>
          <p:cNvSpPr txBox="1"/>
          <p:nvPr/>
        </p:nvSpPr>
        <p:spPr>
          <a:xfrm>
            <a:off x="49755" y="298816"/>
            <a:ext cx="12063587" cy="1123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00" dirty="0"/>
              <a:t>Assignment 3 – Computer Vision
Classification through convolutional networks</a:t>
            </a:r>
            <a:endParaRPr lang="it-IT" sz="3600" noProof="0" dirty="0"/>
          </a:p>
        </p:txBody>
      </p:sp>
      <p:sp>
        <p:nvSpPr>
          <p:cNvPr id="15" name="TextBox 2">
            <a:extLst>
              <a:ext uri="{FF2B5EF4-FFF2-40B4-BE49-F238E27FC236}">
                <a16:creationId xmlns:a16="http://schemas.microsoft.com/office/drawing/2014/main" id="{1A59FA3B-8019-477A-2C23-375BAE4347EA}"/>
              </a:ext>
            </a:extLst>
          </p:cNvPr>
          <p:cNvSpPr txBox="1"/>
          <p:nvPr/>
        </p:nvSpPr>
        <p:spPr>
          <a:xfrm>
            <a:off x="8769193" y="6428227"/>
            <a:ext cx="302872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pPr algn="ctr"/>
            <a:r>
              <a:rPr lang="it-IT" sz="2000" noProof="0" dirty="0">
                <a:latin typeface="OCR A Extended" panose="02010509020102010303" pitchFamily="50" charset="0"/>
              </a:rPr>
              <a:t>Gabriele Lo Cascio</a:t>
            </a:r>
          </a:p>
        </p:txBody>
      </p:sp>
      <p:sp>
        <p:nvSpPr>
          <p:cNvPr id="5" name="CasellaDiTesto 4">
            <a:extLst>
              <a:ext uri="{FF2B5EF4-FFF2-40B4-BE49-F238E27FC236}">
                <a16:creationId xmlns:a16="http://schemas.microsoft.com/office/drawing/2014/main" id="{10525F7A-4DC6-79A8-6E00-A0ADB51B841E}"/>
              </a:ext>
            </a:extLst>
          </p:cNvPr>
          <p:cNvSpPr txBox="1"/>
          <p:nvPr/>
        </p:nvSpPr>
        <p:spPr>
          <a:xfrm>
            <a:off x="213371" y="1963754"/>
            <a:ext cx="11757800" cy="2966068"/>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dirty="0"/>
              <a:t>To develop a complete system for the classification of aerial images acquired by RGB cameras.
The goal is to build a residual convolutional network with some minimum specifications. In addition, two training strategies will have to be compared:</a:t>
            </a:r>
          </a:p>
          <a:p>
            <a:pPr marL="800100" lvl="1" indent="-342900">
              <a:lnSpc>
                <a:spcPct val="107000"/>
              </a:lnSpc>
              <a:spcAft>
                <a:spcPts val="800"/>
              </a:spcAft>
              <a:buFont typeface="+mj-lt"/>
              <a:buAutoNum type="arabicPeriod"/>
            </a:pPr>
            <a:r>
              <a:rPr lang="en-US" dirty="0"/>
              <a:t>The first strategy involves pre-training on the AID dataset and fine-tuning on the UC dataset.
The second strategy involves training exclusively on the UC dataset.</a:t>
            </a:r>
          </a:p>
          <a:p>
            <a:pPr>
              <a:lnSpc>
                <a:spcPct val="107000"/>
              </a:lnSpc>
              <a:spcAft>
                <a:spcPts val="800"/>
              </a:spcAft>
            </a:pPr>
            <a:r>
              <a:rPr lang="it-IT" dirty="0"/>
              <a:t>Determine:</a:t>
            </a:r>
          </a:p>
          <a:p>
            <a:pPr marL="285750" indent="-285750">
              <a:lnSpc>
                <a:spcPct val="107000"/>
              </a:lnSpc>
              <a:spcAft>
                <a:spcPts val="800"/>
              </a:spcAft>
              <a:buFont typeface="Wingdings" panose="05000000000000000000" pitchFamily="2" charset="2"/>
              <a:buChar char="§"/>
            </a:pPr>
            <a:r>
              <a:rPr lang="en-US" dirty="0"/>
              <a:t>The best model by evaluating both strategies on the validation set of the UC dataset, selecting the one with the highest F1-score.</a:t>
            </a:r>
            <a:endParaRPr lang="it-IT" noProof="0" dirty="0"/>
          </a:p>
        </p:txBody>
      </p:sp>
      <p:sp>
        <p:nvSpPr>
          <p:cNvPr id="4" name="TextBox 2">
            <a:extLst>
              <a:ext uri="{FF2B5EF4-FFF2-40B4-BE49-F238E27FC236}">
                <a16:creationId xmlns:a16="http://schemas.microsoft.com/office/drawing/2014/main" id="{E5F07409-679A-1541-6E67-898C179B2CCC}"/>
              </a:ext>
            </a:extLst>
          </p:cNvPr>
          <p:cNvSpPr txBox="1"/>
          <p:nvPr/>
        </p:nvSpPr>
        <p:spPr>
          <a:xfrm>
            <a:off x="136860" y="4929822"/>
            <a:ext cx="9160501" cy="39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0" dirty="0"/>
              <a:t>Dataset</a:t>
            </a:r>
          </a:p>
        </p:txBody>
      </p:sp>
      <p:sp>
        <p:nvSpPr>
          <p:cNvPr id="8" name="TextBox 2">
            <a:extLst>
              <a:ext uri="{FF2B5EF4-FFF2-40B4-BE49-F238E27FC236}">
                <a16:creationId xmlns:a16="http://schemas.microsoft.com/office/drawing/2014/main" id="{E13F49B4-83C6-C653-1F61-C47C0D192E25}"/>
              </a:ext>
            </a:extLst>
          </p:cNvPr>
          <p:cNvSpPr txBox="1"/>
          <p:nvPr/>
        </p:nvSpPr>
        <p:spPr>
          <a:xfrm>
            <a:off x="213371" y="1537617"/>
            <a:ext cx="9160501" cy="398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dirty="0"/>
              <a:t>Objectives</a:t>
            </a:r>
            <a:endParaRPr lang="it-IT" sz="2800" b="0" noProof="0" dirty="0"/>
          </a:p>
        </p:txBody>
      </p:sp>
      <p:sp>
        <p:nvSpPr>
          <p:cNvPr id="6" name="CasellaDiTesto 5">
            <a:extLst>
              <a:ext uri="{FF2B5EF4-FFF2-40B4-BE49-F238E27FC236}">
                <a16:creationId xmlns:a16="http://schemas.microsoft.com/office/drawing/2014/main" id="{65BA3E67-FD74-8B9E-0ACD-99F5DD18042E}"/>
              </a:ext>
            </a:extLst>
          </p:cNvPr>
          <p:cNvSpPr txBox="1"/>
          <p:nvPr/>
        </p:nvSpPr>
        <p:spPr>
          <a:xfrm>
            <a:off x="213371" y="5328393"/>
            <a:ext cx="11925739" cy="1370247"/>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dirty="0"/>
              <a:t>The Aerial Image Dataset (AID) is divided into train and validation following the 70-30 ratio. 
While the UC Merced Land Use Dataset is divided into train, validation and test following the 70-15-15 ratio. These partitions are the same for both the first and second strategies. In addition, the images have been converted from tif to png.</a:t>
            </a:r>
            <a:endParaRPr lang="it-IT" noProof="0" dirty="0"/>
          </a:p>
        </p:txBody>
      </p:sp>
    </p:spTree>
    <p:extLst>
      <p:ext uri="{BB962C8B-B14F-4D97-AF65-F5344CB8AC3E}">
        <p14:creationId xmlns:p14="http://schemas.microsoft.com/office/powerpoint/2010/main" val="3859650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982C-7BA7-67CE-7A85-02F67C5AF78F}"/>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1A807F1A-397A-FFA1-A3E6-2062BD998C4F}"/>
              </a:ext>
            </a:extLst>
          </p:cNvPr>
          <p:cNvSpPr txBox="1"/>
          <p:nvPr/>
        </p:nvSpPr>
        <p:spPr>
          <a:xfrm>
            <a:off x="237330" y="137268"/>
            <a:ext cx="9125745"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a:t>Introduction – Neural Networks</a:t>
            </a:r>
            <a:endParaRPr lang="it-IT" sz="4067" noProof="0" dirty="0"/>
          </a:p>
        </p:txBody>
      </p:sp>
      <p:sp>
        <p:nvSpPr>
          <p:cNvPr id="5" name="CasellaDiTesto 4">
            <a:extLst>
              <a:ext uri="{FF2B5EF4-FFF2-40B4-BE49-F238E27FC236}">
                <a16:creationId xmlns:a16="http://schemas.microsoft.com/office/drawing/2014/main" id="{BB0916DD-FA63-CA91-06D7-14E9B5868A1A}"/>
              </a:ext>
            </a:extLst>
          </p:cNvPr>
          <p:cNvSpPr txBox="1"/>
          <p:nvPr/>
        </p:nvSpPr>
        <p:spPr>
          <a:xfrm>
            <a:off x="25458" y="952183"/>
            <a:ext cx="12166542" cy="5389873"/>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increasing availability of data has led to the use of data-driven paradigms. The fascination of neural networks derives from the fact that it is no longer strictly necessary to have a domain expert to guide the analysis of the data. This is because neural networks allow you to extract features and analyze patterns automatically. 
From the perceptron hyperplane to modern architecture, the goal remains to approximate a function that maps inputs to outputs. This function, extremely complex and highly non-linear, can be understood as a transformation that models the data space and generalizes, with a certain confidence, its properties.
The capacity of the model depends on its complexity, for example on the number of parameters and the architecture. 
Optimization is done by fixing a loss and iteratively updating the parameters by backpropagation and gradient descent:</a:t>
            </a:r>
          </a:p>
          <a:p>
            <a:pPr marL="285750" indent="-285750">
              <a:lnSpc>
                <a:spcPct val="107000"/>
              </a:lnSpc>
              <a:spcAft>
                <a:spcPts val="800"/>
              </a:spcAft>
              <a:buFont typeface="Courier New" panose="02070309020205020404" pitchFamily="49" charset="0"/>
              <a:buChar char="o"/>
            </a:pPr>
            <a:endParaRPr lang="en-US" sz="1900" kern="100" dirty="0">
              <a:cs typeface="Arial" panose="020B0604020202020204" pitchFamily="34" charset="0"/>
            </a:endParaRPr>
          </a:p>
          <a:p>
            <a:pPr>
              <a:lnSpc>
                <a:spcPct val="107000"/>
              </a:lnSpc>
              <a:spcAft>
                <a:spcPts val="800"/>
              </a:spcAft>
            </a:pPr>
            <a:r>
              <a:rPr lang="en-US" sz="1900" kern="100" dirty="0">
                <a:cs typeface="Arial" panose="020B0604020202020204" pitchFamily="34" charset="0"/>
              </a:rPr>
              <a:t>
Deep networks with many nonlinear transformations tend to suffer from the problem of vanishing gradient: gradients can attenuate exponentially through the chain rule and become numerically negligible, preventing significant updates in the deep layers.</a:t>
            </a:r>
            <a:endParaRPr lang="it-IT" sz="1900" kern="100" noProof="0" dirty="0">
              <a:cs typeface="Arial" panose="020B0604020202020204" pitchFamily="34" charset="0"/>
            </a:endParaRPr>
          </a:p>
        </p:txBody>
      </p:sp>
      <p:grpSp>
        <p:nvGrpSpPr>
          <p:cNvPr id="35" name="Gruppo 34">
            <a:extLst>
              <a:ext uri="{FF2B5EF4-FFF2-40B4-BE49-F238E27FC236}">
                <a16:creationId xmlns:a16="http://schemas.microsoft.com/office/drawing/2014/main" id="{AC393913-555A-C69E-2CFD-033D674BE88A}"/>
              </a:ext>
            </a:extLst>
          </p:cNvPr>
          <p:cNvGrpSpPr/>
          <p:nvPr/>
        </p:nvGrpSpPr>
        <p:grpSpPr>
          <a:xfrm>
            <a:off x="2984528" y="4495122"/>
            <a:ext cx="6248401" cy="742881"/>
            <a:chOff x="3642851" y="6241140"/>
            <a:chExt cx="5501149" cy="742881"/>
          </a:xfrm>
        </p:grpSpPr>
        <mc:AlternateContent xmlns:mc="http://schemas.openxmlformats.org/markup-compatibility/2006" xmlns:a14="http://schemas.microsoft.com/office/drawing/2010/main">
          <mc:Choice Requires="a14">
            <p:sp>
              <p:nvSpPr>
                <p:cNvPr id="33" name="CasellaDiTesto 32">
                  <a:extLst>
                    <a:ext uri="{FF2B5EF4-FFF2-40B4-BE49-F238E27FC236}">
                      <a16:creationId xmlns:a16="http://schemas.microsoft.com/office/drawing/2014/main" id="{D8E58BA8-0EFD-F457-00AD-F26C928C10AD}"/>
                    </a:ext>
                  </a:extLst>
                </p:cNvPr>
                <p:cNvSpPr txBox="1"/>
                <p:nvPr/>
              </p:nvSpPr>
              <p:spPr>
                <a:xfrm>
                  <a:off x="3642851" y="6241140"/>
                  <a:ext cx="2318392" cy="5734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noProof="0" smtClean="0">
                                <a:latin typeface="Cambria Math" panose="02040503050406030204" pitchFamily="18" charset="0"/>
                              </a:rPr>
                            </m:ctrlPr>
                          </m:sSubPr>
                          <m:e>
                            <m:acc>
                              <m:accPr>
                                <m:chr m:val="̅"/>
                                <m:ctrlPr>
                                  <a:rPr lang="it-IT" b="0" i="1" noProof="0" smtClean="0">
                                    <a:latin typeface="Cambria Math" panose="02040503050406030204" pitchFamily="18" charset="0"/>
                                  </a:rPr>
                                </m:ctrlPr>
                              </m:accPr>
                              <m:e>
                                <m:r>
                                  <a:rPr lang="it-IT" b="0" i="1" noProof="0" smtClean="0">
                                    <a:latin typeface="Cambria Math" panose="02040503050406030204" pitchFamily="18" charset="0"/>
                                  </a:rPr>
                                  <m:t>𝑤</m:t>
                                </m:r>
                              </m:e>
                            </m:acc>
                          </m:e>
                          <m:sub>
                            <m:r>
                              <a:rPr lang="it-IT" b="0" i="1" noProof="0" smtClean="0">
                                <a:latin typeface="Cambria Math" panose="02040503050406030204" pitchFamily="18" charset="0"/>
                              </a:rPr>
                              <m:t>𝑛𝑒𝑤</m:t>
                            </m:r>
                          </m:sub>
                        </m:sSub>
                        <m:r>
                          <a:rPr lang="it-IT" b="0" i="1" noProof="0" smtClean="0">
                            <a:latin typeface="Cambria Math" panose="02040503050406030204" pitchFamily="18" charset="0"/>
                          </a:rPr>
                          <m:t>=</m:t>
                        </m:r>
                        <m:sSub>
                          <m:sSubPr>
                            <m:ctrlPr>
                              <a:rPr lang="it-IT" b="0" i="1" noProof="0" smtClean="0">
                                <a:latin typeface="Cambria Math" panose="02040503050406030204" pitchFamily="18" charset="0"/>
                              </a:rPr>
                            </m:ctrlPr>
                          </m:sSubPr>
                          <m:e>
                            <m:acc>
                              <m:accPr>
                                <m:chr m:val="̅"/>
                                <m:ctrlPr>
                                  <a:rPr lang="it-IT" i="1" noProof="0">
                                    <a:latin typeface="Cambria Math" panose="02040503050406030204" pitchFamily="18" charset="0"/>
                                  </a:rPr>
                                </m:ctrlPr>
                              </m:accPr>
                              <m:e>
                                <m:r>
                                  <a:rPr lang="it-IT" i="1" noProof="0">
                                    <a:latin typeface="Cambria Math" panose="02040503050406030204" pitchFamily="18" charset="0"/>
                                  </a:rPr>
                                  <m:t>𝑤</m:t>
                                </m:r>
                              </m:e>
                            </m:acc>
                          </m:e>
                          <m:sub>
                            <m:r>
                              <a:rPr lang="it-IT" b="0" i="1" noProof="0" smtClean="0">
                                <a:latin typeface="Cambria Math" panose="02040503050406030204" pitchFamily="18" charset="0"/>
                              </a:rPr>
                              <m:t>𝑜𝑙𝑑</m:t>
                            </m:r>
                          </m:sub>
                        </m:sSub>
                        <m:r>
                          <a:rPr lang="it-IT" b="0" i="1" noProof="0" smtClean="0">
                            <a:latin typeface="Cambria Math" panose="02040503050406030204" pitchFamily="18" charset="0"/>
                          </a:rPr>
                          <m:t>−</m:t>
                        </m:r>
                        <m:r>
                          <a:rPr lang="it-IT" i="1" noProof="0" smtClean="0">
                            <a:latin typeface="Cambria Math" panose="02040503050406030204" pitchFamily="18" charset="0"/>
                          </a:rPr>
                          <m:t>𝜂</m:t>
                        </m:r>
                        <m:f>
                          <m:fPr>
                            <m:ctrlPr>
                              <a:rPr lang="it-IT" i="1" noProof="0" smtClean="0">
                                <a:latin typeface="Cambria Math" panose="02040503050406030204" pitchFamily="18" charset="0"/>
                              </a:rPr>
                            </m:ctrlPr>
                          </m:fPr>
                          <m:num>
                            <m:r>
                              <a:rPr lang="it-IT" i="1" noProof="0" smtClean="0">
                                <a:latin typeface="Cambria Math" panose="02040503050406030204" pitchFamily="18" charset="0"/>
                                <a:ea typeface="Cambria Math" panose="02040503050406030204" pitchFamily="18" charset="0"/>
                              </a:rPr>
                              <m:t>𝜕</m:t>
                            </m:r>
                            <m:r>
                              <a:rPr lang="it-IT" b="0" i="1" noProof="0" smtClean="0">
                                <a:latin typeface="Cambria Math" panose="02040503050406030204" pitchFamily="18" charset="0"/>
                                <a:ea typeface="Cambria Math" panose="02040503050406030204" pitchFamily="18" charset="0"/>
                              </a:rPr>
                              <m:t>𝐿</m:t>
                            </m:r>
                          </m:num>
                          <m:den>
                            <m:sSub>
                              <m:sSubPr>
                                <m:ctrlPr>
                                  <a:rPr lang="it-IT" i="1" noProof="0" smtClean="0">
                                    <a:latin typeface="Cambria Math" panose="02040503050406030204" pitchFamily="18" charset="0"/>
                                    <a:ea typeface="Cambria Math" panose="02040503050406030204" pitchFamily="18" charset="0"/>
                                  </a:rPr>
                                </m:ctrlPr>
                              </m:sSubPr>
                              <m:e>
                                <m:r>
                                  <a:rPr lang="it-IT" i="1" noProof="0" smtClean="0">
                                    <a:latin typeface="Cambria Math" panose="02040503050406030204" pitchFamily="18" charset="0"/>
                                    <a:ea typeface="Cambria Math" panose="02040503050406030204" pitchFamily="18" charset="0"/>
                                  </a:rPr>
                                  <m:t>𝜕</m:t>
                                </m:r>
                                <m:acc>
                                  <m:accPr>
                                    <m:chr m:val="̅"/>
                                    <m:ctrlPr>
                                      <a:rPr lang="it-IT" i="1" noProof="0">
                                        <a:latin typeface="Cambria Math" panose="02040503050406030204" pitchFamily="18" charset="0"/>
                                      </a:rPr>
                                    </m:ctrlPr>
                                  </m:accPr>
                                  <m:e>
                                    <m:r>
                                      <a:rPr lang="it-IT" i="1" noProof="0">
                                        <a:latin typeface="Cambria Math" panose="02040503050406030204" pitchFamily="18" charset="0"/>
                                      </a:rPr>
                                      <m:t>𝑤</m:t>
                                    </m:r>
                                  </m:e>
                                </m:acc>
                              </m:e>
                              <m:sub>
                                <m:r>
                                  <a:rPr lang="it-IT" b="0" i="1" noProof="0" smtClean="0">
                                    <a:latin typeface="Cambria Math" panose="02040503050406030204" pitchFamily="18" charset="0"/>
                                    <a:ea typeface="Cambria Math" panose="02040503050406030204" pitchFamily="18" charset="0"/>
                                  </a:rPr>
                                  <m:t>𝑜𝑙𝑑</m:t>
                                </m:r>
                              </m:sub>
                            </m:sSub>
                          </m:den>
                        </m:f>
                      </m:oMath>
                    </m:oMathPara>
                  </a14:m>
                  <a:endParaRPr lang="it-IT" noProof="0" dirty="0"/>
                </a:p>
              </p:txBody>
            </p:sp>
          </mc:Choice>
          <mc:Fallback xmlns="">
            <p:sp>
              <p:nvSpPr>
                <p:cNvPr id="33" name="CasellaDiTesto 32">
                  <a:extLst>
                    <a:ext uri="{FF2B5EF4-FFF2-40B4-BE49-F238E27FC236}">
                      <a16:creationId xmlns:a16="http://schemas.microsoft.com/office/drawing/2014/main" id="{D8E58BA8-0EFD-F457-00AD-F26C928C10AD}"/>
                    </a:ext>
                  </a:extLst>
                </p:cNvPr>
                <p:cNvSpPr txBox="1">
                  <a:spLocks noRot="1" noChangeAspect="1" noMove="1" noResize="1" noEditPoints="1" noAdjustHandles="1" noChangeArrowheads="1" noChangeShapeType="1" noTextEdit="1"/>
                </p:cNvSpPr>
                <p:nvPr/>
              </p:nvSpPr>
              <p:spPr>
                <a:xfrm>
                  <a:off x="3642851" y="6241140"/>
                  <a:ext cx="2318392" cy="573490"/>
                </a:xfrm>
                <a:prstGeom prst="rect">
                  <a:avLst/>
                </a:prstGeom>
                <a:blipFill>
                  <a:blip r:embed="rId2"/>
                  <a:stretch>
                    <a:fillRect/>
                  </a:stretch>
                </a:blipFill>
              </p:spPr>
              <p:txBody>
                <a:bodyPr/>
                <a:lstStyle/>
                <a:p>
                  <a:r>
                    <a:rPr lang="it-IT">
                      <a:noFill/>
                    </a:rPr>
                    <a:t> </a:t>
                  </a:r>
                </a:p>
              </p:txBody>
            </p:sp>
          </mc:Fallback>
        </mc:AlternateContent>
        <p:sp>
          <p:nvSpPr>
            <p:cNvPr id="34" name="CasellaDiTesto 33">
              <a:extLst>
                <a:ext uri="{FF2B5EF4-FFF2-40B4-BE49-F238E27FC236}">
                  <a16:creationId xmlns:a16="http://schemas.microsoft.com/office/drawing/2014/main" id="{9ECC790A-EA4B-949E-2A5C-0A43110490EF}"/>
                </a:ext>
              </a:extLst>
            </p:cNvPr>
            <p:cNvSpPr txBox="1"/>
            <p:nvPr/>
          </p:nvSpPr>
          <p:spPr>
            <a:xfrm>
              <a:off x="6233652" y="6337690"/>
              <a:ext cx="2910348" cy="646331"/>
            </a:xfrm>
            <a:prstGeom prst="rect">
              <a:avLst/>
            </a:prstGeom>
            <a:noFill/>
          </p:spPr>
          <p:txBody>
            <a:bodyPr wrap="square" rtlCol="0">
              <a:spAutoFit/>
            </a:bodyPr>
            <a:lstStyle/>
            <a:p>
              <a:r>
                <a:rPr lang="en-US" dirty="0"/>
                <a:t>where η is called learning rate.</a:t>
              </a:r>
              <a:endParaRPr lang="it-IT" noProof="0" dirty="0"/>
            </a:p>
          </p:txBody>
        </p:sp>
      </p:grpSp>
    </p:spTree>
    <p:extLst>
      <p:ext uri="{BB962C8B-B14F-4D97-AF65-F5344CB8AC3E}">
        <p14:creationId xmlns:p14="http://schemas.microsoft.com/office/powerpoint/2010/main" val="1386874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F2D03-E5FC-F10F-D14B-0CCF732599DA}"/>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EA63C129-9A7A-BCEF-E8E2-E5838A702F49}"/>
              </a:ext>
            </a:extLst>
          </p:cNvPr>
          <p:cNvSpPr txBox="1"/>
          <p:nvPr/>
        </p:nvSpPr>
        <p:spPr>
          <a:xfrm>
            <a:off x="256995" y="210517"/>
            <a:ext cx="9429930"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a:t>Introduction – Residual Networks</a:t>
            </a:r>
            <a:endParaRPr lang="it-IT" sz="4067" noProof="0" dirty="0"/>
          </a:p>
        </p:txBody>
      </p:sp>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F288ECBD-466D-FECF-5D60-F8A77986A247}"/>
                  </a:ext>
                </a:extLst>
              </p:cNvPr>
              <p:cNvSpPr txBox="1"/>
              <p:nvPr/>
            </p:nvSpPr>
            <p:spPr>
              <a:xfrm>
                <a:off x="0" y="1046847"/>
                <a:ext cx="12307164" cy="5185202"/>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idea is to create skip connections: direct connections that connect a layer's input to its output by means of a sum. 
In this way, during the backpropagation process, that direct link provides an alternate path for the gradient to flow, mitigating the problem of vanishing gradient. 
This choice is not only convenient from an operational point of view, but is theoretically justified: the network learns, with respect to identity, a correction called residual.</a:t>
                </a:r>
                <a:endParaRPr lang="it-IT" sz="1900" kern="100" noProof="0" dirty="0">
                  <a:cs typeface="Arial" panose="020B0604020202020204" pitchFamily="34" charset="0"/>
                </a:endParaRPr>
              </a:p>
              <a:p>
                <a:pPr marL="285750" indent="-285750">
                  <a:lnSpc>
                    <a:spcPct val="107000"/>
                  </a:lnSpc>
                  <a:spcAft>
                    <a:spcPts val="800"/>
                  </a:spcAft>
                  <a:buFont typeface="Courier New" panose="02070309020205020404" pitchFamily="49" charset="0"/>
                  <a:buChar char="o"/>
                </a:pPr>
                <a:endParaRPr lang="it-IT" sz="1900" kern="100" noProof="0" dirty="0">
                  <a:cs typeface="Arial" panose="020B0604020202020204" pitchFamily="34" charset="0"/>
                </a:endParaRPr>
              </a:p>
              <a:p>
                <a:pPr marL="285750" indent="-285750">
                  <a:lnSpc>
                    <a:spcPct val="107000"/>
                  </a:lnSpc>
                  <a:spcAft>
                    <a:spcPts val="800"/>
                  </a:spcAft>
                  <a:buFont typeface="Courier New" panose="02070309020205020404" pitchFamily="49" charset="0"/>
                  <a:buChar char="o"/>
                </a:pPr>
                <a:endParaRPr lang="it-IT" sz="1900" kern="100" noProof="0" dirty="0">
                  <a:cs typeface="Arial" panose="020B0604020202020204" pitchFamily="34" charset="0"/>
                </a:endParaRPr>
              </a:p>
              <a:p>
                <a:pPr>
                  <a:lnSpc>
                    <a:spcPct val="107000"/>
                  </a:lnSpc>
                  <a:spcAft>
                    <a:spcPts val="800"/>
                  </a:spcAft>
                </a:pPr>
                <a:endParaRPr lang="it-IT" sz="1900" kern="100" noProof="0" dirty="0">
                  <a:cs typeface="Arial" panose="020B0604020202020204" pitchFamily="34" charset="0"/>
                </a:endParaRPr>
              </a:p>
              <a:p>
                <a:pPr marL="285750" indent="-285750">
                  <a:lnSpc>
                    <a:spcPct val="107000"/>
                  </a:lnSpc>
                  <a:spcAft>
                    <a:spcPts val="800"/>
                  </a:spcAft>
                  <a:buFont typeface="Courier New" panose="02070309020205020404" pitchFamily="49" charset="0"/>
                  <a:buChar char="o"/>
                </a:pPr>
                <a:r>
                  <a:rPr lang="it-IT" sz="1900" kern="100" dirty="0">
                    <a:cs typeface="Arial" panose="020B0604020202020204" pitchFamily="34" charset="0"/>
                  </a:rPr>
                  <a:t>The network output is: </a:t>
                </a:r>
                <a:endParaRPr lang="it-IT" sz="1900" b="0" i="0" kern="100" noProof="0" dirty="0">
                  <a:latin typeface="Cambria Math" panose="02040503050406030204" pitchFamily="18" charset="0"/>
                  <a:cs typeface="Arial" panose="020B060402020202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it-IT" sz="1900" b="0" i="0" kern="100" noProof="0" smtClean="0">
                          <a:latin typeface="Cambria Math" panose="02040503050406030204" pitchFamily="18" charset="0"/>
                          <a:cs typeface="Arial" panose="020B0604020202020204" pitchFamily="34" charset="0"/>
                        </a:rPr>
                        <m:t>y</m:t>
                      </m:r>
                      <m:r>
                        <a:rPr lang="it-IT" sz="1900" b="0" i="0" kern="100" noProof="0" smtClean="0">
                          <a:latin typeface="Cambria Math" panose="02040503050406030204" pitchFamily="18" charset="0"/>
                          <a:cs typeface="Arial" panose="020B0604020202020204" pitchFamily="34" charset="0"/>
                        </a:rPr>
                        <m:t>=</m:t>
                      </m:r>
                      <m:r>
                        <a:rPr lang="it-IT" sz="1900" b="0" i="1" kern="100" noProof="0" smtClean="0">
                          <a:latin typeface="Cambria Math" panose="02040503050406030204" pitchFamily="18" charset="0"/>
                          <a:cs typeface="Arial" panose="020B0604020202020204" pitchFamily="34" charset="0"/>
                        </a:rPr>
                        <m:t>𝐻</m:t>
                      </m:r>
                      <m:d>
                        <m:dPr>
                          <m:ctrlPr>
                            <a:rPr lang="it-IT" sz="1900" b="0" i="1" kern="100" noProof="0" smtClean="0">
                              <a:latin typeface="Cambria Math" panose="02040503050406030204" pitchFamily="18" charset="0"/>
                              <a:cs typeface="Arial" panose="020B0604020202020204" pitchFamily="34" charset="0"/>
                            </a:rPr>
                          </m:ctrlPr>
                        </m:dPr>
                        <m:e>
                          <m:r>
                            <a:rPr lang="it-IT" sz="1900" b="0" i="1" kern="100" noProof="0" smtClean="0">
                              <a:latin typeface="Cambria Math" panose="02040503050406030204" pitchFamily="18" charset="0"/>
                              <a:cs typeface="Arial" panose="020B0604020202020204" pitchFamily="34" charset="0"/>
                            </a:rPr>
                            <m:t>𝑥</m:t>
                          </m:r>
                        </m:e>
                      </m:d>
                      <m:r>
                        <a:rPr lang="it-IT" sz="1900" b="0" i="1" kern="100" noProof="0" smtClean="0">
                          <a:latin typeface="Cambria Math" panose="02040503050406030204" pitchFamily="18" charset="0"/>
                          <a:cs typeface="Arial" panose="020B0604020202020204" pitchFamily="34" charset="0"/>
                        </a:rPr>
                        <m:t>=</m:t>
                      </m:r>
                      <m:r>
                        <a:rPr lang="it-IT" sz="1900" b="0" i="1" kern="100" noProof="0" smtClean="0">
                          <a:latin typeface="Cambria Math" panose="02040503050406030204" pitchFamily="18" charset="0"/>
                          <a:cs typeface="Arial" panose="020B0604020202020204" pitchFamily="34" charset="0"/>
                        </a:rPr>
                        <m:t>𝐹</m:t>
                      </m:r>
                      <m:d>
                        <m:dPr>
                          <m:ctrlPr>
                            <a:rPr lang="it-IT" sz="1900" b="0" i="1" kern="100" noProof="0" smtClean="0">
                              <a:latin typeface="Cambria Math" panose="02040503050406030204" pitchFamily="18" charset="0"/>
                              <a:cs typeface="Arial" panose="020B0604020202020204" pitchFamily="34" charset="0"/>
                            </a:rPr>
                          </m:ctrlPr>
                        </m:dPr>
                        <m:e>
                          <m:r>
                            <a:rPr lang="it-IT" sz="1900" b="0" i="1" kern="100" noProof="0" smtClean="0">
                              <a:latin typeface="Cambria Math" panose="02040503050406030204" pitchFamily="18" charset="0"/>
                              <a:cs typeface="Arial" panose="020B0604020202020204" pitchFamily="34" charset="0"/>
                            </a:rPr>
                            <m:t>𝑥</m:t>
                          </m:r>
                        </m:e>
                      </m:d>
                      <m:r>
                        <a:rPr lang="it-IT" sz="1900" b="0" i="1" kern="100" noProof="0" smtClean="0">
                          <a:latin typeface="Cambria Math" panose="02040503050406030204" pitchFamily="18" charset="0"/>
                          <a:cs typeface="Arial" panose="020B0604020202020204" pitchFamily="34" charset="0"/>
                        </a:rPr>
                        <m:t>+</m:t>
                      </m:r>
                      <m:r>
                        <a:rPr lang="it-IT" sz="1900" b="0" i="1" kern="100" noProof="0" smtClean="0">
                          <a:latin typeface="Cambria Math" panose="02040503050406030204" pitchFamily="18" charset="0"/>
                          <a:cs typeface="Arial" panose="020B0604020202020204" pitchFamily="34" charset="0"/>
                        </a:rPr>
                        <m:t>𝑥</m:t>
                      </m:r>
                    </m:oMath>
                  </m:oMathPara>
                </a14:m>
                <a:endParaRPr lang="it-IT" sz="1900" kern="100" noProof="0" dirty="0">
                  <a:cs typeface="Arial" panose="020B0604020202020204" pitchFamily="34" charset="0"/>
                </a:endParaRPr>
              </a:p>
              <a:p>
                <a:pPr marL="342900" indent="-342900">
                  <a:lnSpc>
                    <a:spcPct val="107000"/>
                  </a:lnSpc>
                  <a:spcAft>
                    <a:spcPts val="800"/>
                  </a:spcAft>
                  <a:buFont typeface="Courier New" panose="02070309020205020404" pitchFamily="49" charset="0"/>
                  <a:buChar char="o"/>
                </a:pPr>
                <a:r>
                  <a:rPr lang="it-IT" sz="1900" kern="100" dirty="0">
                    <a:cs typeface="Arial" panose="020B0604020202020204" pitchFamily="34" charset="0"/>
                  </a:rPr>
                  <a:t>So the network learns:</a:t>
                </a:r>
              </a:p>
              <a:p>
                <a:pPr>
                  <a:lnSpc>
                    <a:spcPct val="107000"/>
                  </a:lnSpc>
                  <a:spcAft>
                    <a:spcPts val="800"/>
                  </a:spcAft>
                </a:pPr>
                <a14:m>
                  <m:oMathPara xmlns:m="http://schemas.openxmlformats.org/officeDocument/2006/math">
                    <m:oMathParaPr>
                      <m:jc m:val="centerGroup"/>
                    </m:oMathParaPr>
                    <m:oMath xmlns:m="http://schemas.openxmlformats.org/officeDocument/2006/math">
                      <m:r>
                        <a:rPr lang="it-IT" sz="1900" b="0" i="1" kern="100" noProof="0" smtClean="0">
                          <a:latin typeface="Cambria Math" panose="02040503050406030204" pitchFamily="18" charset="0"/>
                          <a:cs typeface="Arial" panose="020B0604020202020204" pitchFamily="34" charset="0"/>
                        </a:rPr>
                        <m:t>𝐹</m:t>
                      </m:r>
                      <m:d>
                        <m:dPr>
                          <m:ctrlPr>
                            <a:rPr lang="it-IT" sz="1900" i="1" kern="100" noProof="0" smtClean="0">
                              <a:latin typeface="Cambria Math" panose="02040503050406030204" pitchFamily="18" charset="0"/>
                              <a:cs typeface="Arial" panose="020B0604020202020204" pitchFamily="34" charset="0"/>
                            </a:rPr>
                          </m:ctrlPr>
                        </m:dPr>
                        <m:e>
                          <m:r>
                            <a:rPr lang="it-IT" sz="1900" i="1" kern="100" noProof="0" smtClean="0">
                              <a:latin typeface="Cambria Math" panose="02040503050406030204" pitchFamily="18" charset="0"/>
                              <a:cs typeface="Arial" panose="020B0604020202020204" pitchFamily="34" charset="0"/>
                            </a:rPr>
                            <m:t>𝑥</m:t>
                          </m:r>
                        </m:e>
                      </m:d>
                      <m:r>
                        <a:rPr lang="it-IT" sz="1900" i="1" kern="100" noProof="0" smtClean="0">
                          <a:latin typeface="Cambria Math" panose="02040503050406030204" pitchFamily="18" charset="0"/>
                          <a:cs typeface="Arial" panose="020B0604020202020204" pitchFamily="34" charset="0"/>
                        </a:rPr>
                        <m:t>=</m:t>
                      </m:r>
                      <m:r>
                        <a:rPr lang="it-IT" sz="1900" b="0" i="1" kern="100" noProof="0" smtClean="0">
                          <a:latin typeface="Cambria Math" panose="02040503050406030204" pitchFamily="18" charset="0"/>
                          <a:cs typeface="Arial" panose="020B0604020202020204" pitchFamily="34" charset="0"/>
                        </a:rPr>
                        <m:t>𝐻</m:t>
                      </m:r>
                      <m:d>
                        <m:dPr>
                          <m:ctrlPr>
                            <a:rPr lang="it-IT" sz="1900" i="1" kern="100" noProof="0" smtClean="0">
                              <a:latin typeface="Cambria Math" panose="02040503050406030204" pitchFamily="18" charset="0"/>
                              <a:cs typeface="Arial" panose="020B0604020202020204" pitchFamily="34" charset="0"/>
                            </a:rPr>
                          </m:ctrlPr>
                        </m:dPr>
                        <m:e>
                          <m:r>
                            <a:rPr lang="it-IT" sz="1900" i="1" kern="100" noProof="0" smtClean="0">
                              <a:latin typeface="Cambria Math" panose="02040503050406030204" pitchFamily="18" charset="0"/>
                              <a:cs typeface="Arial" panose="020B0604020202020204" pitchFamily="34" charset="0"/>
                            </a:rPr>
                            <m:t>𝑥</m:t>
                          </m:r>
                        </m:e>
                      </m:d>
                      <m:r>
                        <a:rPr lang="it-IT" sz="1900" b="0" i="1" kern="100" noProof="0" smtClean="0">
                          <a:latin typeface="Cambria Math" panose="02040503050406030204" pitchFamily="18" charset="0"/>
                          <a:cs typeface="Arial" panose="020B0604020202020204" pitchFamily="34" charset="0"/>
                        </a:rPr>
                        <m:t>−</m:t>
                      </m:r>
                      <m:r>
                        <a:rPr lang="it-IT" sz="1900" b="0" i="1" kern="100" noProof="0" smtClean="0">
                          <a:latin typeface="Cambria Math" panose="02040503050406030204" pitchFamily="18" charset="0"/>
                          <a:cs typeface="Arial" panose="020B0604020202020204" pitchFamily="34" charset="0"/>
                        </a:rPr>
                        <m:t>𝑥</m:t>
                      </m:r>
                    </m:oMath>
                  </m:oMathPara>
                </a14:m>
                <a:endParaRPr lang="it-IT" sz="1900" kern="100" noProof="0" dirty="0">
                  <a:cs typeface="Arial" panose="020B0604020202020204" pitchFamily="34" charset="0"/>
                </a:endParaRPr>
              </a:p>
            </p:txBody>
          </p:sp>
        </mc:Choice>
        <mc:Fallback>
          <p:sp>
            <p:nvSpPr>
              <p:cNvPr id="5" name="CasellaDiTesto 4">
                <a:extLst>
                  <a:ext uri="{FF2B5EF4-FFF2-40B4-BE49-F238E27FC236}">
                    <a16:creationId xmlns:a16="http://schemas.microsoft.com/office/drawing/2014/main" id="{F288ECBD-466D-FECF-5D60-F8A77986A247}"/>
                  </a:ext>
                </a:extLst>
              </p:cNvPr>
              <p:cNvSpPr txBox="1">
                <a:spLocks noRot="1" noChangeAspect="1" noMove="1" noResize="1" noEditPoints="1" noAdjustHandles="1" noChangeArrowheads="1" noChangeShapeType="1" noTextEdit="1"/>
              </p:cNvSpPr>
              <p:nvPr/>
            </p:nvSpPr>
            <p:spPr>
              <a:xfrm>
                <a:off x="0" y="1046847"/>
                <a:ext cx="12307164" cy="5185202"/>
              </a:xfrm>
              <a:prstGeom prst="rect">
                <a:avLst/>
              </a:prstGeom>
              <a:blipFill>
                <a:blip r:embed="rId2"/>
                <a:stretch>
                  <a:fillRect l="-396" t="-471"/>
                </a:stretch>
              </a:blipFill>
            </p:spPr>
            <p:txBody>
              <a:bodyPr/>
              <a:lstStyle/>
              <a:p>
                <a:r>
                  <a:rPr lang="it-IT">
                    <a:noFill/>
                  </a:rPr>
                  <a:t> </a:t>
                </a:r>
              </a:p>
            </p:txBody>
          </p:sp>
        </mc:Fallback>
      </mc:AlternateContent>
      <p:grpSp>
        <p:nvGrpSpPr>
          <p:cNvPr id="32" name="Gruppo 31">
            <a:extLst>
              <a:ext uri="{FF2B5EF4-FFF2-40B4-BE49-F238E27FC236}">
                <a16:creationId xmlns:a16="http://schemas.microsoft.com/office/drawing/2014/main" id="{0773C317-03BB-759A-D680-323B4C8AA2FB}"/>
              </a:ext>
            </a:extLst>
          </p:cNvPr>
          <p:cNvGrpSpPr/>
          <p:nvPr/>
        </p:nvGrpSpPr>
        <p:grpSpPr>
          <a:xfrm>
            <a:off x="4523147" y="3429000"/>
            <a:ext cx="3362324" cy="1265225"/>
            <a:chOff x="8533352" y="270920"/>
            <a:chExt cx="3362324" cy="1265225"/>
          </a:xfrm>
        </p:grpSpPr>
        <p:grpSp>
          <p:nvGrpSpPr>
            <p:cNvPr id="30" name="Gruppo 29">
              <a:extLst>
                <a:ext uri="{FF2B5EF4-FFF2-40B4-BE49-F238E27FC236}">
                  <a16:creationId xmlns:a16="http://schemas.microsoft.com/office/drawing/2014/main" id="{50DEDD24-E93A-9439-9CCE-61C6C7A7FB75}"/>
                </a:ext>
              </a:extLst>
            </p:cNvPr>
            <p:cNvGrpSpPr/>
            <p:nvPr/>
          </p:nvGrpSpPr>
          <p:grpSpPr>
            <a:xfrm>
              <a:off x="8602352" y="270920"/>
              <a:ext cx="3293324" cy="958417"/>
              <a:chOff x="5924549" y="2807338"/>
              <a:chExt cx="3293324" cy="958417"/>
            </a:xfrm>
          </p:grpSpPr>
          <p:grpSp>
            <p:nvGrpSpPr>
              <p:cNvPr id="28" name="Gruppo 27">
                <a:extLst>
                  <a:ext uri="{FF2B5EF4-FFF2-40B4-BE49-F238E27FC236}">
                    <a16:creationId xmlns:a16="http://schemas.microsoft.com/office/drawing/2014/main" id="{3C472766-9623-A0B5-3B36-F34C8B47D5D1}"/>
                  </a:ext>
                </a:extLst>
              </p:cNvPr>
              <p:cNvGrpSpPr/>
              <p:nvPr/>
            </p:nvGrpSpPr>
            <p:grpSpPr>
              <a:xfrm>
                <a:off x="5924549" y="2807338"/>
                <a:ext cx="3215641" cy="958417"/>
                <a:chOff x="5924549" y="2807338"/>
                <a:chExt cx="3215641" cy="958417"/>
              </a:xfrm>
            </p:grpSpPr>
            <p:grpSp>
              <p:nvGrpSpPr>
                <p:cNvPr id="20" name="Gruppo 19">
                  <a:extLst>
                    <a:ext uri="{FF2B5EF4-FFF2-40B4-BE49-F238E27FC236}">
                      <a16:creationId xmlns:a16="http://schemas.microsoft.com/office/drawing/2014/main" id="{61C219C7-372E-DEFB-E285-978037DFC46F}"/>
                    </a:ext>
                  </a:extLst>
                </p:cNvPr>
                <p:cNvGrpSpPr/>
                <p:nvPr/>
              </p:nvGrpSpPr>
              <p:grpSpPr>
                <a:xfrm>
                  <a:off x="6095998" y="2816863"/>
                  <a:ext cx="3044192" cy="948892"/>
                  <a:chOff x="6095998" y="2816863"/>
                  <a:chExt cx="3044192" cy="948892"/>
                </a:xfrm>
              </p:grpSpPr>
              <p:sp>
                <p:nvSpPr>
                  <p:cNvPr id="2" name="Rettangolo 1">
                    <a:extLst>
                      <a:ext uri="{FF2B5EF4-FFF2-40B4-BE49-F238E27FC236}">
                        <a16:creationId xmlns:a16="http://schemas.microsoft.com/office/drawing/2014/main" id="{52CB63BC-4681-A46E-2024-336A817F984E}"/>
                      </a:ext>
                    </a:extLst>
                  </p:cNvPr>
                  <p:cNvSpPr/>
                  <p:nvPr/>
                </p:nvSpPr>
                <p:spPr>
                  <a:xfrm>
                    <a:off x="6567948" y="2939845"/>
                    <a:ext cx="1248697" cy="8259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noProof="0" dirty="0"/>
                      <a:t>F(x)</a:t>
                    </a:r>
                  </a:p>
                </p:txBody>
              </p:sp>
              <p:sp>
                <p:nvSpPr>
                  <p:cNvPr id="3" name="Ovale 2">
                    <a:extLst>
                      <a:ext uri="{FF2B5EF4-FFF2-40B4-BE49-F238E27FC236}">
                        <a16:creationId xmlns:a16="http://schemas.microsoft.com/office/drawing/2014/main" id="{E146F877-32FA-60ED-906B-BC72419ED1B2}"/>
                      </a:ext>
                    </a:extLst>
                  </p:cNvPr>
                  <p:cNvSpPr/>
                  <p:nvPr/>
                </p:nvSpPr>
                <p:spPr>
                  <a:xfrm>
                    <a:off x="8388357" y="3218180"/>
                    <a:ext cx="257804" cy="2576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noProof="0" dirty="0"/>
                      <a:t>+</a:t>
                    </a:r>
                  </a:p>
                </p:txBody>
              </p:sp>
              <p:cxnSp>
                <p:nvCxnSpPr>
                  <p:cNvPr id="8" name="Connettore 2 7">
                    <a:extLst>
                      <a:ext uri="{FF2B5EF4-FFF2-40B4-BE49-F238E27FC236}">
                        <a16:creationId xmlns:a16="http://schemas.microsoft.com/office/drawing/2014/main" id="{873D7DEA-21C7-C99B-0E94-99708870E840}"/>
                      </a:ext>
                    </a:extLst>
                  </p:cNvPr>
                  <p:cNvCxnSpPr>
                    <a:stCxn id="2" idx="3"/>
                    <a:endCxn id="3" idx="2"/>
                  </p:cNvCxnSpPr>
                  <p:nvPr/>
                </p:nvCxnSpPr>
                <p:spPr>
                  <a:xfrm flipV="1">
                    <a:off x="7816645" y="3346982"/>
                    <a:ext cx="571712" cy="58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ttore a gomito 11">
                    <a:extLst>
                      <a:ext uri="{FF2B5EF4-FFF2-40B4-BE49-F238E27FC236}">
                        <a16:creationId xmlns:a16="http://schemas.microsoft.com/office/drawing/2014/main" id="{D9BE3F61-BB79-E08C-3351-63EF74086079}"/>
                      </a:ext>
                    </a:extLst>
                  </p:cNvPr>
                  <p:cNvCxnSpPr>
                    <a:cxnSpLocks/>
                    <a:endCxn id="3" idx="0"/>
                  </p:cNvCxnSpPr>
                  <p:nvPr/>
                </p:nvCxnSpPr>
                <p:spPr>
                  <a:xfrm>
                    <a:off x="6385563" y="2816863"/>
                    <a:ext cx="2131696" cy="40131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ttore 2 13">
                    <a:extLst>
                      <a:ext uri="{FF2B5EF4-FFF2-40B4-BE49-F238E27FC236}">
                        <a16:creationId xmlns:a16="http://schemas.microsoft.com/office/drawing/2014/main" id="{C235F4EE-08C7-4985-8CAD-84AE936F7F92}"/>
                      </a:ext>
                    </a:extLst>
                  </p:cNvPr>
                  <p:cNvCxnSpPr>
                    <a:cxnSpLocks/>
                    <a:endCxn id="2" idx="1"/>
                  </p:cNvCxnSpPr>
                  <p:nvPr/>
                </p:nvCxnSpPr>
                <p:spPr>
                  <a:xfrm>
                    <a:off x="6095998" y="3352800"/>
                    <a:ext cx="4719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ttore 2 17">
                    <a:extLst>
                      <a:ext uri="{FF2B5EF4-FFF2-40B4-BE49-F238E27FC236}">
                        <a16:creationId xmlns:a16="http://schemas.microsoft.com/office/drawing/2014/main" id="{E4C9BEF0-B860-255D-DCF2-1A776A78ED77}"/>
                      </a:ext>
                    </a:extLst>
                  </p:cNvPr>
                  <p:cNvCxnSpPr>
                    <a:stCxn id="3" idx="6"/>
                  </p:cNvCxnSpPr>
                  <p:nvPr/>
                </p:nvCxnSpPr>
                <p:spPr>
                  <a:xfrm>
                    <a:off x="8646161" y="3346982"/>
                    <a:ext cx="4940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1" name="CasellaDiTesto 20">
                  <a:extLst>
                    <a:ext uri="{FF2B5EF4-FFF2-40B4-BE49-F238E27FC236}">
                      <a16:creationId xmlns:a16="http://schemas.microsoft.com/office/drawing/2014/main" id="{DFA318F4-392B-68E5-A046-AC82D456B7ED}"/>
                    </a:ext>
                  </a:extLst>
                </p:cNvPr>
                <p:cNvSpPr txBox="1"/>
                <p:nvPr/>
              </p:nvSpPr>
              <p:spPr>
                <a:xfrm>
                  <a:off x="5924549" y="3162316"/>
                  <a:ext cx="101600" cy="369332"/>
                </a:xfrm>
                <a:prstGeom prst="rect">
                  <a:avLst/>
                </a:prstGeom>
                <a:noFill/>
              </p:spPr>
              <p:txBody>
                <a:bodyPr wrap="square" rtlCol="0">
                  <a:spAutoFit/>
                </a:bodyPr>
                <a:lstStyle/>
                <a:p>
                  <a:r>
                    <a:rPr lang="it-IT" noProof="0" dirty="0"/>
                    <a:t>x</a:t>
                  </a:r>
                </a:p>
              </p:txBody>
            </p:sp>
            <p:cxnSp>
              <p:nvCxnSpPr>
                <p:cNvPr id="25" name="Connettore diritto 24">
                  <a:extLst>
                    <a:ext uri="{FF2B5EF4-FFF2-40B4-BE49-F238E27FC236}">
                      <a16:creationId xmlns:a16="http://schemas.microsoft.com/office/drawing/2014/main" id="{81FC84D7-CBF3-2274-350D-4D27D8B6DBF7}"/>
                    </a:ext>
                  </a:extLst>
                </p:cNvPr>
                <p:cNvCxnSpPr>
                  <a:cxnSpLocks/>
                </p:cNvCxnSpPr>
                <p:nvPr/>
              </p:nvCxnSpPr>
              <p:spPr>
                <a:xfrm>
                  <a:off x="6375400" y="2807338"/>
                  <a:ext cx="0" cy="539644"/>
                </a:xfrm>
                <a:prstGeom prst="line">
                  <a:avLst/>
                </a:prstGeom>
              </p:spPr>
              <p:style>
                <a:lnRef idx="2">
                  <a:schemeClr val="accent1"/>
                </a:lnRef>
                <a:fillRef idx="0">
                  <a:schemeClr val="accent1"/>
                </a:fillRef>
                <a:effectRef idx="1">
                  <a:schemeClr val="accent1"/>
                </a:effectRef>
                <a:fontRef idx="minor">
                  <a:schemeClr val="tx1"/>
                </a:fontRef>
              </p:style>
            </p:cxnSp>
          </p:grpSp>
          <p:sp>
            <p:nvSpPr>
              <p:cNvPr id="29" name="CasellaDiTesto 28">
                <a:extLst>
                  <a:ext uri="{FF2B5EF4-FFF2-40B4-BE49-F238E27FC236}">
                    <a16:creationId xmlns:a16="http://schemas.microsoft.com/office/drawing/2014/main" id="{A7784725-E791-8D5A-5129-5CC0CE5218CD}"/>
                  </a:ext>
                </a:extLst>
              </p:cNvPr>
              <p:cNvSpPr txBox="1"/>
              <p:nvPr/>
            </p:nvSpPr>
            <p:spPr>
              <a:xfrm>
                <a:off x="9116273" y="3162316"/>
                <a:ext cx="101600" cy="369332"/>
              </a:xfrm>
              <a:prstGeom prst="rect">
                <a:avLst/>
              </a:prstGeom>
              <a:noFill/>
            </p:spPr>
            <p:txBody>
              <a:bodyPr wrap="square" rtlCol="0">
                <a:spAutoFit/>
              </a:bodyPr>
              <a:lstStyle/>
              <a:p>
                <a:r>
                  <a:rPr lang="it-IT" noProof="0" dirty="0"/>
                  <a:t>y</a:t>
                </a:r>
              </a:p>
            </p:txBody>
          </p:sp>
        </p:grpSp>
        <p:sp>
          <p:nvSpPr>
            <p:cNvPr id="31" name="CasellaDiTesto 30">
              <a:extLst>
                <a:ext uri="{FF2B5EF4-FFF2-40B4-BE49-F238E27FC236}">
                  <a16:creationId xmlns:a16="http://schemas.microsoft.com/office/drawing/2014/main" id="{CD74F6AC-38C8-7FC4-5877-39099D410F48}"/>
                </a:ext>
              </a:extLst>
            </p:cNvPr>
            <p:cNvSpPr txBox="1"/>
            <p:nvPr/>
          </p:nvSpPr>
          <p:spPr>
            <a:xfrm>
              <a:off x="8533352" y="1268892"/>
              <a:ext cx="3191723" cy="267253"/>
            </a:xfrm>
            <a:prstGeom prst="rect">
              <a:avLst/>
            </a:prstGeom>
            <a:noFill/>
          </p:spPr>
          <p:txBody>
            <a:bodyPr wrap="square" rtlCol="0">
              <a:spAutoFit/>
            </a:bodyPr>
            <a:lstStyle/>
            <a:p>
              <a:pPr algn="ctr">
                <a:lnSpc>
                  <a:spcPct val="107000"/>
                </a:lnSpc>
                <a:spcAft>
                  <a:spcPts val="800"/>
                </a:spcAft>
              </a:pPr>
              <a:r>
                <a:rPr lang="it-IT" sz="1100" kern="100" dirty="0">
                  <a:cs typeface="Arial" panose="020B0604020202020204" pitchFamily="34" charset="0"/>
                </a:rPr>
                <a:t>Residual block diagram</a:t>
              </a:r>
              <a:endParaRPr lang="it-IT" sz="1050" kern="100" noProof="0" dirty="0">
                <a:cs typeface="Arial" panose="020B0604020202020204" pitchFamily="34" charset="0"/>
              </a:endParaRPr>
            </a:p>
          </p:txBody>
        </p:sp>
      </p:grpSp>
    </p:spTree>
    <p:extLst>
      <p:ext uri="{BB962C8B-B14F-4D97-AF65-F5344CB8AC3E}">
        <p14:creationId xmlns:p14="http://schemas.microsoft.com/office/powerpoint/2010/main" val="3699313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654DD-9949-3F52-1FF4-780C90DD381A}"/>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C20622EB-95E2-955A-585D-1266B0989883}"/>
              </a:ext>
            </a:extLst>
          </p:cNvPr>
          <p:cNvSpPr txBox="1"/>
          <p:nvPr/>
        </p:nvSpPr>
        <p:spPr>
          <a:xfrm>
            <a:off x="296326" y="237505"/>
            <a:ext cx="8676224"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dirty="0"/>
              <a:t>Analysis of AID and UC datasets</a:t>
            </a:r>
            <a:endParaRPr lang="it-IT" sz="4067" noProof="0" dirty="0"/>
          </a:p>
        </p:txBody>
      </p:sp>
      <p:sp>
        <p:nvSpPr>
          <p:cNvPr id="2" name="CasellaDiTesto 1">
            <a:extLst>
              <a:ext uri="{FF2B5EF4-FFF2-40B4-BE49-F238E27FC236}">
                <a16:creationId xmlns:a16="http://schemas.microsoft.com/office/drawing/2014/main" id="{7E71875D-5E6E-63C4-406D-9FD604A2B935}"/>
              </a:ext>
            </a:extLst>
          </p:cNvPr>
          <p:cNvSpPr txBox="1"/>
          <p:nvPr/>
        </p:nvSpPr>
        <p:spPr>
          <a:xfrm>
            <a:off x="59871" y="816446"/>
            <a:ext cx="12132129" cy="5805307"/>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AID dataset collects RGB images with dimensions 600x600x3, while the UC dataset collects 256x256x3. It was decided not to use any pre-processing technique (unless scaling) and to reduce the spatial dimension to 224x224x3. 
This choice stems from wanting to reduce the number of parameters of the convolutional backbone to limit the computational load.
In addition, several historical papers, including [1] and [2], employ the same spatial resolution. Therefore, it will be possible to compare the developed method with other works in a coherent way. 
Following [1], a data augmentation technique was employed, albeit less sophisticated. In particular, you flip images horizontally and apply rotations of a few degrees. In the AID dataset, there is a corrupt image that has been removed (railwaystation_7). 
In addition, a certain imbalance between the classes of the AID dataset was noted. This was handled by calculating a weight to be associated with each class which was then used for the calculation of the loss:</a:t>
            </a:r>
          </a:p>
          <a:p>
            <a:pPr marL="285750" indent="-285750">
              <a:lnSpc>
                <a:spcPct val="107000"/>
              </a:lnSpc>
              <a:spcAft>
                <a:spcPts val="800"/>
              </a:spcAft>
              <a:buFont typeface="Courier New" panose="02070309020205020404" pitchFamily="49" charset="0"/>
              <a:buChar char="o"/>
            </a:pPr>
            <a:endParaRPr lang="en-US" sz="1900" kern="100" dirty="0">
              <a:cs typeface="Arial" panose="020B0604020202020204" pitchFamily="34" charset="0"/>
            </a:endParaRPr>
          </a:p>
          <a:p>
            <a:pPr>
              <a:lnSpc>
                <a:spcPct val="107000"/>
              </a:lnSpc>
              <a:spcAft>
                <a:spcPts val="800"/>
              </a:spcAft>
            </a:pPr>
            <a:r>
              <a:rPr lang="en-US" sz="1900" kern="100" dirty="0">
                <a:cs typeface="Arial" panose="020B0604020202020204" pitchFamily="34" charset="0"/>
              </a:rPr>
              <a:t>
The idea is that a class with many champions should have less weight. The same procedure was also used for the UC dataset despite being balanced, this is to avoid complicating the code.</a:t>
            </a:r>
            <a:endParaRPr lang="it-IT" sz="1900" kern="100" noProof="0" dirty="0">
              <a:cs typeface="Arial" panose="020B0604020202020204" pitchFamily="34" charset="0"/>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2C9CDD57-C1CC-AA07-9F67-94C5F9ECB582}"/>
                  </a:ext>
                </a:extLst>
              </p:cNvPr>
              <p:cNvSpPr txBox="1"/>
              <p:nvPr/>
            </p:nvSpPr>
            <p:spPr>
              <a:xfrm flipH="1">
                <a:off x="168463" y="5041278"/>
                <a:ext cx="11914944" cy="899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i="1" kern="100" noProof="0" smtClean="0">
                              <a:latin typeface="Cambria Math" panose="02040503050406030204" pitchFamily="18" charset="0"/>
                              <a:cs typeface="Arial" panose="020B0604020202020204" pitchFamily="34" charset="0"/>
                            </a:rPr>
                          </m:ctrlPr>
                        </m:sSubPr>
                        <m:e>
                          <m:r>
                            <a:rPr lang="it-IT" i="1" kern="100" noProof="0" smtClean="0">
                              <a:latin typeface="Cambria Math" panose="02040503050406030204" pitchFamily="18" charset="0"/>
                              <a:cs typeface="Arial" panose="020B0604020202020204" pitchFamily="34" charset="0"/>
                            </a:rPr>
                            <m:t>𝑤</m:t>
                          </m:r>
                        </m:e>
                        <m:sub>
                          <m:r>
                            <a:rPr lang="it-IT" i="1" kern="100" noProof="0" smtClean="0">
                              <a:latin typeface="Cambria Math" panose="02040503050406030204" pitchFamily="18" charset="0"/>
                              <a:cs typeface="Arial" panose="020B0604020202020204" pitchFamily="34" charset="0"/>
                            </a:rPr>
                            <m:t>𝑖</m:t>
                          </m:r>
                        </m:sub>
                      </m:sSub>
                      <m:r>
                        <a:rPr lang="it-IT" i="1" kern="100" noProof="0" smtClean="0">
                          <a:latin typeface="Cambria Math" panose="02040503050406030204" pitchFamily="18" charset="0"/>
                          <a:cs typeface="Arial" panose="020B0604020202020204" pitchFamily="34" charset="0"/>
                        </a:rPr>
                        <m:t>=</m:t>
                      </m:r>
                      <m:f>
                        <m:fPr>
                          <m:ctrlPr>
                            <a:rPr lang="it-IT" i="1" kern="100" noProof="0" smtClean="0">
                              <a:latin typeface="Cambria Math" panose="02040503050406030204" pitchFamily="18" charset="0"/>
                              <a:cs typeface="Arial" panose="020B0604020202020204" pitchFamily="34" charset="0"/>
                            </a:rPr>
                          </m:ctrlPr>
                        </m:fPr>
                        <m:num>
                          <m:sSub>
                            <m:sSubPr>
                              <m:ctrlPr>
                                <a:rPr lang="it-IT" i="1" kern="100" noProof="0" smtClean="0">
                                  <a:latin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cs typeface="Arial" panose="020B0604020202020204" pitchFamily="34" charset="0"/>
                                </a:rPr>
                                <m:t>𝑁</m:t>
                              </m:r>
                            </m:e>
                            <m:sub>
                              <m:sSub>
                                <m:sSubPr>
                                  <m:ctrlPr>
                                    <a:rPr lang="it-IT" i="1" kern="100" noProof="0" smtClean="0">
                                      <a:latin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cs typeface="Arial" panose="020B0604020202020204" pitchFamily="34" charset="0"/>
                                    </a:rPr>
                                    <m:t>𝑖𝑚𝑔</m:t>
                                  </m:r>
                                </m:e>
                                <m:sub>
                                  <m:r>
                                    <a:rPr lang="it-IT" b="0" i="1" kern="100" noProof="0" smtClean="0">
                                      <a:latin typeface="Cambria Math" panose="02040503050406030204" pitchFamily="18" charset="0"/>
                                      <a:cs typeface="Arial" panose="020B0604020202020204" pitchFamily="34" charset="0"/>
                                    </a:rPr>
                                    <m:t>𝑇</m:t>
                                  </m:r>
                                </m:sub>
                              </m:sSub>
                            </m:sub>
                          </m:sSub>
                        </m:num>
                        <m:den>
                          <m:sSub>
                            <m:sSubPr>
                              <m:ctrlPr>
                                <a:rPr lang="it-IT" i="1" kern="100" noProof="0" smtClean="0">
                                  <a:latin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cs typeface="Arial" panose="020B0604020202020204" pitchFamily="34" charset="0"/>
                                </a:rPr>
                                <m:t>𝑁</m:t>
                              </m:r>
                            </m:e>
                            <m:sub>
                              <m:r>
                                <a:rPr lang="it-IT" b="0" i="1" kern="100" noProof="0" smtClean="0">
                                  <a:latin typeface="Cambria Math" panose="02040503050406030204" pitchFamily="18" charset="0"/>
                                  <a:cs typeface="Arial" panose="020B0604020202020204" pitchFamily="34" charset="0"/>
                                </a:rPr>
                                <m:t>𝑐</m:t>
                              </m:r>
                            </m:sub>
                          </m:sSub>
                          <m:r>
                            <a:rPr lang="it-IT" i="1" kern="100" noProof="0" smtClean="0">
                              <a:latin typeface="Cambria Math" panose="02040503050406030204" pitchFamily="18" charset="0"/>
                              <a:ea typeface="Cambria Math" panose="02040503050406030204" pitchFamily="18" charset="0"/>
                              <a:cs typeface="Arial" panose="020B0604020202020204" pitchFamily="34" charset="0"/>
                            </a:rPr>
                            <m:t>∙</m:t>
                          </m:r>
                          <m:sSub>
                            <m:sSubPr>
                              <m:ctrlPr>
                                <a:rPr lang="it-IT" i="1" kern="100" noProof="0" smtClean="0">
                                  <a:latin typeface="Cambria Math" panose="02040503050406030204" pitchFamily="18" charset="0"/>
                                  <a:ea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ea typeface="Cambria Math" panose="02040503050406030204" pitchFamily="18" charset="0"/>
                                  <a:cs typeface="Arial" panose="020B0604020202020204" pitchFamily="34" charset="0"/>
                                </a:rPr>
                                <m:t>𝑁</m:t>
                              </m:r>
                            </m:e>
                            <m:sub>
                              <m:sSub>
                                <m:sSubPr>
                                  <m:ctrlPr>
                                    <a:rPr lang="it-IT" i="1" kern="100" noProof="0" smtClean="0">
                                      <a:latin typeface="Cambria Math" panose="02040503050406030204" pitchFamily="18" charset="0"/>
                                      <a:ea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ea typeface="Cambria Math" panose="02040503050406030204" pitchFamily="18" charset="0"/>
                                      <a:cs typeface="Arial" panose="020B0604020202020204" pitchFamily="34" charset="0"/>
                                    </a:rPr>
                                    <m:t>𝑖𝑚𝑔</m:t>
                                  </m:r>
                                </m:e>
                                <m:sub>
                                  <m:sSub>
                                    <m:sSubPr>
                                      <m:ctrlPr>
                                        <a:rPr lang="it-IT" i="1" kern="100" noProof="0" smtClean="0">
                                          <a:latin typeface="Cambria Math" panose="02040503050406030204" pitchFamily="18" charset="0"/>
                                          <a:ea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ea typeface="Cambria Math" panose="02040503050406030204" pitchFamily="18" charset="0"/>
                                          <a:cs typeface="Arial" panose="020B0604020202020204" pitchFamily="34" charset="0"/>
                                        </a:rPr>
                                        <m:t>𝑐</m:t>
                                      </m:r>
                                    </m:e>
                                    <m:sub>
                                      <m:r>
                                        <a:rPr lang="it-IT" b="0" i="1" kern="100" noProof="0" smtClean="0">
                                          <a:latin typeface="Cambria Math" panose="02040503050406030204" pitchFamily="18" charset="0"/>
                                          <a:ea typeface="Cambria Math" panose="02040503050406030204" pitchFamily="18" charset="0"/>
                                          <a:cs typeface="Arial" panose="020B0604020202020204" pitchFamily="34" charset="0"/>
                                        </a:rPr>
                                        <m:t>𝑖</m:t>
                                      </m:r>
                                    </m:sub>
                                  </m:sSub>
                                </m:sub>
                              </m:sSub>
                            </m:sub>
                          </m:sSub>
                        </m:den>
                      </m:f>
                      <m:r>
                        <a:rPr lang="it-IT" b="0" i="1" kern="100" noProof="0" smtClean="0">
                          <a:latin typeface="Cambria Math" panose="02040503050406030204" pitchFamily="18" charset="0"/>
                          <a:ea typeface="Cambria Math" panose="02040503050406030204" pitchFamily="18" charset="0"/>
                          <a:cs typeface="Arial" panose="020B0604020202020204" pitchFamily="34" charset="0"/>
                        </a:rPr>
                        <m:t>,</m:t>
                      </m:r>
                      <m:r>
                        <a:rPr lang="it-IT" i="1" kern="100" noProof="0" smtClean="0">
                          <a:latin typeface="Cambria Math" panose="02040503050406030204" pitchFamily="18" charset="0"/>
                          <a:cs typeface="Arial" panose="020B0604020202020204" pitchFamily="34" charset="0"/>
                        </a:rPr>
                        <m:t>  </m:t>
                      </m:r>
                      <m:r>
                        <a:rPr lang="it-IT" i="1" kern="100" noProof="0" smtClean="0">
                          <a:latin typeface="Cambria Math" panose="02040503050406030204" pitchFamily="18" charset="0"/>
                          <a:cs typeface="Arial" panose="020B0604020202020204" pitchFamily="34" charset="0"/>
                        </a:rPr>
                        <m:t>𝐿𝑜𝑠𝑠</m:t>
                      </m:r>
                      <m:r>
                        <a:rPr lang="it-IT" i="1" kern="100" noProof="0" smtClean="0">
                          <a:latin typeface="Cambria Math" panose="02040503050406030204" pitchFamily="18" charset="0"/>
                          <a:cs typeface="Arial" panose="020B0604020202020204" pitchFamily="34" charset="0"/>
                        </a:rPr>
                        <m:t>=−</m:t>
                      </m:r>
                      <m:nary>
                        <m:naryPr>
                          <m:chr m:val="∑"/>
                          <m:ctrlPr>
                            <a:rPr lang="it-IT" i="1" kern="100" noProof="0" smtClean="0">
                              <a:latin typeface="Cambria Math" panose="02040503050406030204" pitchFamily="18" charset="0"/>
                              <a:cs typeface="Arial" panose="020B0604020202020204" pitchFamily="34" charset="0"/>
                            </a:rPr>
                          </m:ctrlPr>
                        </m:naryPr>
                        <m:sub>
                          <m:r>
                            <m:rPr>
                              <m:brk m:alnAt="23"/>
                            </m:rPr>
                            <a:rPr lang="it-IT" i="1" kern="100" noProof="0" smtClean="0">
                              <a:latin typeface="Cambria Math" panose="02040503050406030204" pitchFamily="18" charset="0"/>
                              <a:cs typeface="Arial" panose="020B0604020202020204" pitchFamily="34" charset="0"/>
                            </a:rPr>
                            <m:t>𝑖</m:t>
                          </m:r>
                          <m:r>
                            <a:rPr lang="it-IT" i="1" kern="100" noProof="0" smtClean="0">
                              <a:latin typeface="Cambria Math" panose="02040503050406030204" pitchFamily="18" charset="0"/>
                              <a:cs typeface="Arial" panose="020B0604020202020204" pitchFamily="34" charset="0"/>
                            </a:rPr>
                            <m:t>=1</m:t>
                          </m:r>
                        </m:sub>
                        <m:sup>
                          <m:sSub>
                            <m:sSubPr>
                              <m:ctrlPr>
                                <a:rPr lang="it-IT" i="1" kern="100" noProof="0" smtClean="0">
                                  <a:latin typeface="Cambria Math" panose="02040503050406030204" pitchFamily="18" charset="0"/>
                                  <a:cs typeface="Arial" panose="020B0604020202020204" pitchFamily="34" charset="0"/>
                                </a:rPr>
                              </m:ctrlPr>
                            </m:sSubPr>
                            <m:e>
                              <m:r>
                                <a:rPr lang="it-IT" b="0" i="1" kern="100" noProof="0" smtClean="0">
                                  <a:latin typeface="Cambria Math" panose="02040503050406030204" pitchFamily="18" charset="0"/>
                                  <a:cs typeface="Arial" panose="020B0604020202020204" pitchFamily="34" charset="0"/>
                                </a:rPr>
                                <m:t>𝑁</m:t>
                              </m:r>
                            </m:e>
                            <m:sub>
                              <m:r>
                                <a:rPr lang="it-IT" b="0" i="1" kern="100" noProof="0" smtClean="0">
                                  <a:latin typeface="Cambria Math" panose="02040503050406030204" pitchFamily="18" charset="0"/>
                                  <a:cs typeface="Arial" panose="020B0604020202020204" pitchFamily="34" charset="0"/>
                                </a:rPr>
                                <m:t>𝑐</m:t>
                              </m:r>
                            </m:sub>
                          </m:sSub>
                        </m:sup>
                        <m:e>
                          <m:sSub>
                            <m:sSubPr>
                              <m:ctrlPr>
                                <a:rPr lang="it-IT" i="1" kern="100" noProof="0" smtClean="0">
                                  <a:latin typeface="Cambria Math" panose="02040503050406030204" pitchFamily="18" charset="0"/>
                                  <a:cs typeface="Arial" panose="020B0604020202020204" pitchFamily="34" charset="0"/>
                                </a:rPr>
                              </m:ctrlPr>
                            </m:sSubPr>
                            <m:e>
                              <m:r>
                                <a:rPr lang="it-IT" i="1" kern="100" noProof="0" smtClean="0">
                                  <a:latin typeface="Cambria Math" panose="02040503050406030204" pitchFamily="18" charset="0"/>
                                  <a:cs typeface="Arial" panose="020B0604020202020204" pitchFamily="34" charset="0"/>
                                </a:rPr>
                                <m:t>𝑤</m:t>
                              </m:r>
                            </m:e>
                            <m:sub>
                              <m:r>
                                <a:rPr lang="it-IT" i="1" kern="100" noProof="0" smtClean="0">
                                  <a:latin typeface="Cambria Math" panose="02040503050406030204" pitchFamily="18" charset="0"/>
                                  <a:cs typeface="Arial" panose="020B0604020202020204" pitchFamily="34" charset="0"/>
                                </a:rPr>
                                <m:t>𝑖</m:t>
                              </m:r>
                            </m:sub>
                          </m:sSub>
                          <m:sSub>
                            <m:sSubPr>
                              <m:ctrlPr>
                                <a:rPr lang="it-IT" i="1" kern="100" noProof="0" smtClean="0">
                                  <a:latin typeface="Cambria Math" panose="02040503050406030204" pitchFamily="18" charset="0"/>
                                  <a:cs typeface="Arial" panose="020B0604020202020204" pitchFamily="34" charset="0"/>
                                </a:rPr>
                              </m:ctrlPr>
                            </m:sSubPr>
                            <m:e>
                              <m:r>
                                <a:rPr lang="it-IT" i="1" kern="100" noProof="0" smtClean="0">
                                  <a:latin typeface="Cambria Math" panose="02040503050406030204" pitchFamily="18" charset="0"/>
                                  <a:ea typeface="Cambria Math" panose="02040503050406030204" pitchFamily="18" charset="0"/>
                                  <a:cs typeface="Arial" panose="020B0604020202020204" pitchFamily="34" charset="0"/>
                                </a:rPr>
                                <m:t>∙</m:t>
                              </m:r>
                              <m:r>
                                <a:rPr lang="it-IT" i="1" kern="100" noProof="0" smtClean="0">
                                  <a:latin typeface="Cambria Math" panose="02040503050406030204" pitchFamily="18" charset="0"/>
                                  <a:cs typeface="Arial" panose="020B0604020202020204" pitchFamily="34" charset="0"/>
                                </a:rPr>
                                <m:t>𝑦</m:t>
                              </m:r>
                            </m:e>
                            <m:sub>
                              <m:r>
                                <a:rPr lang="it-IT" i="1" kern="100" noProof="0" smtClean="0">
                                  <a:latin typeface="Cambria Math" panose="02040503050406030204" pitchFamily="18" charset="0"/>
                                  <a:cs typeface="Arial" panose="020B0604020202020204" pitchFamily="34" charset="0"/>
                                </a:rPr>
                                <m:t>𝑖</m:t>
                              </m:r>
                            </m:sub>
                          </m:sSub>
                          <m:r>
                            <a:rPr lang="it-IT" i="1" kern="100" noProof="0" smtClean="0">
                              <a:latin typeface="Cambria Math" panose="02040503050406030204" pitchFamily="18" charset="0"/>
                              <a:ea typeface="Cambria Math" panose="02040503050406030204" pitchFamily="18" charset="0"/>
                              <a:cs typeface="Arial" panose="020B0604020202020204" pitchFamily="34" charset="0"/>
                            </a:rPr>
                            <m:t>∙</m:t>
                          </m:r>
                          <m:func>
                            <m:funcPr>
                              <m:ctrlPr>
                                <a:rPr lang="it-IT" i="1" kern="100" noProof="0" smtClean="0">
                                  <a:latin typeface="Cambria Math" panose="02040503050406030204" pitchFamily="18" charset="0"/>
                                  <a:cs typeface="Arial" panose="020B0604020202020204" pitchFamily="34" charset="0"/>
                                </a:rPr>
                              </m:ctrlPr>
                            </m:funcPr>
                            <m:fName>
                              <m:r>
                                <m:rPr>
                                  <m:sty m:val="p"/>
                                </m:rPr>
                                <a:rPr lang="it-IT" kern="100" noProof="0" smtClean="0">
                                  <a:latin typeface="Cambria Math" panose="02040503050406030204" pitchFamily="18" charset="0"/>
                                  <a:cs typeface="Arial" panose="020B0604020202020204" pitchFamily="34" charset="0"/>
                                </a:rPr>
                                <m:t>log</m:t>
                              </m:r>
                            </m:fName>
                            <m:e>
                              <m:d>
                                <m:dPr>
                                  <m:ctrlPr>
                                    <a:rPr lang="it-IT" i="1" kern="100" noProof="0" smtClean="0">
                                      <a:latin typeface="Cambria Math" panose="02040503050406030204" pitchFamily="18" charset="0"/>
                                      <a:cs typeface="Arial" panose="020B0604020202020204" pitchFamily="34" charset="0"/>
                                    </a:rPr>
                                  </m:ctrlPr>
                                </m:dPr>
                                <m:e>
                                  <m:sSub>
                                    <m:sSubPr>
                                      <m:ctrlPr>
                                        <a:rPr lang="it-IT" i="1" kern="100" noProof="0" smtClean="0">
                                          <a:latin typeface="Cambria Math" panose="02040503050406030204" pitchFamily="18" charset="0"/>
                                          <a:cs typeface="Arial" panose="020B0604020202020204" pitchFamily="34" charset="0"/>
                                        </a:rPr>
                                      </m:ctrlPr>
                                    </m:sSubPr>
                                    <m:e>
                                      <m:acc>
                                        <m:accPr>
                                          <m:chr m:val="̂"/>
                                          <m:ctrlPr>
                                            <a:rPr lang="it-IT" i="1" kern="100" noProof="0" smtClean="0">
                                              <a:latin typeface="Cambria Math" panose="02040503050406030204" pitchFamily="18" charset="0"/>
                                            </a:rPr>
                                          </m:ctrlPr>
                                        </m:accPr>
                                        <m:e>
                                          <m:r>
                                            <a:rPr lang="it-IT" i="1" kern="100" noProof="0" smtClean="0">
                                              <a:latin typeface="Cambria Math" panose="02040503050406030204" pitchFamily="18" charset="0"/>
                                            </a:rPr>
                                            <m:t>𝑦</m:t>
                                          </m:r>
                                        </m:e>
                                      </m:acc>
                                    </m:e>
                                    <m:sub>
                                      <m:r>
                                        <a:rPr lang="it-IT" i="1" kern="100" noProof="0" smtClean="0">
                                          <a:latin typeface="Cambria Math" panose="02040503050406030204" pitchFamily="18" charset="0"/>
                                          <a:cs typeface="Arial" panose="020B0604020202020204" pitchFamily="34" charset="0"/>
                                        </a:rPr>
                                        <m:t>𝑖</m:t>
                                      </m:r>
                                    </m:sub>
                                  </m:sSub>
                                </m:e>
                              </m:d>
                            </m:e>
                          </m:func>
                        </m:e>
                      </m:nary>
                    </m:oMath>
                  </m:oMathPara>
                </a14:m>
                <a:endParaRPr lang="it-IT" noProof="0" dirty="0"/>
              </a:p>
            </p:txBody>
          </p:sp>
        </mc:Choice>
        <mc:Fallback xmlns="">
          <p:sp>
            <p:nvSpPr>
              <p:cNvPr id="6" name="CasellaDiTesto 5">
                <a:extLst>
                  <a:ext uri="{FF2B5EF4-FFF2-40B4-BE49-F238E27FC236}">
                    <a16:creationId xmlns:a16="http://schemas.microsoft.com/office/drawing/2014/main" id="{2C9CDD57-C1CC-AA07-9F67-94C5F9ECB582}"/>
                  </a:ext>
                </a:extLst>
              </p:cNvPr>
              <p:cNvSpPr txBox="1">
                <a:spLocks noRot="1" noChangeAspect="1" noMove="1" noResize="1" noEditPoints="1" noAdjustHandles="1" noChangeArrowheads="1" noChangeShapeType="1" noTextEdit="1"/>
              </p:cNvSpPr>
              <p:nvPr/>
            </p:nvSpPr>
            <p:spPr>
              <a:xfrm flipH="1">
                <a:off x="168463" y="5041278"/>
                <a:ext cx="11914944" cy="899605"/>
              </a:xfrm>
              <a:prstGeom prst="rect">
                <a:avLst/>
              </a:prstGeom>
              <a:blipFill>
                <a:blip r:embed="rId3"/>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2579968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C8E76-80D0-54D7-4ED1-F3158578B6F7}"/>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756E772C-ABEA-61D3-5EEE-E4CF406B7717}"/>
              </a:ext>
            </a:extLst>
          </p:cNvPr>
          <p:cNvSpPr txBox="1"/>
          <p:nvPr/>
        </p:nvSpPr>
        <p:spPr>
          <a:xfrm>
            <a:off x="277058" y="80190"/>
            <a:ext cx="1106976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a:t>Models and implementation choices</a:t>
            </a:r>
            <a:endParaRPr lang="it-IT" sz="4067" noProof="0" dirty="0"/>
          </a:p>
        </p:txBody>
      </p:sp>
      <p:sp>
        <p:nvSpPr>
          <p:cNvPr id="5" name="CasellaDiTesto 4">
            <a:extLst>
              <a:ext uri="{FF2B5EF4-FFF2-40B4-BE49-F238E27FC236}">
                <a16:creationId xmlns:a16="http://schemas.microsoft.com/office/drawing/2014/main" id="{63E001FF-F7D9-934F-B6DF-CD7C3777146C}"/>
              </a:ext>
            </a:extLst>
          </p:cNvPr>
          <p:cNvSpPr txBox="1"/>
          <p:nvPr/>
        </p:nvSpPr>
        <p:spPr>
          <a:xfrm>
            <a:off x="0" y="534666"/>
            <a:ext cx="11914942" cy="6323334"/>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architecture of the proposed model consists of a convolutional residual network, for feature extraction, followed by a multi-layer perceptron (MLP) to perform classification.</a:t>
            </a:r>
          </a:p>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Below are the two strategies in detail:</a:t>
            </a:r>
          </a:p>
          <a:p>
            <a:pPr marL="800100" lvl="1" indent="-342900">
              <a:lnSpc>
                <a:spcPct val="107000"/>
              </a:lnSpc>
              <a:spcAft>
                <a:spcPts val="800"/>
              </a:spcAft>
              <a:buFont typeface="Wingdings" panose="05000000000000000000" pitchFamily="2" charset="2"/>
              <a:buChar char="§"/>
            </a:pPr>
            <a:r>
              <a:rPr lang="it-IT" sz="1900" kern="100" dirty="0">
                <a:cs typeface="Arial" panose="020B0604020202020204" pitchFamily="34" charset="0"/>
              </a:rPr>
              <a:t>First strategy:</a:t>
            </a:r>
          </a:p>
          <a:p>
            <a:pPr lvl="2">
              <a:lnSpc>
                <a:spcPct val="107000"/>
              </a:lnSpc>
              <a:spcAft>
                <a:spcPts val="800"/>
              </a:spcAft>
            </a:pPr>
            <a:r>
              <a:rPr lang="en-US" sz="1900" kern="100" dirty="0">
                <a:cs typeface="Arial" panose="020B0604020202020204" pitchFamily="34" charset="0"/>
              </a:rPr>
              <a:t>For pre-training, the convolutional backbone is considered followed by an MLP with 30 neurons in the last layer, this is due to the classes of the AID dataset.</a:t>
            </a:r>
            <a:br>
              <a:rPr lang="en-US" sz="1900" kern="100" dirty="0">
                <a:cs typeface="Arial" panose="020B0604020202020204" pitchFamily="34" charset="0"/>
              </a:rPr>
            </a:br>
            <a:r>
              <a:rPr lang="en-US" sz="1900" kern="100" dirty="0">
                <a:cs typeface="Arial" panose="020B0604020202020204" pitchFamily="34" charset="0"/>
              </a:rPr>
              <a:t>For fine-tuning, the convolutional block is frozen and the last layer of the MLP is replaced with one with 21 neurons, this because of the classes of the UC dataset. Then only the MLP classifier layers will be trained.</a:t>
            </a:r>
          </a:p>
          <a:p>
            <a:pPr marL="800100" lvl="1" indent="-342900">
              <a:lnSpc>
                <a:spcPct val="107000"/>
              </a:lnSpc>
              <a:spcAft>
                <a:spcPts val="800"/>
              </a:spcAft>
              <a:buFont typeface="Wingdings" panose="05000000000000000000" pitchFamily="2" charset="2"/>
              <a:buChar char="§"/>
            </a:pPr>
            <a:r>
              <a:rPr lang="en-US" sz="1900" kern="100" dirty="0">
                <a:cs typeface="Arial" panose="020B0604020202020204" pitchFamily="34" charset="0"/>
              </a:rPr>
              <a:t>Second strategy:</a:t>
            </a:r>
          </a:p>
          <a:p>
            <a:pPr lvl="2">
              <a:lnSpc>
                <a:spcPct val="107000"/>
              </a:lnSpc>
              <a:spcAft>
                <a:spcPts val="800"/>
              </a:spcAft>
            </a:pPr>
            <a:r>
              <a:rPr lang="en-US" sz="1900" kern="100" dirty="0">
                <a:cs typeface="Arial" panose="020B0604020202020204" pitchFamily="34" charset="0"/>
              </a:rPr>
              <a:t>We consider the convolutional backbone followed by an MLP with 21 neurons in the last layer, this is due to the classes of the UC dataset. Then you train both the backbone and the dense layers.</a:t>
            </a:r>
          </a:p>
          <a:p>
            <a:pPr marL="342900" indent="-342900">
              <a:lnSpc>
                <a:spcPct val="107000"/>
              </a:lnSpc>
              <a:spcAft>
                <a:spcPts val="800"/>
              </a:spcAft>
              <a:buFont typeface="Courier New" panose="02070309020205020404" pitchFamily="49" charset="0"/>
              <a:buChar char="o"/>
            </a:pPr>
            <a:r>
              <a:rPr lang="it-IT" sz="1900" kern="100" noProof="0" dirty="0">
                <a:cs typeface="Arial" panose="020B0604020202020204" pitchFamily="34" charset="0"/>
              </a:rPr>
              <a:t>Note that: </a:t>
            </a:r>
          </a:p>
          <a:p>
            <a:pPr marL="800100" lvl="1" indent="-342900">
              <a:lnSpc>
                <a:spcPct val="107000"/>
              </a:lnSpc>
              <a:spcAft>
                <a:spcPts val="800"/>
              </a:spcAft>
              <a:buFont typeface="Wingdings" panose="05000000000000000000" pitchFamily="2" charset="2"/>
              <a:buChar char="§"/>
            </a:pPr>
            <a:r>
              <a:rPr lang="en-US" sz="1900" kern="100" dirty="0">
                <a:cs typeface="Arial" panose="020B0604020202020204" pitchFamily="34" charset="0"/>
              </a:rPr>
              <a:t>The convolutional backbone is structurally the same for both strategies.
Considering [5], 16 images were chosen as the batch size.
Early stopping, progressive learning rate reduction and saving metrics for each era have been implemented.</a:t>
            </a:r>
            <a:endParaRPr lang="it-IT" sz="1900" kern="100" noProof="0" dirty="0">
              <a:cs typeface="Arial" panose="020B0604020202020204" pitchFamily="34" charset="0"/>
            </a:endParaRPr>
          </a:p>
        </p:txBody>
      </p:sp>
    </p:spTree>
    <p:extLst>
      <p:ext uri="{BB962C8B-B14F-4D97-AF65-F5344CB8AC3E}">
        <p14:creationId xmlns:p14="http://schemas.microsoft.com/office/powerpoint/2010/main" val="97037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38624-0905-B8D9-9D0A-FF5A1A826B0D}"/>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717AD440-9041-1781-04FE-EF615A394939}"/>
              </a:ext>
            </a:extLst>
          </p:cNvPr>
          <p:cNvPicPr>
            <a:picLocks noChangeAspect="1"/>
          </p:cNvPicPr>
          <p:nvPr/>
        </p:nvPicPr>
        <p:blipFill>
          <a:blip r:embed="rId2">
            <a:extLst>
              <a:ext uri="{28A0092B-C50C-407E-A947-70E740481C1C}">
                <a14:useLocalDpi xmlns:a14="http://schemas.microsoft.com/office/drawing/2010/main" val="0"/>
              </a:ext>
            </a:extLst>
          </a:blip>
          <a:srcRect t="4806" b="4193"/>
          <a:stretch>
            <a:fillRect/>
          </a:stretch>
        </p:blipFill>
        <p:spPr>
          <a:xfrm>
            <a:off x="0" y="585216"/>
            <a:ext cx="10278865" cy="4737400"/>
          </a:xfrm>
          <a:prstGeom prst="rect">
            <a:avLst/>
          </a:prstGeom>
        </p:spPr>
      </p:pic>
      <p:sp>
        <p:nvSpPr>
          <p:cNvPr id="7" name="TextBox 2">
            <a:extLst>
              <a:ext uri="{FF2B5EF4-FFF2-40B4-BE49-F238E27FC236}">
                <a16:creationId xmlns:a16="http://schemas.microsoft.com/office/drawing/2014/main" id="{9719239E-093C-1AC6-068D-DB6833A00A33}"/>
              </a:ext>
            </a:extLst>
          </p:cNvPr>
          <p:cNvSpPr txBox="1"/>
          <p:nvPr/>
        </p:nvSpPr>
        <p:spPr>
          <a:xfrm>
            <a:off x="296325" y="137031"/>
            <a:ext cx="7038540"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a:t>Backbone architecture</a:t>
            </a:r>
            <a:endParaRPr lang="it-IT" sz="4067" noProof="0" dirty="0"/>
          </a:p>
        </p:txBody>
      </p:sp>
      <p:sp>
        <p:nvSpPr>
          <p:cNvPr id="5" name="CasellaDiTesto 4">
            <a:extLst>
              <a:ext uri="{FF2B5EF4-FFF2-40B4-BE49-F238E27FC236}">
                <a16:creationId xmlns:a16="http://schemas.microsoft.com/office/drawing/2014/main" id="{42082B50-0232-35E0-C466-83AF93FF3045}"/>
              </a:ext>
            </a:extLst>
          </p:cNvPr>
          <p:cNvSpPr txBox="1"/>
          <p:nvPr/>
        </p:nvSpPr>
        <p:spPr>
          <a:xfrm>
            <a:off x="0" y="5255504"/>
            <a:ext cx="12260826" cy="1564018"/>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Initially, scaling is applied as reported in [3]. Next, the first convolutional block has a dual purpose: to replace the classic explicit pre-processing techniques by applying learned filters, but also to reduce the spatial resolution. In this way, the rest of the network focuses on the macroscopic details, while here the finer details are analyzed. The structure takes its cue from the graphs shown in [4], as well as doubling the kernels after halving the spatial resolution of the maps. The residual blocks follow an hourglass structure to reduce the number of parameters.</a:t>
            </a:r>
            <a:endParaRPr lang="it-IT" kern="100" noProof="0" dirty="0">
              <a:cs typeface="Arial" panose="020B0604020202020204" pitchFamily="34" charset="0"/>
            </a:endParaRPr>
          </a:p>
        </p:txBody>
      </p:sp>
      <p:sp>
        <p:nvSpPr>
          <p:cNvPr id="12" name="CasellaDiTesto 11">
            <a:extLst>
              <a:ext uri="{FF2B5EF4-FFF2-40B4-BE49-F238E27FC236}">
                <a16:creationId xmlns:a16="http://schemas.microsoft.com/office/drawing/2014/main" id="{2FB27B41-06FC-7ED6-6CC2-3468EABA73A2}"/>
              </a:ext>
            </a:extLst>
          </p:cNvPr>
          <p:cNvSpPr txBox="1"/>
          <p:nvPr/>
        </p:nvSpPr>
        <p:spPr>
          <a:xfrm>
            <a:off x="8035511" y="188750"/>
            <a:ext cx="1907142" cy="307777"/>
          </a:xfrm>
          <a:prstGeom prst="rect">
            <a:avLst/>
          </a:prstGeom>
          <a:noFill/>
          <a:ln>
            <a:solidFill>
              <a:schemeClr val="tx1"/>
            </a:solidFill>
          </a:ln>
        </p:spPr>
        <p:txBody>
          <a:bodyPr wrap="square">
            <a:spAutoFit/>
          </a:bodyPr>
          <a:lstStyle/>
          <a:p>
            <a:r>
              <a:rPr lang="it-IT" sz="1400" noProof="0" dirty="0"/>
              <a:t>projection shortcut [4]</a:t>
            </a:r>
          </a:p>
        </p:txBody>
      </p:sp>
      <p:cxnSp>
        <p:nvCxnSpPr>
          <p:cNvPr id="14" name="Connettore curvo 13">
            <a:extLst>
              <a:ext uri="{FF2B5EF4-FFF2-40B4-BE49-F238E27FC236}">
                <a16:creationId xmlns:a16="http://schemas.microsoft.com/office/drawing/2014/main" id="{6CBCC5F8-3C7D-593C-D0B7-F64AA0DF16B9}"/>
              </a:ext>
            </a:extLst>
          </p:cNvPr>
          <p:cNvCxnSpPr>
            <a:cxnSpLocks/>
          </p:cNvCxnSpPr>
          <p:nvPr/>
        </p:nvCxnSpPr>
        <p:spPr>
          <a:xfrm rot="5400000" flipH="1" flipV="1">
            <a:off x="7243425" y="340754"/>
            <a:ext cx="779406" cy="767936"/>
          </a:xfrm>
          <a:prstGeom prst="curvedConnector2">
            <a:avLst/>
          </a:prstGeom>
          <a:ln w="3175">
            <a:tailEnd type="triangle"/>
          </a:ln>
        </p:spPr>
        <p:style>
          <a:lnRef idx="3">
            <a:schemeClr val="accent2"/>
          </a:lnRef>
          <a:fillRef idx="0">
            <a:schemeClr val="accent2"/>
          </a:fillRef>
          <a:effectRef idx="2">
            <a:schemeClr val="accent2"/>
          </a:effectRef>
          <a:fontRef idx="minor">
            <a:schemeClr val="tx1"/>
          </a:fontRef>
        </p:style>
      </p:cxnSp>
      <p:cxnSp>
        <p:nvCxnSpPr>
          <p:cNvPr id="16" name="Connettore curvo 15">
            <a:extLst>
              <a:ext uri="{FF2B5EF4-FFF2-40B4-BE49-F238E27FC236}">
                <a16:creationId xmlns:a16="http://schemas.microsoft.com/office/drawing/2014/main" id="{51A73606-F74D-8C6D-7533-4D4094880801}"/>
              </a:ext>
            </a:extLst>
          </p:cNvPr>
          <p:cNvCxnSpPr>
            <a:cxnSpLocks/>
            <a:endCxn id="12" idx="2"/>
          </p:cNvCxnSpPr>
          <p:nvPr/>
        </p:nvCxnSpPr>
        <p:spPr>
          <a:xfrm flipV="1">
            <a:off x="8495071" y="496527"/>
            <a:ext cx="494011" cy="317999"/>
          </a:xfrm>
          <a:prstGeom prst="curvedConnector2">
            <a:avLst/>
          </a:prstGeom>
          <a:ln w="3175">
            <a:tailEnd type="triangle"/>
          </a:ln>
        </p:spPr>
        <p:style>
          <a:lnRef idx="2">
            <a:schemeClr val="accent2"/>
          </a:lnRef>
          <a:fillRef idx="0">
            <a:schemeClr val="accent2"/>
          </a:fillRef>
          <a:effectRef idx="1">
            <a:schemeClr val="accent2"/>
          </a:effectRef>
          <a:fontRef idx="minor">
            <a:schemeClr val="tx1"/>
          </a:fontRef>
        </p:style>
      </p:cxnSp>
      <p:pic>
        <p:nvPicPr>
          <p:cNvPr id="26" name="Immagine 25">
            <a:extLst>
              <a:ext uri="{FF2B5EF4-FFF2-40B4-BE49-F238E27FC236}">
                <a16:creationId xmlns:a16="http://schemas.microsoft.com/office/drawing/2014/main" id="{81D641F5-DDDD-5180-29D4-8C3E976B1659}"/>
              </a:ext>
            </a:extLst>
          </p:cNvPr>
          <p:cNvPicPr>
            <a:picLocks noChangeAspect="1"/>
          </p:cNvPicPr>
          <p:nvPr/>
        </p:nvPicPr>
        <p:blipFill>
          <a:blip r:embed="rId3"/>
          <a:srcRect t="26243" r="45515"/>
          <a:stretch>
            <a:fillRect/>
          </a:stretch>
        </p:blipFill>
        <p:spPr>
          <a:xfrm>
            <a:off x="7118909" y="838692"/>
            <a:ext cx="340471" cy="242713"/>
          </a:xfrm>
          <a:prstGeom prst="rect">
            <a:avLst/>
          </a:prstGeom>
        </p:spPr>
      </p:pic>
      <p:sp>
        <p:nvSpPr>
          <p:cNvPr id="2" name="CasellaDiTesto 1">
            <a:extLst>
              <a:ext uri="{FF2B5EF4-FFF2-40B4-BE49-F238E27FC236}">
                <a16:creationId xmlns:a16="http://schemas.microsoft.com/office/drawing/2014/main" id="{91E22C3F-0AEB-E724-EE2B-43FD036B3326}"/>
              </a:ext>
            </a:extLst>
          </p:cNvPr>
          <p:cNvSpPr txBox="1"/>
          <p:nvPr/>
        </p:nvSpPr>
        <p:spPr>
          <a:xfrm>
            <a:off x="10278865" y="1671566"/>
            <a:ext cx="1741347" cy="954107"/>
          </a:xfrm>
          <a:prstGeom prst="rect">
            <a:avLst/>
          </a:prstGeom>
          <a:noFill/>
          <a:ln>
            <a:solidFill>
              <a:schemeClr val="tx1"/>
            </a:solidFill>
          </a:ln>
        </p:spPr>
        <p:txBody>
          <a:bodyPr wrap="square">
            <a:spAutoFit/>
          </a:bodyPr>
          <a:lstStyle/>
          <a:p>
            <a:r>
              <a:rPr lang="en-US" sz="1400" dirty="0"/>
              <a:t>Batch normalization and ReLU were employed after each convolution.</a:t>
            </a:r>
            <a:endParaRPr lang="it-IT" sz="1400" noProof="0" dirty="0"/>
          </a:p>
        </p:txBody>
      </p:sp>
    </p:spTree>
    <p:extLst>
      <p:ext uri="{BB962C8B-B14F-4D97-AF65-F5344CB8AC3E}">
        <p14:creationId xmlns:p14="http://schemas.microsoft.com/office/powerpoint/2010/main" val="2262463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F565-C1F3-E82E-1370-8BCFD3533FD3}"/>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58C6C2B1-BC68-66E9-E41E-08C4DD9787C4}"/>
              </a:ext>
            </a:extLst>
          </p:cNvPr>
          <p:cNvSpPr txBox="1"/>
          <p:nvPr/>
        </p:nvSpPr>
        <p:spPr>
          <a:xfrm>
            <a:off x="296325" y="132487"/>
            <a:ext cx="7038540"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a:t>MLP architecture</a:t>
            </a:r>
            <a:endParaRPr lang="it-IT" sz="4067" noProof="0" dirty="0"/>
          </a:p>
        </p:txBody>
      </p:sp>
      <p:sp>
        <p:nvSpPr>
          <p:cNvPr id="8" name="CasellaDiTesto 7">
            <a:extLst>
              <a:ext uri="{FF2B5EF4-FFF2-40B4-BE49-F238E27FC236}">
                <a16:creationId xmlns:a16="http://schemas.microsoft.com/office/drawing/2014/main" id="{61B561A7-786B-563E-A9ED-5DA35BAB2E2A}"/>
              </a:ext>
            </a:extLst>
          </p:cNvPr>
          <p:cNvSpPr txBox="1"/>
          <p:nvPr/>
        </p:nvSpPr>
        <p:spPr>
          <a:xfrm>
            <a:off x="4061580" y="711428"/>
            <a:ext cx="8114111" cy="3102452"/>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MLPs strongly conditioned the construction of the backbone: it was avoided to have many parameters in the first dense layer because of flattening.
In addition, thanks to this stratagem, there is a similar total number of parameters between the backbone and MLP. As a result, the model will have a capacity evenly distributed between the feature extractor and the classifier.
Batch normalization, ReLU, and Dropout were employed after each layer, except for the last one.</a:t>
            </a:r>
            <a:endParaRPr lang="it-IT" sz="1900" kern="100" noProof="0" dirty="0">
              <a:cs typeface="Arial" panose="020B0604020202020204" pitchFamily="34" charset="0"/>
            </a:endParaRPr>
          </a:p>
        </p:txBody>
      </p:sp>
      <p:grpSp>
        <p:nvGrpSpPr>
          <p:cNvPr id="5" name="Gruppo 4">
            <a:extLst>
              <a:ext uri="{FF2B5EF4-FFF2-40B4-BE49-F238E27FC236}">
                <a16:creationId xmlns:a16="http://schemas.microsoft.com/office/drawing/2014/main" id="{02155289-6274-2AA5-6EDE-DD2B750DFF10}"/>
              </a:ext>
            </a:extLst>
          </p:cNvPr>
          <p:cNvGrpSpPr/>
          <p:nvPr/>
        </p:nvGrpSpPr>
        <p:grpSpPr>
          <a:xfrm>
            <a:off x="0" y="744852"/>
            <a:ext cx="4152199" cy="5132377"/>
            <a:chOff x="0" y="649298"/>
            <a:chExt cx="4152199" cy="5132377"/>
          </a:xfrm>
        </p:grpSpPr>
        <p:pic>
          <p:nvPicPr>
            <p:cNvPr id="4" name="Immagine 3">
              <a:extLst>
                <a:ext uri="{FF2B5EF4-FFF2-40B4-BE49-F238E27FC236}">
                  <a16:creationId xmlns:a16="http://schemas.microsoft.com/office/drawing/2014/main" id="{CA97AAB9-BC17-1396-70D5-FDB53F5B6CCD}"/>
                </a:ext>
              </a:extLst>
            </p:cNvPr>
            <p:cNvPicPr>
              <a:picLocks noChangeAspect="1"/>
            </p:cNvPicPr>
            <p:nvPr/>
          </p:nvPicPr>
          <p:blipFill>
            <a:blip r:embed="rId2">
              <a:extLst>
                <a:ext uri="{28A0092B-C50C-407E-A947-70E740481C1C}">
                  <a14:useLocalDpi xmlns:a14="http://schemas.microsoft.com/office/drawing/2010/main" val="0"/>
                </a:ext>
              </a:extLst>
            </a:blip>
            <a:srcRect l="6385" r="5796" b="10344"/>
            <a:stretch>
              <a:fillRect/>
            </a:stretch>
          </p:blipFill>
          <p:spPr>
            <a:xfrm>
              <a:off x="2187254" y="649298"/>
              <a:ext cx="1964945" cy="5132377"/>
            </a:xfrm>
            <a:prstGeom prst="rect">
              <a:avLst/>
            </a:prstGeom>
          </p:spPr>
        </p:pic>
        <p:pic>
          <p:nvPicPr>
            <p:cNvPr id="6" name="Immagine 5">
              <a:extLst>
                <a:ext uri="{FF2B5EF4-FFF2-40B4-BE49-F238E27FC236}">
                  <a16:creationId xmlns:a16="http://schemas.microsoft.com/office/drawing/2014/main" id="{BFDF496C-FC3A-C640-4252-A997E4023D54}"/>
                </a:ext>
              </a:extLst>
            </p:cNvPr>
            <p:cNvPicPr>
              <a:picLocks noChangeAspect="1"/>
            </p:cNvPicPr>
            <p:nvPr/>
          </p:nvPicPr>
          <p:blipFill>
            <a:blip r:embed="rId3">
              <a:extLst>
                <a:ext uri="{28A0092B-C50C-407E-A947-70E740481C1C}">
                  <a14:useLocalDpi xmlns:a14="http://schemas.microsoft.com/office/drawing/2010/main" val="0"/>
                </a:ext>
              </a:extLst>
            </a:blip>
            <a:srcRect l="3406" b="10344"/>
            <a:stretch>
              <a:fillRect/>
            </a:stretch>
          </p:blipFill>
          <p:spPr>
            <a:xfrm>
              <a:off x="0" y="649298"/>
              <a:ext cx="2161331" cy="5132377"/>
            </a:xfrm>
            <a:prstGeom prst="rect">
              <a:avLst/>
            </a:prstGeom>
          </p:spPr>
        </p:pic>
      </p:grpSp>
      <p:sp>
        <p:nvSpPr>
          <p:cNvPr id="10" name="CasellaDiTesto 9">
            <a:extLst>
              <a:ext uri="{FF2B5EF4-FFF2-40B4-BE49-F238E27FC236}">
                <a16:creationId xmlns:a16="http://schemas.microsoft.com/office/drawing/2014/main" id="{B81ADFB7-644B-4A4A-B7FB-173BBD0F4ACB}"/>
              </a:ext>
            </a:extLst>
          </p:cNvPr>
          <p:cNvSpPr txBox="1"/>
          <p:nvPr/>
        </p:nvSpPr>
        <p:spPr>
          <a:xfrm>
            <a:off x="2303468" y="758183"/>
            <a:ext cx="1732189" cy="307778"/>
          </a:xfrm>
          <a:prstGeom prst="rect">
            <a:avLst/>
          </a:prstGeom>
          <a:noFill/>
        </p:spPr>
        <p:txBody>
          <a:bodyPr wrap="square" rtlCol="0">
            <a:spAutoFit/>
          </a:bodyPr>
          <a:lstStyle/>
          <a:p>
            <a:r>
              <a:rPr lang="it-IT" sz="1400" dirty="0"/>
              <a:t>Final Classifier</a:t>
            </a:r>
            <a:endParaRPr lang="it-IT" sz="1400" noProof="0" dirty="0"/>
          </a:p>
        </p:txBody>
      </p:sp>
      <p:sp>
        <p:nvSpPr>
          <p:cNvPr id="14" name="CasellaDiTesto 13">
            <a:extLst>
              <a:ext uri="{FF2B5EF4-FFF2-40B4-BE49-F238E27FC236}">
                <a16:creationId xmlns:a16="http://schemas.microsoft.com/office/drawing/2014/main" id="{C711F3E6-122B-693A-81E5-85AD93A3D30C}"/>
              </a:ext>
            </a:extLst>
          </p:cNvPr>
          <p:cNvSpPr txBox="1"/>
          <p:nvPr/>
        </p:nvSpPr>
        <p:spPr>
          <a:xfrm>
            <a:off x="19671" y="758184"/>
            <a:ext cx="2258202" cy="307777"/>
          </a:xfrm>
          <a:prstGeom prst="rect">
            <a:avLst/>
          </a:prstGeom>
          <a:noFill/>
        </p:spPr>
        <p:txBody>
          <a:bodyPr wrap="square" rtlCol="0">
            <a:spAutoFit/>
          </a:bodyPr>
          <a:lstStyle/>
          <a:p>
            <a:r>
              <a:rPr lang="it-IT" sz="1400" dirty="0"/>
              <a:t>Pre-training classifier</a:t>
            </a:r>
            <a:endParaRPr lang="it-IT" sz="1400" noProof="0" dirty="0"/>
          </a:p>
        </p:txBody>
      </p:sp>
    </p:spTree>
    <p:extLst>
      <p:ext uri="{BB962C8B-B14F-4D97-AF65-F5344CB8AC3E}">
        <p14:creationId xmlns:p14="http://schemas.microsoft.com/office/powerpoint/2010/main" val="2079873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90AD-2169-F6EE-28D7-D06142673840}"/>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0F7995A9-FD4A-650C-4F12-5F289F963A50}"/>
              </a:ext>
            </a:extLst>
          </p:cNvPr>
          <p:cNvPicPr>
            <a:picLocks noChangeAspect="1"/>
          </p:cNvPicPr>
          <p:nvPr/>
        </p:nvPicPr>
        <p:blipFill>
          <a:blip r:embed="rId3">
            <a:extLst>
              <a:ext uri="{28A0092B-C50C-407E-A947-70E740481C1C}">
                <a14:useLocalDpi xmlns:a14="http://schemas.microsoft.com/office/drawing/2010/main" val="0"/>
              </a:ext>
            </a:extLst>
          </a:blip>
          <a:srcRect t="5957" b="-621"/>
          <a:stretch>
            <a:fillRect/>
          </a:stretch>
        </p:blipFill>
        <p:spPr>
          <a:xfrm>
            <a:off x="216683" y="568456"/>
            <a:ext cx="3645742" cy="2323557"/>
          </a:xfrm>
          <a:prstGeom prst="rect">
            <a:avLst/>
          </a:prstGeom>
        </p:spPr>
      </p:pic>
      <p:pic>
        <p:nvPicPr>
          <p:cNvPr id="6" name="Immagine 5">
            <a:extLst>
              <a:ext uri="{FF2B5EF4-FFF2-40B4-BE49-F238E27FC236}">
                <a16:creationId xmlns:a16="http://schemas.microsoft.com/office/drawing/2014/main" id="{0EC44718-CD4F-06B9-4DCA-6528FD426FE7}"/>
              </a:ext>
            </a:extLst>
          </p:cNvPr>
          <p:cNvPicPr>
            <a:picLocks noChangeAspect="1"/>
          </p:cNvPicPr>
          <p:nvPr/>
        </p:nvPicPr>
        <p:blipFill>
          <a:blip r:embed="rId4">
            <a:extLst>
              <a:ext uri="{28A0092B-C50C-407E-A947-70E740481C1C}">
                <a14:useLocalDpi xmlns:a14="http://schemas.microsoft.com/office/drawing/2010/main" val="0"/>
              </a:ext>
            </a:extLst>
          </a:blip>
          <a:srcRect t="6295" b="-241"/>
          <a:stretch>
            <a:fillRect/>
          </a:stretch>
        </p:blipFill>
        <p:spPr>
          <a:xfrm>
            <a:off x="196340" y="2861129"/>
            <a:ext cx="3645742" cy="2294790"/>
          </a:xfrm>
          <a:prstGeom prst="rect">
            <a:avLst/>
          </a:prstGeom>
        </p:spPr>
      </p:pic>
      <p:sp>
        <p:nvSpPr>
          <p:cNvPr id="8" name="CasellaDiTesto 7">
            <a:extLst>
              <a:ext uri="{FF2B5EF4-FFF2-40B4-BE49-F238E27FC236}">
                <a16:creationId xmlns:a16="http://schemas.microsoft.com/office/drawing/2014/main" id="{DB521FA3-0751-0169-F2F2-6A3863E4EFDB}"/>
              </a:ext>
            </a:extLst>
          </p:cNvPr>
          <p:cNvSpPr txBox="1"/>
          <p:nvPr/>
        </p:nvSpPr>
        <p:spPr>
          <a:xfrm>
            <a:off x="196340" y="5027991"/>
            <a:ext cx="3645742" cy="1384995"/>
          </a:xfrm>
          <a:prstGeom prst="rect">
            <a:avLst/>
          </a:prstGeom>
          <a:noFill/>
          <a:ln>
            <a:noFill/>
          </a:ln>
        </p:spPr>
        <p:txBody>
          <a:bodyPr wrap="square" rtlCol="0">
            <a:spAutoFit/>
          </a:bodyPr>
          <a:lstStyle/>
          <a:p>
            <a:pPr algn="ctr"/>
            <a:r>
              <a:rPr lang="en-US" sz="1400" dirty="0"/>
              <a:t>Pre-trained network: GaidNet
The trends on the train set are quite typical. While those on the validation set are particularly noisy, but stabilize after a certain era. Early stopping stopped training when improvement became negligible.</a:t>
            </a:r>
            <a:endParaRPr lang="it-IT" sz="1300" noProof="0" dirty="0"/>
          </a:p>
        </p:txBody>
      </p:sp>
      <p:pic>
        <p:nvPicPr>
          <p:cNvPr id="12" name="Immagine 11">
            <a:extLst>
              <a:ext uri="{FF2B5EF4-FFF2-40B4-BE49-F238E27FC236}">
                <a16:creationId xmlns:a16="http://schemas.microsoft.com/office/drawing/2014/main" id="{B85D1E6A-D3F1-10B7-9434-A4A7E3EA708D}"/>
              </a:ext>
            </a:extLst>
          </p:cNvPr>
          <p:cNvPicPr>
            <a:picLocks noChangeAspect="1"/>
          </p:cNvPicPr>
          <p:nvPr/>
        </p:nvPicPr>
        <p:blipFill>
          <a:blip r:embed="rId5">
            <a:extLst>
              <a:ext uri="{28A0092B-C50C-407E-A947-70E740481C1C}">
                <a14:useLocalDpi xmlns:a14="http://schemas.microsoft.com/office/drawing/2010/main" val="0"/>
              </a:ext>
            </a:extLst>
          </a:blip>
          <a:srcRect l="-158" t="5979" r="158" b="-597"/>
          <a:stretch>
            <a:fillRect/>
          </a:stretch>
        </p:blipFill>
        <p:spPr>
          <a:xfrm>
            <a:off x="4225422" y="589303"/>
            <a:ext cx="3645742" cy="2322421"/>
          </a:xfrm>
          <a:prstGeom prst="rect">
            <a:avLst/>
          </a:prstGeom>
        </p:spPr>
      </p:pic>
      <p:pic>
        <p:nvPicPr>
          <p:cNvPr id="16" name="Immagine 15">
            <a:extLst>
              <a:ext uri="{FF2B5EF4-FFF2-40B4-BE49-F238E27FC236}">
                <a16:creationId xmlns:a16="http://schemas.microsoft.com/office/drawing/2014/main" id="{30318C4A-9FF8-D229-B3ED-19C964EB668E}"/>
              </a:ext>
            </a:extLst>
          </p:cNvPr>
          <p:cNvPicPr>
            <a:picLocks noChangeAspect="1"/>
          </p:cNvPicPr>
          <p:nvPr/>
        </p:nvPicPr>
        <p:blipFill>
          <a:blip r:embed="rId6">
            <a:extLst>
              <a:ext uri="{28A0092B-C50C-407E-A947-70E740481C1C}">
                <a14:useLocalDpi xmlns:a14="http://schemas.microsoft.com/office/drawing/2010/main" val="0"/>
              </a:ext>
            </a:extLst>
          </a:blip>
          <a:srcRect t="5715" b="727"/>
          <a:stretch>
            <a:fillRect/>
          </a:stretch>
        </p:blipFill>
        <p:spPr>
          <a:xfrm>
            <a:off x="8164170" y="568970"/>
            <a:ext cx="3659304" cy="2322529"/>
          </a:xfrm>
          <a:prstGeom prst="rect">
            <a:avLst/>
          </a:prstGeom>
        </p:spPr>
      </p:pic>
      <p:pic>
        <p:nvPicPr>
          <p:cNvPr id="14" name="Immagine 13">
            <a:extLst>
              <a:ext uri="{FF2B5EF4-FFF2-40B4-BE49-F238E27FC236}">
                <a16:creationId xmlns:a16="http://schemas.microsoft.com/office/drawing/2014/main" id="{76316BC3-AC2D-63B0-9E6E-28067994EAC4}"/>
              </a:ext>
            </a:extLst>
          </p:cNvPr>
          <p:cNvPicPr>
            <a:picLocks noChangeAspect="1"/>
          </p:cNvPicPr>
          <p:nvPr/>
        </p:nvPicPr>
        <p:blipFill>
          <a:blip r:embed="rId7">
            <a:extLst>
              <a:ext uri="{28A0092B-C50C-407E-A947-70E740481C1C}">
                <a14:useLocalDpi xmlns:a14="http://schemas.microsoft.com/office/drawing/2010/main" val="0"/>
              </a:ext>
            </a:extLst>
          </a:blip>
          <a:srcRect l="184" t="6155" r="-184" b="1915"/>
          <a:stretch>
            <a:fillRect/>
          </a:stretch>
        </p:blipFill>
        <p:spPr>
          <a:xfrm>
            <a:off x="4159124" y="2891499"/>
            <a:ext cx="3733615" cy="2193178"/>
          </a:xfrm>
          <a:prstGeom prst="rect">
            <a:avLst/>
          </a:prstGeom>
        </p:spPr>
      </p:pic>
      <p:pic>
        <p:nvPicPr>
          <p:cNvPr id="18" name="Immagine 17">
            <a:extLst>
              <a:ext uri="{FF2B5EF4-FFF2-40B4-BE49-F238E27FC236}">
                <a16:creationId xmlns:a16="http://schemas.microsoft.com/office/drawing/2014/main" id="{4861BBDE-74B0-1FC5-C6A8-E4BB91C1DEC3}"/>
              </a:ext>
            </a:extLst>
          </p:cNvPr>
          <p:cNvPicPr>
            <a:picLocks noChangeAspect="1"/>
          </p:cNvPicPr>
          <p:nvPr/>
        </p:nvPicPr>
        <p:blipFill>
          <a:blip r:embed="rId8">
            <a:extLst>
              <a:ext uri="{28A0092B-C50C-407E-A947-70E740481C1C}">
                <a14:useLocalDpi xmlns:a14="http://schemas.microsoft.com/office/drawing/2010/main" val="0"/>
              </a:ext>
            </a:extLst>
          </a:blip>
          <a:srcRect l="36" t="6189" r="-36" b="1085"/>
          <a:stretch>
            <a:fillRect/>
          </a:stretch>
        </p:blipFill>
        <p:spPr>
          <a:xfrm>
            <a:off x="8104745" y="2861129"/>
            <a:ext cx="3738390" cy="2322529"/>
          </a:xfrm>
          <a:prstGeom prst="rect">
            <a:avLst/>
          </a:prstGeom>
        </p:spPr>
      </p:pic>
      <p:sp>
        <p:nvSpPr>
          <p:cNvPr id="9" name="CasellaDiTesto 8">
            <a:extLst>
              <a:ext uri="{FF2B5EF4-FFF2-40B4-BE49-F238E27FC236}">
                <a16:creationId xmlns:a16="http://schemas.microsoft.com/office/drawing/2014/main" id="{9D37F9B8-4E3B-2541-9D2A-7017001353DE}"/>
              </a:ext>
            </a:extLst>
          </p:cNvPr>
          <p:cNvSpPr txBox="1"/>
          <p:nvPr/>
        </p:nvSpPr>
        <p:spPr>
          <a:xfrm>
            <a:off x="3842082" y="5027991"/>
            <a:ext cx="4739943" cy="1815882"/>
          </a:xfrm>
          <a:prstGeom prst="rect">
            <a:avLst/>
          </a:prstGeom>
          <a:noFill/>
          <a:ln>
            <a:noFill/>
          </a:ln>
        </p:spPr>
        <p:txBody>
          <a:bodyPr wrap="square" rtlCol="0">
            <a:spAutoFit/>
          </a:bodyPr>
          <a:lstStyle/>
          <a:p>
            <a:r>
              <a:rPr lang="en-US" sz="1400" dirty="0"/>
              <a:t>Fine-tuned net: GumerNet
The dropout of the MLP during training does not allow all neurons to participate. While for the validation set, in the inference phase, the full power of the network is exploited. So higher capacity, combined with pre-training, means that the validation loss is initially less than the train loss. This denotes the advantage and goodness of pre-training. Here too, early stopping has intervened effectively.</a:t>
            </a:r>
            <a:endParaRPr lang="it-IT" sz="1300" noProof="0" dirty="0"/>
          </a:p>
        </p:txBody>
      </p:sp>
      <p:sp>
        <p:nvSpPr>
          <p:cNvPr id="10" name="CasellaDiTesto 9">
            <a:extLst>
              <a:ext uri="{FF2B5EF4-FFF2-40B4-BE49-F238E27FC236}">
                <a16:creationId xmlns:a16="http://schemas.microsoft.com/office/drawing/2014/main" id="{9D2DA1AA-70D5-07D7-32D8-31961C2ED150}"/>
              </a:ext>
            </a:extLst>
          </p:cNvPr>
          <p:cNvSpPr txBox="1"/>
          <p:nvPr/>
        </p:nvSpPr>
        <p:spPr>
          <a:xfrm>
            <a:off x="8472194" y="5073711"/>
            <a:ext cx="3336509" cy="1384995"/>
          </a:xfrm>
          <a:prstGeom prst="rect">
            <a:avLst/>
          </a:prstGeom>
          <a:noFill/>
          <a:ln>
            <a:noFill/>
          </a:ln>
        </p:spPr>
        <p:txBody>
          <a:bodyPr wrap="square" rtlCol="0">
            <a:spAutoFit/>
          </a:bodyPr>
          <a:lstStyle/>
          <a:p>
            <a:pPr algn="ctr"/>
            <a:r>
              <a:rPr lang="en-US" sz="1400" dirty="0"/>
              <a:t>Network trained from scratch: ZeroGumerNet
Targeted training on the specific dataset leads faster to convergence: at epoch 20 the performance that the fine-tuned model achieves at epoch 40 is achieved.</a:t>
            </a:r>
            <a:endParaRPr lang="it-IT" sz="1300" noProof="0" dirty="0"/>
          </a:p>
        </p:txBody>
      </p:sp>
      <p:sp>
        <p:nvSpPr>
          <p:cNvPr id="7" name="TextBox 2">
            <a:extLst>
              <a:ext uri="{FF2B5EF4-FFF2-40B4-BE49-F238E27FC236}">
                <a16:creationId xmlns:a16="http://schemas.microsoft.com/office/drawing/2014/main" id="{1C13233F-68C2-4980-74A2-D7B6A5EE8A55}"/>
              </a:ext>
            </a:extLst>
          </p:cNvPr>
          <p:cNvSpPr txBox="1"/>
          <p:nvPr/>
        </p:nvSpPr>
        <p:spPr>
          <a:xfrm>
            <a:off x="216683" y="10362"/>
            <a:ext cx="9883995" cy="57894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0" dirty="0"/>
              <a:t>Andamento loss e accuracy</a:t>
            </a:r>
          </a:p>
        </p:txBody>
      </p:sp>
      <p:pic>
        <p:nvPicPr>
          <p:cNvPr id="13" name="Immagine 12">
            <a:extLst>
              <a:ext uri="{FF2B5EF4-FFF2-40B4-BE49-F238E27FC236}">
                <a16:creationId xmlns:a16="http://schemas.microsoft.com/office/drawing/2014/main" id="{4549F1D7-8606-BB2D-33F0-E8E6A7D46E4F}"/>
              </a:ext>
            </a:extLst>
          </p:cNvPr>
          <p:cNvPicPr>
            <a:picLocks noChangeAspect="1"/>
          </p:cNvPicPr>
          <p:nvPr/>
        </p:nvPicPr>
        <p:blipFill>
          <a:blip r:embed="rId9"/>
          <a:stretch>
            <a:fillRect/>
          </a:stretch>
        </p:blipFill>
        <p:spPr>
          <a:xfrm flipV="1">
            <a:off x="9993822" y="524089"/>
            <a:ext cx="1038370" cy="45719"/>
          </a:xfrm>
          <a:prstGeom prst="rect">
            <a:avLst/>
          </a:prstGeom>
        </p:spPr>
      </p:pic>
      <p:pic>
        <p:nvPicPr>
          <p:cNvPr id="15" name="Immagine 14">
            <a:extLst>
              <a:ext uri="{FF2B5EF4-FFF2-40B4-BE49-F238E27FC236}">
                <a16:creationId xmlns:a16="http://schemas.microsoft.com/office/drawing/2014/main" id="{329B01B9-7FF7-7CD4-804C-AF23CBE41A88}"/>
              </a:ext>
            </a:extLst>
          </p:cNvPr>
          <p:cNvPicPr>
            <a:picLocks noChangeAspect="1"/>
          </p:cNvPicPr>
          <p:nvPr/>
        </p:nvPicPr>
        <p:blipFill>
          <a:blip r:embed="rId9"/>
          <a:stretch>
            <a:fillRect/>
          </a:stretch>
        </p:blipFill>
        <p:spPr>
          <a:xfrm flipV="1">
            <a:off x="8946151" y="518982"/>
            <a:ext cx="1038370" cy="45719"/>
          </a:xfrm>
          <a:prstGeom prst="rect">
            <a:avLst/>
          </a:prstGeom>
        </p:spPr>
      </p:pic>
      <p:pic>
        <p:nvPicPr>
          <p:cNvPr id="17" name="Immagine 16">
            <a:extLst>
              <a:ext uri="{FF2B5EF4-FFF2-40B4-BE49-F238E27FC236}">
                <a16:creationId xmlns:a16="http://schemas.microsoft.com/office/drawing/2014/main" id="{1ABF7133-5D4C-1115-CC92-FEA9452FB14F}"/>
              </a:ext>
            </a:extLst>
          </p:cNvPr>
          <p:cNvPicPr>
            <a:picLocks noChangeAspect="1"/>
          </p:cNvPicPr>
          <p:nvPr/>
        </p:nvPicPr>
        <p:blipFill>
          <a:blip r:embed="rId9"/>
          <a:stretch>
            <a:fillRect/>
          </a:stretch>
        </p:blipFill>
        <p:spPr>
          <a:xfrm flipV="1">
            <a:off x="8655559" y="350962"/>
            <a:ext cx="1038370" cy="45719"/>
          </a:xfrm>
          <a:prstGeom prst="rect">
            <a:avLst/>
          </a:prstGeom>
        </p:spPr>
      </p:pic>
      <p:pic>
        <p:nvPicPr>
          <p:cNvPr id="19" name="Immagine 18">
            <a:extLst>
              <a:ext uri="{FF2B5EF4-FFF2-40B4-BE49-F238E27FC236}">
                <a16:creationId xmlns:a16="http://schemas.microsoft.com/office/drawing/2014/main" id="{A29CFD10-509D-C053-BF23-AEAEB40A1D6C}"/>
              </a:ext>
            </a:extLst>
          </p:cNvPr>
          <p:cNvPicPr>
            <a:picLocks noChangeAspect="1"/>
          </p:cNvPicPr>
          <p:nvPr/>
        </p:nvPicPr>
        <p:blipFill>
          <a:blip r:embed="rId9"/>
          <a:stretch>
            <a:fillRect/>
          </a:stretch>
        </p:blipFill>
        <p:spPr>
          <a:xfrm flipV="1">
            <a:off x="5365918" y="532530"/>
            <a:ext cx="1038370" cy="45719"/>
          </a:xfrm>
          <a:prstGeom prst="rect">
            <a:avLst/>
          </a:prstGeom>
        </p:spPr>
      </p:pic>
      <p:pic>
        <p:nvPicPr>
          <p:cNvPr id="20" name="Immagine 19">
            <a:extLst>
              <a:ext uri="{FF2B5EF4-FFF2-40B4-BE49-F238E27FC236}">
                <a16:creationId xmlns:a16="http://schemas.microsoft.com/office/drawing/2014/main" id="{BBF73F18-4739-A32B-9806-219256372DE6}"/>
              </a:ext>
            </a:extLst>
          </p:cNvPr>
          <p:cNvPicPr>
            <a:picLocks noChangeAspect="1"/>
          </p:cNvPicPr>
          <p:nvPr/>
        </p:nvPicPr>
        <p:blipFill>
          <a:blip r:embed="rId9"/>
          <a:stretch>
            <a:fillRect/>
          </a:stretch>
        </p:blipFill>
        <p:spPr>
          <a:xfrm flipV="1">
            <a:off x="6350860" y="526208"/>
            <a:ext cx="1038370" cy="45719"/>
          </a:xfrm>
          <a:prstGeom prst="rect">
            <a:avLst/>
          </a:prstGeom>
        </p:spPr>
      </p:pic>
      <p:pic>
        <p:nvPicPr>
          <p:cNvPr id="21" name="Immagine 20">
            <a:extLst>
              <a:ext uri="{FF2B5EF4-FFF2-40B4-BE49-F238E27FC236}">
                <a16:creationId xmlns:a16="http://schemas.microsoft.com/office/drawing/2014/main" id="{F21A4AC3-8251-DA51-99C9-7231A9DB6F0B}"/>
              </a:ext>
            </a:extLst>
          </p:cNvPr>
          <p:cNvPicPr>
            <a:picLocks noChangeAspect="1"/>
          </p:cNvPicPr>
          <p:nvPr/>
        </p:nvPicPr>
        <p:blipFill>
          <a:blip r:embed="rId9"/>
          <a:stretch>
            <a:fillRect/>
          </a:stretch>
        </p:blipFill>
        <p:spPr>
          <a:xfrm flipV="1">
            <a:off x="2150717" y="525650"/>
            <a:ext cx="1038370" cy="45719"/>
          </a:xfrm>
          <a:prstGeom prst="rect">
            <a:avLst/>
          </a:prstGeom>
        </p:spPr>
      </p:pic>
      <p:pic>
        <p:nvPicPr>
          <p:cNvPr id="22" name="Immagine 21">
            <a:extLst>
              <a:ext uri="{FF2B5EF4-FFF2-40B4-BE49-F238E27FC236}">
                <a16:creationId xmlns:a16="http://schemas.microsoft.com/office/drawing/2014/main" id="{5060ACEA-400E-2B3C-6040-228809E64395}"/>
              </a:ext>
            </a:extLst>
          </p:cNvPr>
          <p:cNvPicPr>
            <a:picLocks noChangeAspect="1"/>
          </p:cNvPicPr>
          <p:nvPr/>
        </p:nvPicPr>
        <p:blipFill>
          <a:blip r:embed="rId9"/>
          <a:stretch>
            <a:fillRect/>
          </a:stretch>
        </p:blipFill>
        <p:spPr>
          <a:xfrm flipV="1">
            <a:off x="1159808" y="529328"/>
            <a:ext cx="1038370" cy="45719"/>
          </a:xfrm>
          <a:prstGeom prst="rect">
            <a:avLst/>
          </a:prstGeom>
        </p:spPr>
      </p:pic>
    </p:spTree>
    <p:extLst>
      <p:ext uri="{BB962C8B-B14F-4D97-AF65-F5344CB8AC3E}">
        <p14:creationId xmlns:p14="http://schemas.microsoft.com/office/powerpoint/2010/main" val="490027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B1894-5BFF-FE45-DE53-9799BA436125}"/>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D7FA517A-C351-6F27-584C-1E21F0A295FD}"/>
              </a:ext>
            </a:extLst>
          </p:cNvPr>
          <p:cNvSpPr txBox="1"/>
          <p:nvPr/>
        </p:nvSpPr>
        <p:spPr>
          <a:xfrm>
            <a:off x="266828" y="354802"/>
            <a:ext cx="9476940"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0" dirty="0"/>
              <a:t>Model selection</a:t>
            </a:r>
          </a:p>
        </p:txBody>
      </p:sp>
      <p:sp>
        <p:nvSpPr>
          <p:cNvPr id="5" name="CasellaDiTesto 4">
            <a:extLst>
              <a:ext uri="{FF2B5EF4-FFF2-40B4-BE49-F238E27FC236}">
                <a16:creationId xmlns:a16="http://schemas.microsoft.com/office/drawing/2014/main" id="{198DD2E0-8FF9-3A65-DAD9-A2FB2440A085}"/>
              </a:ext>
            </a:extLst>
          </p:cNvPr>
          <p:cNvSpPr txBox="1"/>
          <p:nvPr/>
        </p:nvSpPr>
        <p:spPr>
          <a:xfrm>
            <a:off x="129575" y="1141761"/>
            <a:ext cx="11932849" cy="2892202"/>
          </a:xfrm>
          <a:prstGeom prst="rect">
            <a:avLst/>
          </a:prstGeom>
          <a:noFill/>
        </p:spPr>
        <p:txBody>
          <a:bodyPr wrap="square" rtlCol="0">
            <a:spAutoFit/>
          </a:bodyPr>
          <a:lstStyle/>
          <a:p>
            <a:pPr marL="342900" indent="-342900">
              <a:lnSpc>
                <a:spcPct val="107000"/>
              </a:lnSpc>
              <a:spcAft>
                <a:spcPts val="800"/>
              </a:spcAft>
              <a:buFont typeface="Courier New" panose="02070309020205020404" pitchFamily="49" charset="0"/>
              <a:buChar char="o"/>
            </a:pPr>
            <a:r>
              <a:rPr lang="en-US" sz="1900" kern="100" dirty="0">
                <a:cs typeface="Arial" panose="020B0604020202020204" pitchFamily="34" charset="0"/>
              </a:rPr>
              <a:t>Evaluating the two strategies on the validation set of the UC dataset, the following results are obtained:
The fine-tuned network shows a slight superiority over the network trained from scratch on the UC dataset. </a:t>
            </a:r>
            <a:br>
              <a:rPr lang="en-US" sz="1900" kern="100" dirty="0">
                <a:cs typeface="Arial" panose="020B0604020202020204" pitchFamily="34" charset="0"/>
              </a:rPr>
            </a:br>
            <a:r>
              <a:rPr lang="en-US" sz="1900" kern="100" dirty="0">
                <a:cs typeface="Arial" panose="020B0604020202020204" pitchFamily="34" charset="0"/>
              </a:rPr>
              <a:t>The first strategy is the winning one.
Further tests should be carried out, for example by comparing other finetuning strategies.</a:t>
            </a:r>
            <a:br>
              <a:rPr lang="en-US" sz="1900" kern="100" dirty="0">
                <a:cs typeface="Arial" panose="020B0604020202020204" pitchFamily="34" charset="0"/>
              </a:rPr>
            </a:br>
            <a:r>
              <a:rPr lang="en-US" sz="1900" kern="100" dirty="0">
                <a:cs typeface="Arial" panose="020B0604020202020204" pitchFamily="34" charset="0"/>
              </a:rPr>
              <a:t>
An interesting test could be to increase the number of parameters in the model and check to what extent the performance differs. An interesting comparison would also be regarding the number of eras and the training times used.</a:t>
            </a:r>
            <a:endParaRPr lang="it-IT" sz="1900" kern="100" noProof="0" dirty="0">
              <a:cs typeface="Arial" panose="020B0604020202020204" pitchFamily="34" charset="0"/>
            </a:endParaRPr>
          </a:p>
        </p:txBody>
      </p:sp>
      <p:graphicFrame>
        <p:nvGraphicFramePr>
          <p:cNvPr id="6" name="Tabella 5">
            <a:extLst>
              <a:ext uri="{FF2B5EF4-FFF2-40B4-BE49-F238E27FC236}">
                <a16:creationId xmlns:a16="http://schemas.microsoft.com/office/drawing/2014/main" id="{87AD4675-D653-4DC4-8745-FF40C7256F35}"/>
              </a:ext>
            </a:extLst>
          </p:cNvPr>
          <p:cNvGraphicFramePr>
            <a:graphicFrameLocks noGrp="1"/>
          </p:cNvGraphicFramePr>
          <p:nvPr>
            <p:extLst>
              <p:ext uri="{D42A27DB-BD31-4B8C-83A1-F6EECF244321}">
                <p14:modId xmlns:p14="http://schemas.microsoft.com/office/powerpoint/2010/main" val="2689142867"/>
              </p:ext>
            </p:extLst>
          </p:nvPr>
        </p:nvGraphicFramePr>
        <p:xfrm>
          <a:off x="2897695" y="4241981"/>
          <a:ext cx="6396607" cy="1036320"/>
        </p:xfrm>
        <a:graphic>
          <a:graphicData uri="http://schemas.openxmlformats.org/drawingml/2006/table">
            <a:tbl>
              <a:tblPr firstRow="1" bandRow="1">
                <a:tableStyleId>{5C22544A-7EE6-4342-B048-85BDC9FD1C3A}</a:tableStyleId>
              </a:tblPr>
              <a:tblGrid>
                <a:gridCol w="1520088">
                  <a:extLst>
                    <a:ext uri="{9D8B030D-6E8A-4147-A177-3AD203B41FA5}">
                      <a16:colId xmlns:a16="http://schemas.microsoft.com/office/drawing/2014/main" val="2835036167"/>
                    </a:ext>
                  </a:extLst>
                </a:gridCol>
                <a:gridCol w="1190776">
                  <a:extLst>
                    <a:ext uri="{9D8B030D-6E8A-4147-A177-3AD203B41FA5}">
                      <a16:colId xmlns:a16="http://schemas.microsoft.com/office/drawing/2014/main" val="2533876289"/>
                    </a:ext>
                  </a:extLst>
                </a:gridCol>
                <a:gridCol w="1228581">
                  <a:extLst>
                    <a:ext uri="{9D8B030D-6E8A-4147-A177-3AD203B41FA5}">
                      <a16:colId xmlns:a16="http://schemas.microsoft.com/office/drawing/2014/main" val="351801738"/>
                    </a:ext>
                  </a:extLst>
                </a:gridCol>
                <a:gridCol w="1228581">
                  <a:extLst>
                    <a:ext uri="{9D8B030D-6E8A-4147-A177-3AD203B41FA5}">
                      <a16:colId xmlns:a16="http://schemas.microsoft.com/office/drawing/2014/main" val="973224690"/>
                    </a:ext>
                  </a:extLst>
                </a:gridCol>
                <a:gridCol w="1228581">
                  <a:extLst>
                    <a:ext uri="{9D8B030D-6E8A-4147-A177-3AD203B41FA5}">
                      <a16:colId xmlns:a16="http://schemas.microsoft.com/office/drawing/2014/main" val="3906872852"/>
                    </a:ext>
                  </a:extLst>
                </a:gridCol>
              </a:tblGrid>
              <a:tr h="249345">
                <a:tc>
                  <a:txBody>
                    <a:bodyPr/>
                    <a:lstStyle/>
                    <a:p>
                      <a:pPr algn="ctr"/>
                      <a:r>
                        <a:rPr lang="it-IT" sz="1800" noProof="0" dirty="0"/>
                        <a:t>model</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F1 macro</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Precision</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Recall</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Accuracy</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4262316736"/>
                  </a:ext>
                </a:extLst>
              </a:tr>
              <a:tr h="2381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i="1" kern="1200" noProof="0" dirty="0">
                          <a:solidFill>
                            <a:schemeClr val="dk1"/>
                          </a:solidFill>
                          <a:effectLst/>
                          <a:latin typeface="+mn-lt"/>
                          <a:ea typeface="+mn-ea"/>
                          <a:cs typeface="+mn-cs"/>
                        </a:rPr>
                        <a:t>GumerNet</a:t>
                      </a:r>
                      <a:endParaRPr lang="it-IT" sz="1600" kern="1200" noProof="0" dirty="0">
                        <a:solidFill>
                          <a:schemeClr val="dk1"/>
                        </a:solidFill>
                        <a:effectLst/>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noProof="0" dirty="0"/>
                        <a:t>0.852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0.860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0.857</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0.857</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9218813"/>
                  </a:ext>
                </a:extLst>
              </a:tr>
              <a:tr h="2381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i="1" kern="1200" noProof="0" dirty="0">
                          <a:solidFill>
                            <a:schemeClr val="dk1"/>
                          </a:solidFill>
                          <a:effectLst/>
                          <a:latin typeface="+mn-lt"/>
                          <a:ea typeface="+mn-ea"/>
                          <a:cs typeface="+mn-cs"/>
                        </a:rPr>
                        <a:t>ZeroGumerNet</a:t>
                      </a:r>
                      <a:endParaRPr lang="it-IT" sz="1600" kern="1200" noProof="0" dirty="0">
                        <a:solidFill>
                          <a:schemeClr val="dk1"/>
                        </a:solidFill>
                        <a:effectLst/>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noProof="0" dirty="0"/>
                        <a:t>0.839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0.853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0.848</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0.848</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8696723"/>
                  </a:ext>
                </a:extLst>
              </a:tr>
            </a:tbl>
          </a:graphicData>
        </a:graphic>
      </p:graphicFrame>
    </p:spTree>
    <p:extLst>
      <p:ext uri="{BB962C8B-B14F-4D97-AF65-F5344CB8AC3E}">
        <p14:creationId xmlns:p14="http://schemas.microsoft.com/office/powerpoint/2010/main" val="111063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0ACCF-E025-5931-8A79-BD41D272ABDF}"/>
            </a:ext>
          </a:extLst>
        </p:cNvPr>
        <p:cNvGrpSpPr/>
        <p:nvPr/>
      </p:nvGrpSpPr>
      <p:grpSpPr>
        <a:xfrm>
          <a:off x="0" y="0"/>
          <a:ext cx="0" cy="0"/>
          <a:chOff x="0" y="0"/>
          <a:chExt cx="0" cy="0"/>
        </a:xfrm>
      </p:grpSpPr>
      <p:pic>
        <p:nvPicPr>
          <p:cNvPr id="5" name="Immagine 4">
            <a:extLst>
              <a:ext uri="{FF2B5EF4-FFF2-40B4-BE49-F238E27FC236}">
                <a16:creationId xmlns:a16="http://schemas.microsoft.com/office/drawing/2014/main" id="{1CC6777F-4806-A989-7A09-293AAA5BCCBC}"/>
              </a:ext>
            </a:extLst>
          </p:cNvPr>
          <p:cNvPicPr>
            <a:picLocks noChangeAspect="1"/>
          </p:cNvPicPr>
          <p:nvPr/>
        </p:nvPicPr>
        <p:blipFill>
          <a:blip r:embed="rId2">
            <a:extLst>
              <a:ext uri="{28A0092B-C50C-407E-A947-70E740481C1C}">
                <a14:useLocalDpi xmlns:a14="http://schemas.microsoft.com/office/drawing/2010/main" val="0"/>
              </a:ext>
            </a:extLst>
          </a:blip>
          <a:srcRect l="-951" t="2949" b="244"/>
          <a:stretch>
            <a:fillRect/>
          </a:stretch>
        </p:blipFill>
        <p:spPr>
          <a:xfrm>
            <a:off x="6675553" y="304800"/>
            <a:ext cx="5376581" cy="4671171"/>
          </a:xfrm>
          <a:prstGeom prst="rect">
            <a:avLst/>
          </a:prstGeom>
        </p:spPr>
      </p:pic>
      <p:pic>
        <p:nvPicPr>
          <p:cNvPr id="21" name="Immagine 20">
            <a:extLst>
              <a:ext uri="{FF2B5EF4-FFF2-40B4-BE49-F238E27FC236}">
                <a16:creationId xmlns:a16="http://schemas.microsoft.com/office/drawing/2014/main" id="{43C93974-D331-E37B-61D6-B8408A2132C8}"/>
              </a:ext>
            </a:extLst>
          </p:cNvPr>
          <p:cNvPicPr>
            <a:picLocks noChangeAspect="1"/>
          </p:cNvPicPr>
          <p:nvPr/>
        </p:nvPicPr>
        <p:blipFill>
          <a:blip r:embed="rId3">
            <a:extLst>
              <a:ext uri="{28A0092B-C50C-407E-A947-70E740481C1C}">
                <a14:useLocalDpi xmlns:a14="http://schemas.microsoft.com/office/drawing/2010/main" val="0"/>
              </a:ext>
            </a:extLst>
          </a:blip>
          <a:srcRect l="1294" t="2323" r="780" b="3121"/>
          <a:stretch>
            <a:fillRect/>
          </a:stretch>
        </p:blipFill>
        <p:spPr>
          <a:xfrm>
            <a:off x="3897733" y="5031528"/>
            <a:ext cx="3911244" cy="1831820"/>
          </a:xfrm>
          <a:prstGeom prst="rect">
            <a:avLst/>
          </a:prstGeom>
        </p:spPr>
      </p:pic>
      <p:pic>
        <p:nvPicPr>
          <p:cNvPr id="17" name="Immagine 16">
            <a:extLst>
              <a:ext uri="{FF2B5EF4-FFF2-40B4-BE49-F238E27FC236}">
                <a16:creationId xmlns:a16="http://schemas.microsoft.com/office/drawing/2014/main" id="{101D6B3F-A10B-8A14-03C0-409D34029997}"/>
              </a:ext>
            </a:extLst>
          </p:cNvPr>
          <p:cNvPicPr>
            <a:picLocks noChangeAspect="1"/>
          </p:cNvPicPr>
          <p:nvPr/>
        </p:nvPicPr>
        <p:blipFill>
          <a:blip r:embed="rId4"/>
          <a:stretch>
            <a:fillRect/>
          </a:stretch>
        </p:blipFill>
        <p:spPr>
          <a:xfrm>
            <a:off x="139865" y="5482131"/>
            <a:ext cx="3757867" cy="141273"/>
          </a:xfrm>
          <a:prstGeom prst="rect">
            <a:avLst/>
          </a:prstGeom>
        </p:spPr>
      </p:pic>
      <p:sp>
        <p:nvSpPr>
          <p:cNvPr id="7" name="TextBox 2">
            <a:extLst>
              <a:ext uri="{FF2B5EF4-FFF2-40B4-BE49-F238E27FC236}">
                <a16:creationId xmlns:a16="http://schemas.microsoft.com/office/drawing/2014/main" id="{F48F2B30-FAB0-7AC7-01C4-72708121FDAD}"/>
              </a:ext>
            </a:extLst>
          </p:cNvPr>
          <p:cNvSpPr txBox="1"/>
          <p:nvPr/>
        </p:nvSpPr>
        <p:spPr>
          <a:xfrm>
            <a:off x="296324" y="139183"/>
            <a:ext cx="5799674"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dirty="0"/>
              <a:t>Results on the test set</a:t>
            </a:r>
            <a:endParaRPr lang="it-IT" sz="4067" noProof="0" dirty="0"/>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A24C3F2-C687-DFA3-DA1C-BA4FE4E04873}"/>
                  </a:ext>
                </a:extLst>
              </p:cNvPr>
              <p:cNvSpPr txBox="1"/>
              <p:nvPr/>
            </p:nvSpPr>
            <p:spPr>
              <a:xfrm>
                <a:off x="76627" y="1775181"/>
                <a:ext cx="6825617" cy="2476768"/>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All classes have a correctness rate ≥73%. 
Only the "freeway" class is the only one with a lower rate, i.e. 67%.
It should be noted that although the class is incorrect, the macro category is correct: "buildings" with "denseresidential" or "freeway" with "overpass" or "denseresidential" with "mediumresidential".</a:t>
                </a:r>
                <a:endParaRPr lang="it-IT" sz="1900" kern="100" noProof="0" dirty="0">
                  <a:cs typeface="Arial" panose="020B0604020202020204" pitchFamily="34" charset="0"/>
                </a:endParaRPr>
              </a:p>
            </p:txBody>
          </p:sp>
        </mc:Choice>
        <mc:Fallback xmlns="">
          <p:sp>
            <p:nvSpPr>
              <p:cNvPr id="2" name="CasellaDiTesto 1">
                <a:extLst>
                  <a:ext uri="{FF2B5EF4-FFF2-40B4-BE49-F238E27FC236}">
                    <a16:creationId xmlns:a16="http://schemas.microsoft.com/office/drawing/2014/main" id="{8A24C3F2-C687-DFA3-DA1C-BA4FE4E04873}"/>
                  </a:ext>
                </a:extLst>
              </p:cNvPr>
              <p:cNvSpPr txBox="1">
                <a:spLocks noRot="1" noChangeAspect="1" noMove="1" noResize="1" noEditPoints="1" noAdjustHandles="1" noChangeArrowheads="1" noChangeShapeType="1" noTextEdit="1"/>
              </p:cNvSpPr>
              <p:nvPr/>
            </p:nvSpPr>
            <p:spPr>
              <a:xfrm>
                <a:off x="76627" y="1775181"/>
                <a:ext cx="6825617" cy="2476768"/>
              </a:xfrm>
              <a:prstGeom prst="rect">
                <a:avLst/>
              </a:prstGeom>
              <a:blipFill>
                <a:blip r:embed="rId5"/>
                <a:stretch>
                  <a:fillRect l="-715" t="-985" b="-3202"/>
                </a:stretch>
              </a:blipFill>
            </p:spPr>
            <p:txBody>
              <a:bodyPr/>
              <a:lstStyle/>
              <a:p>
                <a:r>
                  <a:rPr lang="it-IT">
                    <a:noFill/>
                  </a:rPr>
                  <a:t> </a:t>
                </a:r>
              </a:p>
            </p:txBody>
          </p:sp>
        </mc:Fallback>
      </mc:AlternateContent>
      <p:graphicFrame>
        <p:nvGraphicFramePr>
          <p:cNvPr id="3" name="Tabella 2">
            <a:extLst>
              <a:ext uri="{FF2B5EF4-FFF2-40B4-BE49-F238E27FC236}">
                <a16:creationId xmlns:a16="http://schemas.microsoft.com/office/drawing/2014/main" id="{9BE407BC-7987-7C80-BD42-00C068364B9F}"/>
              </a:ext>
            </a:extLst>
          </p:cNvPr>
          <p:cNvGraphicFramePr>
            <a:graphicFrameLocks noGrp="1"/>
          </p:cNvGraphicFramePr>
          <p:nvPr>
            <p:extLst>
              <p:ext uri="{D42A27DB-BD31-4B8C-83A1-F6EECF244321}">
                <p14:modId xmlns:p14="http://schemas.microsoft.com/office/powerpoint/2010/main" val="3923141268"/>
              </p:ext>
            </p:extLst>
          </p:nvPr>
        </p:nvGraphicFramePr>
        <p:xfrm>
          <a:off x="296324" y="871378"/>
          <a:ext cx="6363175" cy="701040"/>
        </p:xfrm>
        <a:graphic>
          <a:graphicData uri="http://schemas.openxmlformats.org/drawingml/2006/table">
            <a:tbl>
              <a:tblPr firstRow="1" bandRow="1">
                <a:tableStyleId>{5C22544A-7EE6-4342-B048-85BDC9FD1C3A}</a:tableStyleId>
              </a:tblPr>
              <a:tblGrid>
                <a:gridCol w="1512144">
                  <a:extLst>
                    <a:ext uri="{9D8B030D-6E8A-4147-A177-3AD203B41FA5}">
                      <a16:colId xmlns:a16="http://schemas.microsoft.com/office/drawing/2014/main" val="2835036167"/>
                    </a:ext>
                  </a:extLst>
                </a:gridCol>
                <a:gridCol w="1184551">
                  <a:extLst>
                    <a:ext uri="{9D8B030D-6E8A-4147-A177-3AD203B41FA5}">
                      <a16:colId xmlns:a16="http://schemas.microsoft.com/office/drawing/2014/main" val="2533876289"/>
                    </a:ext>
                  </a:extLst>
                </a:gridCol>
                <a:gridCol w="1222160">
                  <a:extLst>
                    <a:ext uri="{9D8B030D-6E8A-4147-A177-3AD203B41FA5}">
                      <a16:colId xmlns:a16="http://schemas.microsoft.com/office/drawing/2014/main" val="351801738"/>
                    </a:ext>
                  </a:extLst>
                </a:gridCol>
                <a:gridCol w="1222160">
                  <a:extLst>
                    <a:ext uri="{9D8B030D-6E8A-4147-A177-3AD203B41FA5}">
                      <a16:colId xmlns:a16="http://schemas.microsoft.com/office/drawing/2014/main" val="973224690"/>
                    </a:ext>
                  </a:extLst>
                </a:gridCol>
                <a:gridCol w="1222160">
                  <a:extLst>
                    <a:ext uri="{9D8B030D-6E8A-4147-A177-3AD203B41FA5}">
                      <a16:colId xmlns:a16="http://schemas.microsoft.com/office/drawing/2014/main" val="3906872852"/>
                    </a:ext>
                  </a:extLst>
                </a:gridCol>
              </a:tblGrid>
              <a:tr h="249345">
                <a:tc>
                  <a:txBody>
                    <a:bodyPr/>
                    <a:lstStyle/>
                    <a:p>
                      <a:pPr algn="ctr"/>
                      <a:r>
                        <a:rPr lang="it-IT" sz="1800" noProof="0" dirty="0"/>
                        <a:t>model</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F1 macro</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Precision</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Recall</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800" noProof="0" dirty="0"/>
                        <a:t>Accuracy</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4262316736"/>
                  </a:ext>
                </a:extLst>
              </a:tr>
              <a:tr h="2493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i="1" kern="1200" noProof="0" dirty="0">
                          <a:solidFill>
                            <a:schemeClr val="dk1"/>
                          </a:solidFill>
                          <a:effectLst/>
                          <a:latin typeface="+mn-lt"/>
                          <a:ea typeface="+mn-ea"/>
                          <a:cs typeface="+mn-cs"/>
                        </a:rPr>
                        <a:t>GumerNet</a:t>
                      </a:r>
                      <a:endParaRPr lang="it-IT" sz="1600" kern="1200" noProof="0" dirty="0">
                        <a:solidFill>
                          <a:schemeClr val="dk1"/>
                        </a:solidFill>
                        <a:effectLst/>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noProof="0" dirty="0"/>
                        <a:t>0.889</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kern="1200" noProof="0" dirty="0">
                          <a:solidFill>
                            <a:schemeClr val="dk1"/>
                          </a:solidFill>
                          <a:effectLst/>
                          <a:latin typeface="+mn-lt"/>
                          <a:ea typeface="+mn-ea"/>
                          <a:cs typeface="+mn-cs"/>
                        </a:rPr>
                        <a:t>0.892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noProof="0" dirty="0"/>
                        <a:t>0.889</a:t>
                      </a:r>
                      <a:endParaRPr lang="it-IT" sz="1600" kern="1200" noProof="0" dirty="0">
                        <a:solidFill>
                          <a:schemeClr val="dk1"/>
                        </a:solidFill>
                        <a:effectLst/>
                        <a:latin typeface="+mn-lt"/>
                        <a:ea typeface="+mn-ea"/>
                        <a:cs typeface="+mn-cs"/>
                      </a:endParaRPr>
                    </a:p>
                  </a:txBody>
                  <a:tcPr>
                    <a:lnL w="12700" cmpd="sng">
                      <a:noFill/>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noProof="0" dirty="0"/>
                        <a:t>0.889</a:t>
                      </a:r>
                      <a:endParaRPr lang="it-IT" sz="1600" kern="1200" noProof="0" dirty="0">
                        <a:solidFill>
                          <a:schemeClr val="dk1"/>
                        </a:solidFill>
                        <a:effectLst/>
                        <a:latin typeface="+mn-lt"/>
                        <a:ea typeface="+mn-ea"/>
                        <a:cs typeface="+mn-cs"/>
                      </a:endParaRPr>
                    </a:p>
                  </a:txBody>
                  <a:tcPr>
                    <a:lnL w="12700" cmpd="sng">
                      <a:noFill/>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0390911"/>
                  </a:ext>
                </a:extLst>
              </a:tr>
            </a:tbl>
          </a:graphicData>
        </a:graphic>
      </p:graphicFrame>
      <p:sp>
        <p:nvSpPr>
          <p:cNvPr id="8" name="TextBox 2">
            <a:extLst>
              <a:ext uri="{FF2B5EF4-FFF2-40B4-BE49-F238E27FC236}">
                <a16:creationId xmlns:a16="http://schemas.microsoft.com/office/drawing/2014/main" id="{6DB4A7DF-8ECC-61DE-A01C-E8FE8809F495}"/>
              </a:ext>
            </a:extLst>
          </p:cNvPr>
          <p:cNvSpPr txBox="1"/>
          <p:nvPr/>
        </p:nvSpPr>
        <p:spPr>
          <a:xfrm>
            <a:off x="139865" y="4783446"/>
            <a:ext cx="9064473" cy="385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0" dirty="0"/>
              <a:t>Test out of bounds</a:t>
            </a:r>
          </a:p>
        </p:txBody>
      </p:sp>
      <p:sp>
        <p:nvSpPr>
          <p:cNvPr id="11" name="CasellaDiTesto 10">
            <a:extLst>
              <a:ext uri="{FF2B5EF4-FFF2-40B4-BE49-F238E27FC236}">
                <a16:creationId xmlns:a16="http://schemas.microsoft.com/office/drawing/2014/main" id="{115058DC-3806-6032-EF78-6F90D2E1D504}"/>
              </a:ext>
            </a:extLst>
          </p:cNvPr>
          <p:cNvSpPr txBox="1"/>
          <p:nvPr/>
        </p:nvSpPr>
        <p:spPr>
          <a:xfrm>
            <a:off x="6766658" y="4900211"/>
            <a:ext cx="5065333" cy="259302"/>
          </a:xfrm>
          <a:prstGeom prst="rect">
            <a:avLst/>
          </a:prstGeom>
          <a:noFill/>
        </p:spPr>
        <p:txBody>
          <a:bodyPr wrap="square" rtlCol="0">
            <a:spAutoFit/>
          </a:bodyPr>
          <a:lstStyle/>
          <a:p>
            <a:pPr algn="ctr">
              <a:lnSpc>
                <a:spcPct val="107000"/>
              </a:lnSpc>
              <a:spcAft>
                <a:spcPts val="800"/>
              </a:spcAft>
            </a:pPr>
            <a:r>
              <a:rPr lang="it-IT" sz="1050" kern="100" dirty="0">
                <a:cs typeface="Arial" panose="020B0604020202020204" pitchFamily="34" charset="0"/>
              </a:rPr>
              <a:t>GumerNet confusion matrix.</a:t>
            </a:r>
            <a:endParaRPr lang="it-IT" sz="1000" kern="100" noProof="0" dirty="0">
              <a:cs typeface="Arial" panose="020B0604020202020204" pitchFamily="34" charset="0"/>
            </a:endParaRPr>
          </a:p>
        </p:txBody>
      </p:sp>
      <p:grpSp>
        <p:nvGrpSpPr>
          <p:cNvPr id="13" name="Gruppo 12">
            <a:extLst>
              <a:ext uri="{FF2B5EF4-FFF2-40B4-BE49-F238E27FC236}">
                <a16:creationId xmlns:a16="http://schemas.microsoft.com/office/drawing/2014/main" id="{E8433349-1566-1549-C694-AC2F19B041C0}"/>
              </a:ext>
            </a:extLst>
          </p:cNvPr>
          <p:cNvGrpSpPr/>
          <p:nvPr/>
        </p:nvGrpSpPr>
        <p:grpSpPr>
          <a:xfrm>
            <a:off x="0" y="5255197"/>
            <a:ext cx="1687680" cy="1602803"/>
            <a:chOff x="825910" y="5255197"/>
            <a:chExt cx="1687680" cy="1602803"/>
          </a:xfrm>
        </p:grpSpPr>
        <p:pic>
          <p:nvPicPr>
            <p:cNvPr id="9" name="Immagine 8">
              <a:extLst>
                <a:ext uri="{FF2B5EF4-FFF2-40B4-BE49-F238E27FC236}">
                  <a16:creationId xmlns:a16="http://schemas.microsoft.com/office/drawing/2014/main" id="{48037484-E400-3532-079E-0C43F23FAE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6687" y="5255197"/>
              <a:ext cx="1409251" cy="1375869"/>
            </a:xfrm>
            <a:prstGeom prst="rect">
              <a:avLst/>
            </a:prstGeom>
          </p:spPr>
        </p:pic>
        <p:sp>
          <p:nvSpPr>
            <p:cNvPr id="12" name="CasellaDiTesto 11">
              <a:extLst>
                <a:ext uri="{FF2B5EF4-FFF2-40B4-BE49-F238E27FC236}">
                  <a16:creationId xmlns:a16="http://schemas.microsoft.com/office/drawing/2014/main" id="{F1BE9F13-F21E-F73B-5393-29D2B351DF9F}"/>
                </a:ext>
              </a:extLst>
            </p:cNvPr>
            <p:cNvSpPr txBox="1"/>
            <p:nvPr/>
          </p:nvSpPr>
          <p:spPr>
            <a:xfrm>
              <a:off x="825910" y="6598698"/>
              <a:ext cx="1687680" cy="259302"/>
            </a:xfrm>
            <a:prstGeom prst="rect">
              <a:avLst/>
            </a:prstGeom>
            <a:noFill/>
          </p:spPr>
          <p:txBody>
            <a:bodyPr wrap="square" rtlCol="0">
              <a:spAutoFit/>
            </a:bodyPr>
            <a:lstStyle/>
            <a:p>
              <a:pPr algn="ctr">
                <a:lnSpc>
                  <a:spcPct val="107000"/>
                </a:lnSpc>
                <a:spcAft>
                  <a:spcPts val="800"/>
                </a:spcAft>
              </a:pPr>
              <a:r>
                <a:rPr lang="it-IT" sz="1050" kern="100" noProof="0" dirty="0">
                  <a:cs typeface="Arial" panose="020B0604020202020204" pitchFamily="34" charset="0"/>
                </a:rPr>
                <a:t>Screenshot Punta Raisi</a:t>
              </a:r>
              <a:endParaRPr lang="it-IT" sz="1000" kern="100" noProof="0" dirty="0">
                <a:cs typeface="Arial" panose="020B0604020202020204" pitchFamily="34" charset="0"/>
              </a:endParaRPr>
            </a:p>
          </p:txBody>
        </p:sp>
      </p:grpSp>
      <p:pic>
        <p:nvPicPr>
          <p:cNvPr id="15" name="Immagine 14">
            <a:extLst>
              <a:ext uri="{FF2B5EF4-FFF2-40B4-BE49-F238E27FC236}">
                <a16:creationId xmlns:a16="http://schemas.microsoft.com/office/drawing/2014/main" id="{1983D0A0-134A-D4C4-2D56-C355145D81EF}"/>
              </a:ext>
            </a:extLst>
          </p:cNvPr>
          <p:cNvPicPr>
            <a:picLocks noChangeAspect="1"/>
          </p:cNvPicPr>
          <p:nvPr/>
        </p:nvPicPr>
        <p:blipFill>
          <a:blip r:embed="rId7"/>
          <a:stretch>
            <a:fillRect/>
          </a:stretch>
        </p:blipFill>
        <p:spPr>
          <a:xfrm>
            <a:off x="1550028" y="5300078"/>
            <a:ext cx="2263336" cy="137172"/>
          </a:xfrm>
          <a:prstGeom prst="rect">
            <a:avLst/>
          </a:prstGeom>
        </p:spPr>
      </p:pic>
    </p:spTree>
    <p:extLst>
      <p:ext uri="{BB962C8B-B14F-4D97-AF65-F5344CB8AC3E}">
        <p14:creationId xmlns:p14="http://schemas.microsoft.com/office/powerpoint/2010/main" val="2156158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611BB-FECC-0813-F17B-204DD9AE7C3B}"/>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5396FBB5-A577-0907-72F6-C432AB0CEF64}"/>
              </a:ext>
            </a:extLst>
          </p:cNvPr>
          <p:cNvPicPr>
            <a:picLocks noChangeAspect="1"/>
          </p:cNvPicPr>
          <p:nvPr/>
        </p:nvPicPr>
        <p:blipFill>
          <a:blip r:embed="rId2">
            <a:extLst>
              <a:ext uri="{28A0092B-C50C-407E-A947-70E740481C1C}">
                <a14:useLocalDpi xmlns:a14="http://schemas.microsoft.com/office/drawing/2010/main" val="0"/>
              </a:ext>
            </a:extLst>
          </a:blip>
          <a:srcRect l="-951" t="2949" b="244"/>
          <a:stretch>
            <a:fillRect/>
          </a:stretch>
        </p:blipFill>
        <p:spPr>
          <a:xfrm>
            <a:off x="33204" y="643908"/>
            <a:ext cx="5349423" cy="4647576"/>
          </a:xfrm>
          <a:prstGeom prst="rect">
            <a:avLst/>
          </a:prstGeom>
        </p:spPr>
      </p:pic>
      <p:pic>
        <p:nvPicPr>
          <p:cNvPr id="11" name="Immagine 10">
            <a:extLst>
              <a:ext uri="{FF2B5EF4-FFF2-40B4-BE49-F238E27FC236}">
                <a16:creationId xmlns:a16="http://schemas.microsoft.com/office/drawing/2014/main" id="{63D86294-1357-AD16-9489-38A50B06763F}"/>
              </a:ext>
            </a:extLst>
          </p:cNvPr>
          <p:cNvPicPr>
            <a:picLocks noChangeAspect="1"/>
          </p:cNvPicPr>
          <p:nvPr/>
        </p:nvPicPr>
        <p:blipFill>
          <a:blip r:embed="rId3">
            <a:extLst>
              <a:ext uri="{28A0092B-C50C-407E-A947-70E740481C1C}">
                <a14:useLocalDpi xmlns:a14="http://schemas.microsoft.com/office/drawing/2010/main" val="0"/>
              </a:ext>
            </a:extLst>
          </a:blip>
          <a:srcRect l="-458" t="2918" r="458" b="744"/>
          <a:stretch>
            <a:fillRect/>
          </a:stretch>
        </p:blipFill>
        <p:spPr>
          <a:xfrm>
            <a:off x="6737605" y="649298"/>
            <a:ext cx="5324819" cy="4647576"/>
          </a:xfrm>
          <a:prstGeom prst="rect">
            <a:avLst/>
          </a:prstGeom>
        </p:spPr>
      </p:pic>
      <p:sp>
        <p:nvSpPr>
          <p:cNvPr id="7" name="TextBox 2">
            <a:extLst>
              <a:ext uri="{FF2B5EF4-FFF2-40B4-BE49-F238E27FC236}">
                <a16:creationId xmlns:a16="http://schemas.microsoft.com/office/drawing/2014/main" id="{F0136042-D846-9F32-2356-B5F3F4FD073A}"/>
              </a:ext>
            </a:extLst>
          </p:cNvPr>
          <p:cNvSpPr txBox="1"/>
          <p:nvPr/>
        </p:nvSpPr>
        <p:spPr>
          <a:xfrm>
            <a:off x="296324" y="70357"/>
            <a:ext cx="11495626"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dirty="0"/>
              <a:t>Comparison of the previous assignment model</a:t>
            </a:r>
            <a:endParaRPr lang="it-IT" sz="4067" noProof="0" dirty="0"/>
          </a:p>
        </p:txBody>
      </p:sp>
      <p:sp>
        <p:nvSpPr>
          <p:cNvPr id="5" name="CasellaDiTesto 4">
            <a:extLst>
              <a:ext uri="{FF2B5EF4-FFF2-40B4-BE49-F238E27FC236}">
                <a16:creationId xmlns:a16="http://schemas.microsoft.com/office/drawing/2014/main" id="{43058B1A-7668-4C5F-2E43-EDE7E9C1482D}"/>
              </a:ext>
            </a:extLst>
          </p:cNvPr>
          <p:cNvSpPr txBox="1"/>
          <p:nvPr/>
        </p:nvSpPr>
        <p:spPr>
          <a:xfrm>
            <a:off x="33205" y="5505436"/>
            <a:ext cx="11932849" cy="1305165"/>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700" dirty="0"/>
              <a:t>The previous model was trained and tested on the same partition of the data.
The increase in performance is about 18%. The impact on the confusion matrix is obvious. One reason is the small size of the train set partition that has not been given augmentation. This involves random rotations, and SIFT descriptors are invariant with respect to these transformations.</a:t>
            </a:r>
            <a:endParaRPr lang="it-IT" sz="1700" noProof="0" dirty="0"/>
          </a:p>
        </p:txBody>
      </p:sp>
      <p:graphicFrame>
        <p:nvGraphicFramePr>
          <p:cNvPr id="4" name="Tabella 3">
            <a:extLst>
              <a:ext uri="{FF2B5EF4-FFF2-40B4-BE49-F238E27FC236}">
                <a16:creationId xmlns:a16="http://schemas.microsoft.com/office/drawing/2014/main" id="{682A34C2-F894-0972-3965-B84E0620F1FA}"/>
              </a:ext>
            </a:extLst>
          </p:cNvPr>
          <p:cNvGraphicFramePr>
            <a:graphicFrameLocks noGrp="1"/>
          </p:cNvGraphicFramePr>
          <p:nvPr>
            <p:extLst>
              <p:ext uri="{D42A27DB-BD31-4B8C-83A1-F6EECF244321}">
                <p14:modId xmlns:p14="http://schemas.microsoft.com/office/powerpoint/2010/main" val="1950010683"/>
              </p:ext>
            </p:extLst>
          </p:nvPr>
        </p:nvGraphicFramePr>
        <p:xfrm>
          <a:off x="5376581" y="4502856"/>
          <a:ext cx="1799221" cy="822960"/>
        </p:xfrm>
        <a:graphic>
          <a:graphicData uri="http://schemas.openxmlformats.org/drawingml/2006/table">
            <a:tbl>
              <a:tblPr firstRow="1" bandRow="1">
                <a:tableStyleId>{5C22544A-7EE6-4342-B048-85BDC9FD1C3A}</a:tableStyleId>
              </a:tblPr>
              <a:tblGrid>
                <a:gridCol w="943602">
                  <a:extLst>
                    <a:ext uri="{9D8B030D-6E8A-4147-A177-3AD203B41FA5}">
                      <a16:colId xmlns:a16="http://schemas.microsoft.com/office/drawing/2014/main" val="2835036167"/>
                    </a:ext>
                  </a:extLst>
                </a:gridCol>
                <a:gridCol w="855619">
                  <a:extLst>
                    <a:ext uri="{9D8B030D-6E8A-4147-A177-3AD203B41FA5}">
                      <a16:colId xmlns:a16="http://schemas.microsoft.com/office/drawing/2014/main" val="2533876289"/>
                    </a:ext>
                  </a:extLst>
                </a:gridCol>
              </a:tblGrid>
              <a:tr h="261418">
                <a:tc>
                  <a:txBody>
                    <a:bodyPr/>
                    <a:lstStyle/>
                    <a:p>
                      <a:pPr algn="ctr"/>
                      <a:r>
                        <a:rPr lang="it-IT" sz="1200" noProof="0" dirty="0"/>
                        <a:t>model</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it-IT" sz="1200" noProof="0" dirty="0"/>
                        <a:t>F1 macro</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4262316736"/>
                  </a:ext>
                </a:extLst>
              </a:tr>
              <a:tr h="2614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noProof="0" dirty="0">
                          <a:solidFill>
                            <a:schemeClr val="dk1"/>
                          </a:solidFill>
                          <a:effectLst/>
                          <a:latin typeface="+mn-lt"/>
                          <a:ea typeface="+mn-ea"/>
                          <a:cs typeface="+mn-cs"/>
                        </a:rPr>
                        <a:t>GumerNet</a:t>
                      </a:r>
                      <a:endParaRPr lang="it-IT" sz="1200" kern="1200" noProof="0" dirty="0">
                        <a:solidFill>
                          <a:schemeClr val="dk1"/>
                        </a:solidFill>
                        <a:effectLst/>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noProof="0" dirty="0"/>
                        <a:t>0.889</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40390911"/>
                  </a:ext>
                </a:extLst>
              </a:tr>
              <a:tr h="2614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kern="1200" noProof="0" dirty="0">
                          <a:solidFill>
                            <a:schemeClr val="dk1"/>
                          </a:solidFill>
                          <a:effectLst/>
                          <a:latin typeface="+mn-lt"/>
                          <a:ea typeface="+mn-ea"/>
                          <a:cs typeface="+mn-cs"/>
                        </a:rPr>
                        <a:t>SoftVoting</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noProof="0" dirty="0"/>
                        <a:t>0.711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9812223"/>
                  </a:ext>
                </a:extLst>
              </a:tr>
            </a:tbl>
          </a:graphicData>
        </a:graphic>
      </p:graphicFrame>
      <p:sp>
        <p:nvSpPr>
          <p:cNvPr id="8" name="CasellaDiTesto 7">
            <a:extLst>
              <a:ext uri="{FF2B5EF4-FFF2-40B4-BE49-F238E27FC236}">
                <a16:creationId xmlns:a16="http://schemas.microsoft.com/office/drawing/2014/main" id="{4D5E1B04-2CA6-5BD5-14E5-E18B1D44A657}"/>
              </a:ext>
            </a:extLst>
          </p:cNvPr>
          <p:cNvSpPr txBox="1"/>
          <p:nvPr/>
        </p:nvSpPr>
        <p:spPr>
          <a:xfrm>
            <a:off x="93401" y="5235397"/>
            <a:ext cx="5242796" cy="259302"/>
          </a:xfrm>
          <a:prstGeom prst="rect">
            <a:avLst/>
          </a:prstGeom>
          <a:noFill/>
        </p:spPr>
        <p:txBody>
          <a:bodyPr wrap="square" rtlCol="0">
            <a:spAutoFit/>
          </a:bodyPr>
          <a:lstStyle/>
          <a:p>
            <a:pPr algn="ctr">
              <a:lnSpc>
                <a:spcPct val="107000"/>
              </a:lnSpc>
              <a:spcAft>
                <a:spcPts val="800"/>
              </a:spcAft>
            </a:pPr>
            <a:r>
              <a:rPr lang="it-IT" sz="1050" kern="100" dirty="0">
                <a:cs typeface="Arial" panose="020B0604020202020204" pitchFamily="34" charset="0"/>
              </a:rPr>
              <a:t>GumerNet confusion matrix.</a:t>
            </a:r>
            <a:endParaRPr lang="it-IT" sz="1000" kern="100" noProof="0" dirty="0">
              <a:cs typeface="Arial" panose="020B0604020202020204" pitchFamily="34" charset="0"/>
            </a:endParaRPr>
          </a:p>
        </p:txBody>
      </p:sp>
      <p:sp>
        <p:nvSpPr>
          <p:cNvPr id="9" name="CasellaDiTesto 8">
            <a:extLst>
              <a:ext uri="{FF2B5EF4-FFF2-40B4-BE49-F238E27FC236}">
                <a16:creationId xmlns:a16="http://schemas.microsoft.com/office/drawing/2014/main" id="{7D9FC492-C13F-E2FF-8004-1099D4F100B6}"/>
              </a:ext>
            </a:extLst>
          </p:cNvPr>
          <p:cNvSpPr txBox="1"/>
          <p:nvPr/>
        </p:nvSpPr>
        <p:spPr>
          <a:xfrm>
            <a:off x="6656836" y="5237216"/>
            <a:ext cx="5535164" cy="259302"/>
          </a:xfrm>
          <a:prstGeom prst="rect">
            <a:avLst/>
          </a:prstGeom>
          <a:noFill/>
        </p:spPr>
        <p:txBody>
          <a:bodyPr wrap="square" rtlCol="0">
            <a:spAutoFit/>
          </a:bodyPr>
          <a:lstStyle/>
          <a:p>
            <a:pPr algn="ctr">
              <a:lnSpc>
                <a:spcPct val="107000"/>
              </a:lnSpc>
              <a:spcAft>
                <a:spcPts val="800"/>
              </a:spcAft>
            </a:pPr>
            <a:r>
              <a:rPr lang="en-US" sz="1050" kern="100" dirty="0">
                <a:cs typeface="Arial" panose="020B0604020202020204" pitchFamily="34" charset="0"/>
              </a:rPr>
              <a:t>Confusion matrix related to the model of the previous assignment.</a:t>
            </a:r>
            <a:endParaRPr lang="it-IT" sz="1000" kern="100" noProof="0" dirty="0">
              <a:cs typeface="Arial" panose="020B0604020202020204" pitchFamily="34" charset="0"/>
            </a:endParaRPr>
          </a:p>
        </p:txBody>
      </p:sp>
    </p:spTree>
    <p:extLst>
      <p:ext uri="{BB962C8B-B14F-4D97-AF65-F5344CB8AC3E}">
        <p14:creationId xmlns:p14="http://schemas.microsoft.com/office/powerpoint/2010/main" val="369866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7CF17-CB5A-834A-9BD6-872904CD2A58}"/>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4AF1107A-E3C2-5A44-4B4D-520E82E6D7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36525" y="3778100"/>
            <a:ext cx="3572870" cy="2018473"/>
          </a:xfrm>
          <a:prstGeom prst="rect">
            <a:avLst/>
          </a:prstGeom>
        </p:spPr>
      </p:pic>
      <p:pic>
        <p:nvPicPr>
          <p:cNvPr id="12" name="Immagine 11">
            <a:extLst>
              <a:ext uri="{FF2B5EF4-FFF2-40B4-BE49-F238E27FC236}">
                <a16:creationId xmlns:a16="http://schemas.microsoft.com/office/drawing/2014/main" id="{086B1313-A8C9-7F7B-A6D6-F90C3FB5DF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89686" y="3778100"/>
            <a:ext cx="3567694" cy="2018473"/>
          </a:xfrm>
          <a:prstGeom prst="rect">
            <a:avLst/>
          </a:prstGeom>
        </p:spPr>
      </p:pic>
      <p:pic>
        <p:nvPicPr>
          <p:cNvPr id="5" name="Immagine 4">
            <a:extLst>
              <a:ext uri="{FF2B5EF4-FFF2-40B4-BE49-F238E27FC236}">
                <a16:creationId xmlns:a16="http://schemas.microsoft.com/office/drawing/2014/main" id="{14748913-6564-A82A-F24B-A3B44F93AAD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4699" y="3778100"/>
            <a:ext cx="3574597" cy="2018474"/>
          </a:xfrm>
          <a:prstGeom prst="rect">
            <a:avLst/>
          </a:prstGeom>
        </p:spPr>
      </p:pic>
      <p:sp>
        <p:nvSpPr>
          <p:cNvPr id="7" name="TextBox 2">
            <a:extLst>
              <a:ext uri="{FF2B5EF4-FFF2-40B4-BE49-F238E27FC236}">
                <a16:creationId xmlns:a16="http://schemas.microsoft.com/office/drawing/2014/main" id="{7C76E1A6-170E-2DFD-D9C0-97C029C7CF1F}"/>
              </a:ext>
            </a:extLst>
          </p:cNvPr>
          <p:cNvSpPr txBox="1"/>
          <p:nvPr/>
        </p:nvSpPr>
        <p:spPr>
          <a:xfrm>
            <a:off x="209872" y="338846"/>
            <a:ext cx="11547508"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dirty="0"/>
              <a:t>GumerNet – qualitative results from the test set</a:t>
            </a:r>
            <a:endParaRPr lang="it-IT" sz="4067" noProof="0" dirty="0"/>
          </a:p>
        </p:txBody>
      </p:sp>
      <p:grpSp>
        <p:nvGrpSpPr>
          <p:cNvPr id="22" name="Gruppo 21">
            <a:extLst>
              <a:ext uri="{FF2B5EF4-FFF2-40B4-BE49-F238E27FC236}">
                <a16:creationId xmlns:a16="http://schemas.microsoft.com/office/drawing/2014/main" id="{B567D6FE-7DDF-16D6-F966-320664ECA31D}"/>
              </a:ext>
            </a:extLst>
          </p:cNvPr>
          <p:cNvGrpSpPr/>
          <p:nvPr/>
        </p:nvGrpSpPr>
        <p:grpSpPr>
          <a:xfrm>
            <a:off x="766814" y="1127119"/>
            <a:ext cx="10831205" cy="2707152"/>
            <a:chOff x="339714" y="957297"/>
            <a:chExt cx="10831205" cy="2707152"/>
          </a:xfrm>
        </p:grpSpPr>
        <p:grpSp>
          <p:nvGrpSpPr>
            <p:cNvPr id="11" name="Gruppo 10">
              <a:extLst>
                <a:ext uri="{FF2B5EF4-FFF2-40B4-BE49-F238E27FC236}">
                  <a16:creationId xmlns:a16="http://schemas.microsoft.com/office/drawing/2014/main" id="{110DD88B-6FB3-D9CE-791E-72EC93C6808F}"/>
                </a:ext>
              </a:extLst>
            </p:cNvPr>
            <p:cNvGrpSpPr/>
            <p:nvPr/>
          </p:nvGrpSpPr>
          <p:grpSpPr>
            <a:xfrm>
              <a:off x="339714" y="957297"/>
              <a:ext cx="2386778" cy="2706842"/>
              <a:chOff x="935973" y="1010920"/>
              <a:chExt cx="2386778" cy="2706842"/>
            </a:xfrm>
          </p:grpSpPr>
          <p:pic>
            <p:nvPicPr>
              <p:cNvPr id="3" name="Immagine 2">
                <a:extLst>
                  <a:ext uri="{FF2B5EF4-FFF2-40B4-BE49-F238E27FC236}">
                    <a16:creationId xmlns:a16="http://schemas.microsoft.com/office/drawing/2014/main" id="{446B06D7-33A7-8A49-B7E6-48E21E22945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2562" y="1010920"/>
                <a:ext cx="2133600" cy="2133600"/>
              </a:xfrm>
              <a:prstGeom prst="rect">
                <a:avLst/>
              </a:prstGeom>
            </p:spPr>
          </p:pic>
          <p:sp>
            <p:nvSpPr>
              <p:cNvPr id="4" name="CasellaDiTesto 3">
                <a:extLst>
                  <a:ext uri="{FF2B5EF4-FFF2-40B4-BE49-F238E27FC236}">
                    <a16:creationId xmlns:a16="http://schemas.microsoft.com/office/drawing/2014/main" id="{3D1F7A26-613F-0DE3-10EC-75FE285353D3}"/>
                  </a:ext>
                </a:extLst>
              </p:cNvPr>
              <p:cNvSpPr txBox="1"/>
              <p:nvPr/>
            </p:nvSpPr>
            <p:spPr>
              <a:xfrm>
                <a:off x="935973" y="3194542"/>
                <a:ext cx="2386778" cy="523220"/>
              </a:xfrm>
              <a:prstGeom prst="rect">
                <a:avLst/>
              </a:prstGeom>
              <a:noFill/>
              <a:ln>
                <a:noFill/>
              </a:ln>
            </p:spPr>
            <p:txBody>
              <a:bodyPr wrap="square" rtlCol="0">
                <a:spAutoFit/>
              </a:bodyPr>
              <a:lstStyle/>
              <a:p>
                <a:pPr algn="ctr"/>
                <a:r>
                  <a:rPr lang="it-IT" sz="1400" noProof="0" dirty="0"/>
                  <a:t>True label: golfcourse.</a:t>
                </a:r>
              </a:p>
              <a:p>
                <a:pPr algn="ctr"/>
                <a:r>
                  <a:rPr lang="it-IT" sz="1400" noProof="0" dirty="0"/>
                  <a:t>Predicted label: tenniscourt.</a:t>
                </a:r>
              </a:p>
            </p:txBody>
          </p:sp>
        </p:grpSp>
        <p:pic>
          <p:nvPicPr>
            <p:cNvPr id="15" name="Immagine 14">
              <a:extLst>
                <a:ext uri="{FF2B5EF4-FFF2-40B4-BE49-F238E27FC236}">
                  <a16:creationId xmlns:a16="http://schemas.microsoft.com/office/drawing/2014/main" id="{6ED9AABB-C205-A73F-D5B7-3F8052FF2FD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334757" y="957297"/>
              <a:ext cx="2133600" cy="2133600"/>
            </a:xfrm>
            <a:prstGeom prst="rect">
              <a:avLst/>
            </a:prstGeom>
          </p:spPr>
        </p:pic>
        <p:sp>
          <p:nvSpPr>
            <p:cNvPr id="16" name="CasellaDiTesto 15">
              <a:extLst>
                <a:ext uri="{FF2B5EF4-FFF2-40B4-BE49-F238E27FC236}">
                  <a16:creationId xmlns:a16="http://schemas.microsoft.com/office/drawing/2014/main" id="{C025F48D-0775-7CB7-9583-FAEC1DE4DD06}"/>
                </a:ext>
              </a:extLst>
            </p:cNvPr>
            <p:cNvSpPr txBox="1"/>
            <p:nvPr/>
          </p:nvSpPr>
          <p:spPr>
            <a:xfrm>
              <a:off x="3896095" y="3141229"/>
              <a:ext cx="3010924" cy="523220"/>
            </a:xfrm>
            <a:prstGeom prst="rect">
              <a:avLst/>
            </a:prstGeom>
            <a:noFill/>
            <a:ln>
              <a:noFill/>
            </a:ln>
          </p:spPr>
          <p:txBody>
            <a:bodyPr wrap="square" rtlCol="0">
              <a:spAutoFit/>
            </a:bodyPr>
            <a:lstStyle/>
            <a:p>
              <a:pPr algn="ctr"/>
              <a:r>
                <a:rPr lang="it-IT" sz="1400" noProof="0" dirty="0"/>
                <a:t>True label: </a:t>
              </a:r>
              <a:r>
                <a:rPr lang="it-IT" sz="1400" dirty="0"/>
                <a:t>dense</a:t>
              </a:r>
              <a:r>
                <a:rPr lang="en-AU" sz="1400" noProof="0" dirty="0"/>
                <a:t>residential</a:t>
              </a:r>
              <a:r>
                <a:rPr lang="it-IT" sz="1400" noProof="0" dirty="0"/>
                <a:t>.</a:t>
              </a:r>
            </a:p>
            <a:p>
              <a:pPr algn="ctr"/>
              <a:r>
                <a:rPr lang="it-IT" sz="1400" noProof="0" dirty="0"/>
                <a:t>Predicted label: </a:t>
              </a:r>
              <a:r>
                <a:rPr lang="it-IT" sz="1400" dirty="0"/>
                <a:t>dense</a:t>
              </a:r>
              <a:r>
                <a:rPr lang="it-IT" sz="1400" noProof="0" dirty="0"/>
                <a:t>residential.</a:t>
              </a:r>
            </a:p>
          </p:txBody>
        </p:sp>
        <p:pic>
          <p:nvPicPr>
            <p:cNvPr id="20" name="Immagine 19">
              <a:extLst>
                <a:ext uri="{FF2B5EF4-FFF2-40B4-BE49-F238E27FC236}">
                  <a16:creationId xmlns:a16="http://schemas.microsoft.com/office/drawing/2014/main" id="{1F751733-EC61-DF74-A242-94D37A2AC12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788400" y="957297"/>
              <a:ext cx="2133600" cy="2133600"/>
            </a:xfrm>
            <a:prstGeom prst="rect">
              <a:avLst/>
            </a:prstGeom>
          </p:spPr>
        </p:pic>
        <p:sp>
          <p:nvSpPr>
            <p:cNvPr id="21" name="CasellaDiTesto 20">
              <a:extLst>
                <a:ext uri="{FF2B5EF4-FFF2-40B4-BE49-F238E27FC236}">
                  <a16:creationId xmlns:a16="http://schemas.microsoft.com/office/drawing/2014/main" id="{BFBC6E30-CA15-FB1C-DA34-7CAD1C240ADE}"/>
                </a:ext>
              </a:extLst>
            </p:cNvPr>
            <p:cNvSpPr txBox="1"/>
            <p:nvPr/>
          </p:nvSpPr>
          <p:spPr>
            <a:xfrm>
              <a:off x="8539479" y="3141229"/>
              <a:ext cx="2631440" cy="523220"/>
            </a:xfrm>
            <a:prstGeom prst="rect">
              <a:avLst/>
            </a:prstGeom>
            <a:noFill/>
            <a:ln>
              <a:noFill/>
            </a:ln>
          </p:spPr>
          <p:txBody>
            <a:bodyPr wrap="square" rtlCol="0">
              <a:spAutoFit/>
            </a:bodyPr>
            <a:lstStyle/>
            <a:p>
              <a:pPr algn="ctr"/>
              <a:r>
                <a:rPr lang="it-IT" sz="1400" noProof="0" dirty="0"/>
                <a:t>True label: storagetanks.</a:t>
              </a:r>
            </a:p>
            <a:p>
              <a:pPr algn="ctr"/>
              <a:r>
                <a:rPr lang="it-IT" sz="1400" noProof="0" dirty="0"/>
                <a:t>Predicted label: storagetanks.</a:t>
              </a:r>
            </a:p>
          </p:txBody>
        </p:sp>
      </p:grpSp>
      <p:sp>
        <p:nvSpPr>
          <p:cNvPr id="23" name="CasellaDiTesto 22">
            <a:extLst>
              <a:ext uri="{FF2B5EF4-FFF2-40B4-BE49-F238E27FC236}">
                <a16:creationId xmlns:a16="http://schemas.microsoft.com/office/drawing/2014/main" id="{1C27969D-DEAE-6104-76BC-26811BDA53EB}"/>
              </a:ext>
            </a:extLst>
          </p:cNvPr>
          <p:cNvSpPr txBox="1"/>
          <p:nvPr/>
        </p:nvSpPr>
        <p:spPr>
          <a:xfrm>
            <a:off x="24699" y="5783568"/>
            <a:ext cx="3666456" cy="674928"/>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The true class is the second one foretold.</a:t>
            </a:r>
            <a:endParaRPr lang="it-IT" kern="100" noProof="0" dirty="0">
              <a:cs typeface="Arial" panose="020B0604020202020204" pitchFamily="34" charset="0"/>
            </a:endParaRPr>
          </a:p>
        </p:txBody>
      </p:sp>
      <p:sp>
        <p:nvSpPr>
          <p:cNvPr id="24" name="CasellaDiTesto 23">
            <a:extLst>
              <a:ext uri="{FF2B5EF4-FFF2-40B4-BE49-F238E27FC236}">
                <a16:creationId xmlns:a16="http://schemas.microsoft.com/office/drawing/2014/main" id="{11B1A812-3981-CCA8-CDBC-F16FBF63EF6A}"/>
              </a:ext>
            </a:extLst>
          </p:cNvPr>
          <p:cNvSpPr txBox="1"/>
          <p:nvPr/>
        </p:nvSpPr>
        <p:spPr>
          <a:xfrm>
            <a:off x="3895707" y="5783568"/>
            <a:ext cx="3666456" cy="971292"/>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The class chosen is correct, and the top ones are consistent with the image.</a:t>
            </a:r>
            <a:endParaRPr lang="it-IT" kern="100" noProof="0" dirty="0">
              <a:cs typeface="Arial" panose="020B0604020202020204" pitchFamily="34" charset="0"/>
            </a:endParaRPr>
          </a:p>
        </p:txBody>
      </p:sp>
      <p:sp>
        <p:nvSpPr>
          <p:cNvPr id="25" name="CasellaDiTesto 24">
            <a:extLst>
              <a:ext uri="{FF2B5EF4-FFF2-40B4-BE49-F238E27FC236}">
                <a16:creationId xmlns:a16="http://schemas.microsoft.com/office/drawing/2014/main" id="{F5A0DF5E-FFE2-7CE0-5D75-5EFDD6185524}"/>
              </a:ext>
            </a:extLst>
          </p:cNvPr>
          <p:cNvSpPr txBox="1"/>
          <p:nvPr/>
        </p:nvSpPr>
        <p:spPr>
          <a:xfrm>
            <a:off x="8189686" y="5783568"/>
            <a:ext cx="3666456" cy="674928"/>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The class you choose is extremely more likely than the others.</a:t>
            </a:r>
            <a:endParaRPr lang="it-IT" kern="100" dirty="0">
              <a:cs typeface="Arial" panose="020B0604020202020204" pitchFamily="34" charset="0"/>
            </a:endParaRPr>
          </a:p>
        </p:txBody>
      </p:sp>
    </p:spTree>
    <p:extLst>
      <p:ext uri="{BB962C8B-B14F-4D97-AF65-F5344CB8AC3E}">
        <p14:creationId xmlns:p14="http://schemas.microsoft.com/office/powerpoint/2010/main" val="2036239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9A085-D38D-940E-549E-610CDBB7C21F}"/>
            </a:ext>
          </a:extLst>
        </p:cNvPr>
        <p:cNvGrpSpPr/>
        <p:nvPr/>
      </p:nvGrpSpPr>
      <p:grpSpPr>
        <a:xfrm>
          <a:off x="0" y="0"/>
          <a:ext cx="0" cy="0"/>
          <a:chOff x="0" y="0"/>
          <a:chExt cx="0" cy="0"/>
        </a:xfrm>
      </p:grpSpPr>
      <p:pic>
        <p:nvPicPr>
          <p:cNvPr id="22" name="Immagine 21">
            <a:extLst>
              <a:ext uri="{FF2B5EF4-FFF2-40B4-BE49-F238E27FC236}">
                <a16:creationId xmlns:a16="http://schemas.microsoft.com/office/drawing/2014/main" id="{01BC8E22-C9C9-8B78-A2B1-F9772E893DE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75544" y="3777686"/>
            <a:ext cx="3576321" cy="2018473"/>
          </a:xfrm>
          <a:prstGeom prst="rect">
            <a:avLst/>
          </a:prstGeom>
        </p:spPr>
      </p:pic>
      <p:pic>
        <p:nvPicPr>
          <p:cNvPr id="20" name="Immagine 19">
            <a:extLst>
              <a:ext uri="{FF2B5EF4-FFF2-40B4-BE49-F238E27FC236}">
                <a16:creationId xmlns:a16="http://schemas.microsoft.com/office/drawing/2014/main" id="{22362CDC-F80D-9CE9-D4DC-767FECAACBB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27845" y="3782081"/>
            <a:ext cx="3569412" cy="2016519"/>
          </a:xfrm>
          <a:prstGeom prst="rect">
            <a:avLst/>
          </a:prstGeom>
        </p:spPr>
      </p:pic>
      <p:pic>
        <p:nvPicPr>
          <p:cNvPr id="23" name="Immagine 22">
            <a:extLst>
              <a:ext uri="{FF2B5EF4-FFF2-40B4-BE49-F238E27FC236}">
                <a16:creationId xmlns:a16="http://schemas.microsoft.com/office/drawing/2014/main" id="{984FC4EB-6535-DBB7-48F8-0D40A016972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72042" y="3779152"/>
            <a:ext cx="3576321" cy="2019447"/>
          </a:xfrm>
          <a:prstGeom prst="rect">
            <a:avLst/>
          </a:prstGeom>
        </p:spPr>
      </p:pic>
      <p:sp>
        <p:nvSpPr>
          <p:cNvPr id="5" name="CasellaDiTesto 4">
            <a:extLst>
              <a:ext uri="{FF2B5EF4-FFF2-40B4-BE49-F238E27FC236}">
                <a16:creationId xmlns:a16="http://schemas.microsoft.com/office/drawing/2014/main" id="{3B3DE7F1-0518-0FF9-285D-29FE89CB2A0D}"/>
              </a:ext>
            </a:extLst>
          </p:cNvPr>
          <p:cNvSpPr txBox="1"/>
          <p:nvPr/>
        </p:nvSpPr>
        <p:spPr>
          <a:xfrm>
            <a:off x="209872" y="5800552"/>
            <a:ext cx="4294735" cy="971292"/>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The true class is the second one foretold. It might look like a roof from above when you compare it to the image on the right.</a:t>
            </a:r>
            <a:endParaRPr lang="it-IT" kern="100" dirty="0">
              <a:cs typeface="Arial" panose="020B0604020202020204" pitchFamily="34" charset="0"/>
            </a:endParaRPr>
          </a:p>
        </p:txBody>
      </p:sp>
      <p:grpSp>
        <p:nvGrpSpPr>
          <p:cNvPr id="3" name="Gruppo 2">
            <a:extLst>
              <a:ext uri="{FF2B5EF4-FFF2-40B4-BE49-F238E27FC236}">
                <a16:creationId xmlns:a16="http://schemas.microsoft.com/office/drawing/2014/main" id="{95E71959-3CB4-F2A1-9F38-A9CD91CCF4F8}"/>
              </a:ext>
            </a:extLst>
          </p:cNvPr>
          <p:cNvGrpSpPr/>
          <p:nvPr/>
        </p:nvGrpSpPr>
        <p:grpSpPr>
          <a:xfrm>
            <a:off x="771103" y="1127119"/>
            <a:ext cx="10826916" cy="2707152"/>
            <a:chOff x="344003" y="957297"/>
            <a:chExt cx="10826916" cy="2707152"/>
          </a:xfrm>
        </p:grpSpPr>
        <p:grpSp>
          <p:nvGrpSpPr>
            <p:cNvPr id="8" name="Gruppo 7">
              <a:extLst>
                <a:ext uri="{FF2B5EF4-FFF2-40B4-BE49-F238E27FC236}">
                  <a16:creationId xmlns:a16="http://schemas.microsoft.com/office/drawing/2014/main" id="{2D8B6441-E27C-252B-19EB-D99871BD6B2E}"/>
                </a:ext>
              </a:extLst>
            </p:cNvPr>
            <p:cNvGrpSpPr/>
            <p:nvPr/>
          </p:nvGrpSpPr>
          <p:grpSpPr>
            <a:xfrm>
              <a:off x="344003" y="957297"/>
              <a:ext cx="2378197" cy="2707152"/>
              <a:chOff x="940262" y="1010920"/>
              <a:chExt cx="2378197" cy="2707152"/>
            </a:xfrm>
          </p:grpSpPr>
          <p:pic>
            <p:nvPicPr>
              <p:cNvPr id="14" name="Immagine 13">
                <a:extLst>
                  <a:ext uri="{FF2B5EF4-FFF2-40B4-BE49-F238E27FC236}">
                    <a16:creationId xmlns:a16="http://schemas.microsoft.com/office/drawing/2014/main" id="{7E4F06EC-2609-E894-0AEF-8838622F389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2562" y="1010920"/>
                <a:ext cx="2133600" cy="2133600"/>
              </a:xfrm>
              <a:prstGeom prst="rect">
                <a:avLst/>
              </a:prstGeom>
            </p:spPr>
          </p:pic>
          <p:sp>
            <p:nvSpPr>
              <p:cNvPr id="15" name="CasellaDiTesto 14">
                <a:extLst>
                  <a:ext uri="{FF2B5EF4-FFF2-40B4-BE49-F238E27FC236}">
                    <a16:creationId xmlns:a16="http://schemas.microsoft.com/office/drawing/2014/main" id="{ECAC12DF-0070-D43F-9608-9B378A0E1094}"/>
                  </a:ext>
                </a:extLst>
              </p:cNvPr>
              <p:cNvSpPr txBox="1"/>
              <p:nvPr/>
            </p:nvSpPr>
            <p:spPr>
              <a:xfrm>
                <a:off x="940262" y="3194852"/>
                <a:ext cx="2378197" cy="523220"/>
              </a:xfrm>
              <a:prstGeom prst="rect">
                <a:avLst/>
              </a:prstGeom>
              <a:noFill/>
              <a:ln>
                <a:noFill/>
              </a:ln>
            </p:spPr>
            <p:txBody>
              <a:bodyPr wrap="square" rtlCol="0">
                <a:spAutoFit/>
              </a:bodyPr>
              <a:lstStyle/>
              <a:p>
                <a:pPr algn="ctr"/>
                <a:r>
                  <a:rPr lang="it-IT" sz="1400" noProof="0" dirty="0"/>
                  <a:t>True label: freeway.</a:t>
                </a:r>
              </a:p>
              <a:p>
                <a:pPr algn="ctr"/>
                <a:r>
                  <a:rPr lang="it-IT" sz="1400" noProof="0" dirty="0"/>
                  <a:t>Predicted label: </a:t>
                </a:r>
                <a:r>
                  <a:rPr lang="it-IT" sz="1400" dirty="0"/>
                  <a:t>buildings</a:t>
                </a:r>
                <a:r>
                  <a:rPr lang="it-IT" sz="1400" noProof="0" dirty="0"/>
                  <a:t>.</a:t>
                </a:r>
              </a:p>
            </p:txBody>
          </p:sp>
        </p:grpSp>
        <p:pic>
          <p:nvPicPr>
            <p:cNvPr id="10" name="Immagine 9">
              <a:extLst>
                <a:ext uri="{FF2B5EF4-FFF2-40B4-BE49-F238E27FC236}">
                  <a16:creationId xmlns:a16="http://schemas.microsoft.com/office/drawing/2014/main" id="{35315983-C970-7E68-79DD-772AFE1D642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334757" y="957297"/>
              <a:ext cx="2133600" cy="2133600"/>
            </a:xfrm>
            <a:prstGeom prst="rect">
              <a:avLst/>
            </a:prstGeom>
          </p:spPr>
        </p:pic>
        <p:sp>
          <p:nvSpPr>
            <p:cNvPr id="11" name="CasellaDiTesto 10">
              <a:extLst>
                <a:ext uri="{FF2B5EF4-FFF2-40B4-BE49-F238E27FC236}">
                  <a16:creationId xmlns:a16="http://schemas.microsoft.com/office/drawing/2014/main" id="{58617845-6C0B-A71D-A5FF-D6BA181315A5}"/>
                </a:ext>
              </a:extLst>
            </p:cNvPr>
            <p:cNvSpPr txBox="1"/>
            <p:nvPr/>
          </p:nvSpPr>
          <p:spPr>
            <a:xfrm>
              <a:off x="3896095" y="3141229"/>
              <a:ext cx="3010924" cy="523220"/>
            </a:xfrm>
            <a:prstGeom prst="rect">
              <a:avLst/>
            </a:prstGeom>
            <a:noFill/>
            <a:ln>
              <a:noFill/>
            </a:ln>
          </p:spPr>
          <p:txBody>
            <a:bodyPr wrap="square" rtlCol="0">
              <a:spAutoFit/>
            </a:bodyPr>
            <a:lstStyle/>
            <a:p>
              <a:pPr algn="ctr"/>
              <a:r>
                <a:rPr lang="it-IT" sz="1400" noProof="0" dirty="0"/>
                <a:t>True label: buildings.</a:t>
              </a:r>
            </a:p>
            <a:p>
              <a:pPr algn="ctr"/>
              <a:r>
                <a:rPr lang="it-IT" sz="1400" noProof="0" dirty="0"/>
                <a:t>Predicted label: </a:t>
              </a:r>
              <a:r>
                <a:rPr lang="it-IT" sz="1400" dirty="0"/>
                <a:t>buildings</a:t>
              </a:r>
              <a:r>
                <a:rPr lang="it-IT" sz="1400" noProof="0" dirty="0"/>
                <a:t>.</a:t>
              </a:r>
            </a:p>
          </p:txBody>
        </p:sp>
        <p:pic>
          <p:nvPicPr>
            <p:cNvPr id="12" name="Immagine 11">
              <a:extLst>
                <a:ext uri="{FF2B5EF4-FFF2-40B4-BE49-F238E27FC236}">
                  <a16:creationId xmlns:a16="http://schemas.microsoft.com/office/drawing/2014/main" id="{80ABC4E3-3ED5-E079-1B3F-53A590CBE09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788400" y="957297"/>
              <a:ext cx="2133600" cy="2133600"/>
            </a:xfrm>
            <a:prstGeom prst="rect">
              <a:avLst/>
            </a:prstGeom>
          </p:spPr>
        </p:pic>
        <p:sp>
          <p:nvSpPr>
            <p:cNvPr id="13" name="CasellaDiTesto 12">
              <a:extLst>
                <a:ext uri="{FF2B5EF4-FFF2-40B4-BE49-F238E27FC236}">
                  <a16:creationId xmlns:a16="http://schemas.microsoft.com/office/drawing/2014/main" id="{7FEB7904-5268-F937-85E3-F1DA42F766FB}"/>
                </a:ext>
              </a:extLst>
            </p:cNvPr>
            <p:cNvSpPr txBox="1"/>
            <p:nvPr/>
          </p:nvSpPr>
          <p:spPr>
            <a:xfrm>
              <a:off x="8203211" y="3141229"/>
              <a:ext cx="2967708" cy="523220"/>
            </a:xfrm>
            <a:prstGeom prst="rect">
              <a:avLst/>
            </a:prstGeom>
            <a:noFill/>
            <a:ln>
              <a:noFill/>
            </a:ln>
          </p:spPr>
          <p:txBody>
            <a:bodyPr wrap="square" rtlCol="0">
              <a:spAutoFit/>
            </a:bodyPr>
            <a:lstStyle/>
            <a:p>
              <a:pPr algn="ctr"/>
              <a:r>
                <a:rPr lang="it-IT" sz="1400" noProof="0" dirty="0"/>
                <a:t>True label: tenniscourt.</a:t>
              </a:r>
            </a:p>
            <a:p>
              <a:pPr algn="ctr"/>
              <a:r>
                <a:rPr lang="it-IT" sz="1400" noProof="0" dirty="0"/>
                <a:t>Predicted label: intersection.</a:t>
              </a:r>
            </a:p>
          </p:txBody>
        </p:sp>
      </p:grpSp>
      <p:sp>
        <p:nvSpPr>
          <p:cNvPr id="16" name="CasellaDiTesto 15">
            <a:extLst>
              <a:ext uri="{FF2B5EF4-FFF2-40B4-BE49-F238E27FC236}">
                <a16:creationId xmlns:a16="http://schemas.microsoft.com/office/drawing/2014/main" id="{FA04ABB8-DB0F-CE7E-C450-EFA5A85FDAB0}"/>
              </a:ext>
            </a:extLst>
          </p:cNvPr>
          <p:cNvSpPr txBox="1"/>
          <p:nvPr/>
        </p:nvSpPr>
        <p:spPr>
          <a:xfrm>
            <a:off x="4388241" y="5800552"/>
            <a:ext cx="3488498" cy="971292"/>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The class you choose is extremely more likely than the others.</a:t>
            </a:r>
            <a:endParaRPr lang="it-IT" kern="100" noProof="0" dirty="0">
              <a:cs typeface="Arial" panose="020B0604020202020204" pitchFamily="34" charset="0"/>
            </a:endParaRPr>
          </a:p>
        </p:txBody>
      </p:sp>
      <p:sp>
        <p:nvSpPr>
          <p:cNvPr id="17" name="CasellaDiTesto 16">
            <a:extLst>
              <a:ext uri="{FF2B5EF4-FFF2-40B4-BE49-F238E27FC236}">
                <a16:creationId xmlns:a16="http://schemas.microsoft.com/office/drawing/2014/main" id="{D729E6E3-C1CC-0BF7-B105-E2274CB46C66}"/>
              </a:ext>
            </a:extLst>
          </p:cNvPr>
          <p:cNvSpPr txBox="1"/>
          <p:nvPr/>
        </p:nvSpPr>
        <p:spPr>
          <a:xfrm>
            <a:off x="8353502" y="5796159"/>
            <a:ext cx="3666456" cy="971292"/>
          </a:xfrm>
          <a:prstGeom prst="rect">
            <a:avLst/>
          </a:prstGeom>
          <a:noFill/>
        </p:spPr>
        <p:txBody>
          <a:bodyPr wrap="square" rtlCol="0">
            <a:spAutoFit/>
          </a:bodyPr>
          <a:lstStyle/>
          <a:p>
            <a:pPr>
              <a:lnSpc>
                <a:spcPct val="107000"/>
              </a:lnSpc>
              <a:spcAft>
                <a:spcPts val="800"/>
              </a:spcAft>
            </a:pPr>
            <a:r>
              <a:rPr lang="en-US" kern="100" dirty="0">
                <a:cs typeface="Arial" panose="020B0604020202020204" pitchFamily="34" charset="0"/>
              </a:rPr>
              <a:t>The true class is the second one foretold. In addition, the predicted class is consistent with the image.</a:t>
            </a:r>
            <a:endParaRPr lang="it-IT" kern="100" noProof="0" dirty="0">
              <a:cs typeface="Arial" panose="020B0604020202020204" pitchFamily="34" charset="0"/>
            </a:endParaRPr>
          </a:p>
        </p:txBody>
      </p:sp>
      <p:sp>
        <p:nvSpPr>
          <p:cNvPr id="24" name="TextBox 2">
            <a:extLst>
              <a:ext uri="{FF2B5EF4-FFF2-40B4-BE49-F238E27FC236}">
                <a16:creationId xmlns:a16="http://schemas.microsoft.com/office/drawing/2014/main" id="{8C0E5549-66AA-7830-825D-AD1D1489EB1B}"/>
              </a:ext>
            </a:extLst>
          </p:cNvPr>
          <p:cNvSpPr txBox="1"/>
          <p:nvPr/>
        </p:nvSpPr>
        <p:spPr>
          <a:xfrm>
            <a:off x="209872" y="338846"/>
            <a:ext cx="11982128"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dirty="0"/>
              <a:t>GumerNet – qualitative results from the test set</a:t>
            </a:r>
            <a:endParaRPr lang="it-IT" sz="4067" noProof="0" dirty="0"/>
          </a:p>
        </p:txBody>
      </p:sp>
    </p:spTree>
    <p:extLst>
      <p:ext uri="{BB962C8B-B14F-4D97-AF65-F5344CB8AC3E}">
        <p14:creationId xmlns:p14="http://schemas.microsoft.com/office/powerpoint/2010/main" val="4012467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B5819-03C5-21B0-934C-470E257899AC}"/>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BEA1B406-D3CD-9341-3D12-E49911AB3633}"/>
              </a:ext>
            </a:extLst>
          </p:cNvPr>
          <p:cNvSpPr txBox="1"/>
          <p:nvPr/>
        </p:nvSpPr>
        <p:spPr>
          <a:xfrm>
            <a:off x="257394" y="276835"/>
            <a:ext cx="8134131"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a:t>Conclusions and future ideas</a:t>
            </a:r>
            <a:endParaRPr lang="it-IT" sz="4067" noProof="0" dirty="0"/>
          </a:p>
        </p:txBody>
      </p:sp>
      <p:sp>
        <p:nvSpPr>
          <p:cNvPr id="5" name="CasellaDiTesto 4">
            <a:extLst>
              <a:ext uri="{FF2B5EF4-FFF2-40B4-BE49-F238E27FC236}">
                <a16:creationId xmlns:a16="http://schemas.microsoft.com/office/drawing/2014/main" id="{B7F068BE-0ACB-83B4-0CC4-002731DB03FC}"/>
              </a:ext>
            </a:extLst>
          </p:cNvPr>
          <p:cNvSpPr txBox="1"/>
          <p:nvPr/>
        </p:nvSpPr>
        <p:spPr>
          <a:xfrm>
            <a:off x="129575" y="1253923"/>
            <a:ext cx="11932849" cy="4871847"/>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comparison with the model of the previous assignment showed that the approach used with neural networks produced good results: this can be seen from the significant jump in performance of +18% (what happened with AlexNet was observed in miniature).
Although the first strategy is the winning one, the second does not have significantly different performances. On the other hand, the fine-tuned model was subjected to a much larger amount of data than the one trained from scratch. 
Therefore, although the two datasets are related to aerial images, it is also necessary to intervene on the backbone, so as to extract peculiar features of the UC dataset: using a finetuning of the backbone could also be advantageous.
Furthermore, even before trying other training and fine-tuning strategies, the two models could be tested on other datasets and thus evaluate their goodness.
At a later stage, one could think of employing more robust data augmentation techniques, as in [1]. Alternatively, the number of residual blocks and in general the number of model parameters could be increased, combining regularization techniques on weights (which were not used in this assignment).</a:t>
            </a:r>
            <a:endParaRPr lang="it-IT" sz="1900" kern="100" noProof="0" dirty="0">
              <a:cs typeface="Arial" panose="020B0604020202020204" pitchFamily="34" charset="0"/>
            </a:endParaRPr>
          </a:p>
        </p:txBody>
      </p:sp>
    </p:spTree>
    <p:extLst>
      <p:ext uri="{BB962C8B-B14F-4D97-AF65-F5344CB8AC3E}">
        <p14:creationId xmlns:p14="http://schemas.microsoft.com/office/powerpoint/2010/main" val="3799171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E5102-93D1-AA88-356F-49249166A3E1}"/>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05E78EAE-F7EA-9111-4A3B-232AFC3F712A}"/>
              </a:ext>
            </a:extLst>
          </p:cNvPr>
          <p:cNvSpPr txBox="1"/>
          <p:nvPr/>
        </p:nvSpPr>
        <p:spPr>
          <a:xfrm>
            <a:off x="389370" y="521878"/>
            <a:ext cx="5799674"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dirty="0" err="1"/>
              <a:t>Bibliography</a:t>
            </a:r>
            <a:endParaRPr lang="it-IT" sz="4067" noProof="0" dirty="0"/>
          </a:p>
        </p:txBody>
      </p:sp>
      <p:sp>
        <p:nvSpPr>
          <p:cNvPr id="5" name="CasellaDiTesto 4">
            <a:extLst>
              <a:ext uri="{FF2B5EF4-FFF2-40B4-BE49-F238E27FC236}">
                <a16:creationId xmlns:a16="http://schemas.microsoft.com/office/drawing/2014/main" id="{C8B22340-1A62-20F7-3383-0989CEFED212}"/>
              </a:ext>
            </a:extLst>
          </p:cNvPr>
          <p:cNvSpPr txBox="1"/>
          <p:nvPr/>
        </p:nvSpPr>
        <p:spPr>
          <a:xfrm>
            <a:off x="370317" y="1351500"/>
            <a:ext cx="11713527" cy="2862322"/>
          </a:xfrm>
          <a:prstGeom prst="rect">
            <a:avLst/>
          </a:prstGeom>
          <a:noFill/>
        </p:spPr>
        <p:txBody>
          <a:bodyPr wrap="square" rtlCol="0">
            <a:spAutoFit/>
          </a:bodyPr>
          <a:lstStyle/>
          <a:p>
            <a:r>
              <a:rPr lang="it-IT" noProof="0" dirty="0">
                <a:hlinkClick r:id="rId2"/>
              </a:rPr>
              <a:t>[1] NIPS-2012-imagenet-classification-with-deep-convolutional-neural-networks-Paper</a:t>
            </a:r>
            <a:endParaRPr lang="it-IT" noProof="0" dirty="0"/>
          </a:p>
          <a:p>
            <a:endParaRPr lang="it-IT" noProof="0" dirty="0"/>
          </a:p>
          <a:p>
            <a:r>
              <a:rPr lang="it-IT" noProof="0" dirty="0">
                <a:hlinkClick r:id="rId3"/>
              </a:rPr>
              <a:t>[2] Very Deep Convolutional Networks for Large-Scale Image Recognition (VGG)</a:t>
            </a:r>
            <a:endParaRPr lang="it-IT" noProof="0" dirty="0"/>
          </a:p>
          <a:p>
            <a:endParaRPr lang="it-IT" noProof="0" dirty="0"/>
          </a:p>
          <a:p>
            <a:r>
              <a:rPr lang="it-IT" noProof="0" dirty="0">
                <a:hlinkClick r:id="rId4"/>
              </a:rPr>
              <a:t>[3] TensorFlow Tutorial</a:t>
            </a:r>
            <a:endParaRPr lang="it-IT" noProof="0" dirty="0"/>
          </a:p>
          <a:p>
            <a:endParaRPr lang="it-IT" noProof="0" dirty="0"/>
          </a:p>
          <a:p>
            <a:r>
              <a:rPr lang="it-IT" noProof="0" dirty="0">
                <a:hlinkClick r:id="rId5"/>
              </a:rPr>
              <a:t>[4] Deep Residual Learning for Image Recognition (ResNet)</a:t>
            </a:r>
            <a:endParaRPr lang="it-IT" noProof="0" dirty="0"/>
          </a:p>
          <a:p>
            <a:endParaRPr lang="it-IT" noProof="0" dirty="0"/>
          </a:p>
          <a:p>
            <a:r>
              <a:rPr lang="it-IT" noProof="0" dirty="0">
                <a:hlinkClick r:id="rId6"/>
              </a:rPr>
              <a:t>[5] Batch dimension reference</a:t>
            </a:r>
            <a:endParaRPr lang="it-IT" noProof="0" dirty="0"/>
          </a:p>
          <a:p>
            <a:endParaRPr lang="it-IT" noProof="0" dirty="0"/>
          </a:p>
        </p:txBody>
      </p:sp>
      <p:sp>
        <p:nvSpPr>
          <p:cNvPr id="2" name="TextBox 2">
            <a:extLst>
              <a:ext uri="{FF2B5EF4-FFF2-40B4-BE49-F238E27FC236}">
                <a16:creationId xmlns:a16="http://schemas.microsoft.com/office/drawing/2014/main" id="{0499EC8C-003D-789D-7062-33F08AA52A44}"/>
              </a:ext>
            </a:extLst>
          </p:cNvPr>
          <p:cNvSpPr txBox="1"/>
          <p:nvPr/>
        </p:nvSpPr>
        <p:spPr>
          <a:xfrm>
            <a:off x="370317" y="4400550"/>
            <a:ext cx="9160501" cy="39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0" dirty="0"/>
              <a:t>Disclaimer</a:t>
            </a:r>
          </a:p>
        </p:txBody>
      </p:sp>
      <p:sp>
        <p:nvSpPr>
          <p:cNvPr id="4" name="CasellaDiTesto 3">
            <a:extLst>
              <a:ext uri="{FF2B5EF4-FFF2-40B4-BE49-F238E27FC236}">
                <a16:creationId xmlns:a16="http://schemas.microsoft.com/office/drawing/2014/main" id="{9395080B-1B48-37E8-412B-75BA2B15EDAE}"/>
              </a:ext>
            </a:extLst>
          </p:cNvPr>
          <p:cNvSpPr txBox="1"/>
          <p:nvPr/>
        </p:nvSpPr>
        <p:spPr>
          <a:xfrm>
            <a:off x="370317" y="4826675"/>
            <a:ext cx="11429004" cy="1754326"/>
          </a:xfrm>
          <a:prstGeom prst="rect">
            <a:avLst/>
          </a:prstGeom>
          <a:noFill/>
        </p:spPr>
        <p:txBody>
          <a:bodyPr wrap="square">
            <a:spAutoFit/>
          </a:bodyPr>
          <a:lstStyle/>
          <a:p>
            <a:r>
              <a:rPr lang="en-US" dirty="0"/>
              <a:t>Generative models such as Gemini and Claude have been used to:</a:t>
            </a:r>
          </a:p>
          <a:p>
            <a:pPr marL="742950" lvl="1" indent="-285750">
              <a:buFont typeface="Wingdings" panose="05000000000000000000" pitchFamily="2" charset="2"/>
              <a:buChar char="§"/>
            </a:pPr>
            <a:r>
              <a:rPr lang="en-US" dirty="0"/>
              <a:t>Implementation of the code parts involving the matplotlib library and splitfolders
Quickly interact with library documentation
Troubleshoot issues with the TensorFlow library
Managing TensorFlow Library Functions and Objects</a:t>
            </a:r>
            <a:endParaRPr lang="it-IT" noProof="0" dirty="0"/>
          </a:p>
          <a:p>
            <a:r>
              <a:rPr lang="en-US" dirty="0"/>
              <a:t>The Perplexity search engine was used to find and analyze scientific papers</a:t>
            </a:r>
            <a:r>
              <a:rPr lang="it-IT" noProof="0" dirty="0"/>
              <a:t>.</a:t>
            </a:r>
          </a:p>
        </p:txBody>
      </p:sp>
    </p:spTree>
    <p:extLst>
      <p:ext uri="{BB962C8B-B14F-4D97-AF65-F5344CB8AC3E}">
        <p14:creationId xmlns:p14="http://schemas.microsoft.com/office/powerpoint/2010/main" val="236227128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17887</TotalTime>
  <Words>2151</Words>
  <Application>Microsoft Office PowerPoint</Application>
  <PresentationFormat>Widescreen</PresentationFormat>
  <Paragraphs>135</Paragraphs>
  <Slides>15</Slides>
  <Notes>2</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15</vt:i4>
      </vt:variant>
    </vt:vector>
  </HeadingPairs>
  <TitlesOfParts>
    <vt:vector size="23" baseType="lpstr">
      <vt:lpstr>Aptos</vt:lpstr>
      <vt:lpstr>Aptos Display</vt:lpstr>
      <vt:lpstr>Arial</vt:lpstr>
      <vt:lpstr>Cambria Math</vt:lpstr>
      <vt:lpstr>Courier New</vt:lpstr>
      <vt:lpstr>OCR A Extended</vt:lpstr>
      <vt:lpstr>Wingdings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LO CASCIO</dc:creator>
  <cp:lastModifiedBy>GABRIELE LO CASCIO</cp:lastModifiedBy>
  <cp:revision>479</cp:revision>
  <dcterms:created xsi:type="dcterms:W3CDTF">2026-02-22T14:20:26Z</dcterms:created>
  <dcterms:modified xsi:type="dcterms:W3CDTF">2026-06-20T19:20:02Z</dcterms:modified>
</cp:coreProperties>
</file>