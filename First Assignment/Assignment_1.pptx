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0" r:id="rId2"/>
    <p:sldId id="300" r:id="rId3"/>
    <p:sldId id="297" r:id="rId4"/>
    <p:sldId id="299" r:id="rId5"/>
    <p:sldId id="301" r:id="rId6"/>
    <p:sldId id="303" r:id="rId7"/>
    <p:sldId id="305" r:id="rId8"/>
    <p:sldId id="298" r:id="rId9"/>
    <p:sldId id="304" r:id="rId10"/>
    <p:sldId id="302" r:id="rId11"/>
    <p:sldId id="306" r:id="rId12"/>
    <p:sldId id="307" r:id="rId13"/>
    <p:sldId id="308" r:id="rId14"/>
    <p:sldId id="309" r:id="rId15"/>
    <p:sldId id="310" r:id="rId16"/>
    <p:sldId id="311" r:id="rId17"/>
    <p:sldId id="312" r:id="rId18"/>
    <p:sldId id="313" r:id="rId19"/>
    <p:sldId id="314" r:id="rId2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Stile medio 3 - Colore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100" d="100"/>
          <a:sy n="100" d="100"/>
        </p:scale>
        <p:origin x="90"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85E600-56B4-46C7-9B0A-9CD7422AE937}" type="datetimeFigureOut">
              <a:rPr lang="it-IT" smtClean="0"/>
              <a:t>07/04/2026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167D42-683A-4831-AAE7-9DA66916BF79}" type="slidenum">
              <a:rPr lang="it-IT" smtClean="0"/>
              <a:t>‹N›</a:t>
            </a:fld>
            <a:endParaRPr lang="it-IT"/>
          </a:p>
        </p:txBody>
      </p:sp>
    </p:spTree>
    <p:extLst>
      <p:ext uri="{BB962C8B-B14F-4D97-AF65-F5344CB8AC3E}">
        <p14:creationId xmlns:p14="http://schemas.microsoft.com/office/powerpoint/2010/main" val="2868125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BD11B35-A78A-2BEB-A23E-647739C5D221}"/>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459E62FA-A17C-C9A6-F958-949D3F0FAB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2225130B-8104-60CB-1F5E-4028868DA8B9}"/>
              </a:ext>
            </a:extLst>
          </p:cNvPr>
          <p:cNvSpPr>
            <a:spLocks noGrp="1"/>
          </p:cNvSpPr>
          <p:nvPr>
            <p:ph type="dt" sz="half" idx="10"/>
          </p:nvPr>
        </p:nvSpPr>
        <p:spPr/>
        <p:txBody>
          <a:bodyPr/>
          <a:lstStyle/>
          <a:p>
            <a:fld id="{76A3598E-AD3F-4717-88B8-E163AC0105A1}" type="datetimeFigureOut">
              <a:rPr lang="it-IT" smtClean="0"/>
              <a:t>07/04/2026</a:t>
            </a:fld>
            <a:endParaRPr lang="it-IT"/>
          </a:p>
        </p:txBody>
      </p:sp>
      <p:sp>
        <p:nvSpPr>
          <p:cNvPr id="5" name="Segnaposto piè di pagina 4">
            <a:extLst>
              <a:ext uri="{FF2B5EF4-FFF2-40B4-BE49-F238E27FC236}">
                <a16:creationId xmlns:a16="http://schemas.microsoft.com/office/drawing/2014/main" id="{3CD4A31C-6B5A-D94C-CA47-12B710C5B2B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3D792BA-3E50-7292-5837-F659CFA432B3}"/>
              </a:ext>
            </a:extLst>
          </p:cNvPr>
          <p:cNvSpPr>
            <a:spLocks noGrp="1"/>
          </p:cNvSpPr>
          <p:nvPr>
            <p:ph type="sldNum" sz="quarter" idx="12"/>
          </p:nvPr>
        </p:nvSpPr>
        <p:spPr/>
        <p:txBody>
          <a:bodyPr/>
          <a:lstStyle/>
          <a:p>
            <a:fld id="{DD3ED0AF-F907-4F10-99F9-6406D94D9369}" type="slidenum">
              <a:rPr lang="it-IT" smtClean="0"/>
              <a:t>‹N›</a:t>
            </a:fld>
            <a:endParaRPr lang="it-IT"/>
          </a:p>
        </p:txBody>
      </p:sp>
    </p:spTree>
    <p:extLst>
      <p:ext uri="{BB962C8B-B14F-4D97-AF65-F5344CB8AC3E}">
        <p14:creationId xmlns:p14="http://schemas.microsoft.com/office/powerpoint/2010/main" val="690229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C701E-0598-511F-3A84-E0ADFCCCF8FF}"/>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26DEBECD-76F8-016E-2581-1022EFCC62E9}"/>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630E89C-FFA1-4C27-627A-14EE0DC377EF}"/>
              </a:ext>
            </a:extLst>
          </p:cNvPr>
          <p:cNvSpPr>
            <a:spLocks noGrp="1"/>
          </p:cNvSpPr>
          <p:nvPr>
            <p:ph type="dt" sz="half" idx="10"/>
          </p:nvPr>
        </p:nvSpPr>
        <p:spPr/>
        <p:txBody>
          <a:bodyPr/>
          <a:lstStyle/>
          <a:p>
            <a:fld id="{76A3598E-AD3F-4717-88B8-E163AC0105A1}" type="datetimeFigureOut">
              <a:rPr lang="it-IT" smtClean="0"/>
              <a:t>07/04/2026</a:t>
            </a:fld>
            <a:endParaRPr lang="it-IT"/>
          </a:p>
        </p:txBody>
      </p:sp>
      <p:sp>
        <p:nvSpPr>
          <p:cNvPr id="5" name="Segnaposto piè di pagina 4">
            <a:extLst>
              <a:ext uri="{FF2B5EF4-FFF2-40B4-BE49-F238E27FC236}">
                <a16:creationId xmlns:a16="http://schemas.microsoft.com/office/drawing/2014/main" id="{A90DF1FA-5DA2-3A2A-13CD-F90A2BC65E9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7E9A7E1-2FB2-5886-8801-518A924AAC20}"/>
              </a:ext>
            </a:extLst>
          </p:cNvPr>
          <p:cNvSpPr>
            <a:spLocks noGrp="1"/>
          </p:cNvSpPr>
          <p:nvPr>
            <p:ph type="sldNum" sz="quarter" idx="12"/>
          </p:nvPr>
        </p:nvSpPr>
        <p:spPr/>
        <p:txBody>
          <a:bodyPr/>
          <a:lstStyle/>
          <a:p>
            <a:fld id="{DD3ED0AF-F907-4F10-99F9-6406D94D9369}" type="slidenum">
              <a:rPr lang="it-IT" smtClean="0"/>
              <a:t>‹N›</a:t>
            </a:fld>
            <a:endParaRPr lang="it-IT"/>
          </a:p>
        </p:txBody>
      </p:sp>
    </p:spTree>
    <p:extLst>
      <p:ext uri="{BB962C8B-B14F-4D97-AF65-F5344CB8AC3E}">
        <p14:creationId xmlns:p14="http://schemas.microsoft.com/office/powerpoint/2010/main" val="3339493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27CD2-2EE2-60A4-C550-CA929A04DCF6}"/>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6A78A65F-684F-F953-9A15-3B0672466F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5D781DE5-2C20-477C-EED3-DB6F738AFCD4}"/>
              </a:ext>
            </a:extLst>
          </p:cNvPr>
          <p:cNvSpPr>
            <a:spLocks noGrp="1"/>
          </p:cNvSpPr>
          <p:nvPr>
            <p:ph type="dt" sz="half" idx="10"/>
          </p:nvPr>
        </p:nvSpPr>
        <p:spPr/>
        <p:txBody>
          <a:bodyPr/>
          <a:lstStyle/>
          <a:p>
            <a:fld id="{76A3598E-AD3F-4717-88B8-E163AC0105A1}" type="datetimeFigureOut">
              <a:rPr lang="it-IT" smtClean="0"/>
              <a:t>07/04/2026</a:t>
            </a:fld>
            <a:endParaRPr lang="it-IT"/>
          </a:p>
        </p:txBody>
      </p:sp>
      <p:sp>
        <p:nvSpPr>
          <p:cNvPr id="5" name="Segnaposto piè di pagina 4">
            <a:extLst>
              <a:ext uri="{FF2B5EF4-FFF2-40B4-BE49-F238E27FC236}">
                <a16:creationId xmlns:a16="http://schemas.microsoft.com/office/drawing/2014/main" id="{E79B1E29-6AAE-DB27-53D0-C9947978351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4FE696E-2429-B736-5579-AE4B37033BC7}"/>
              </a:ext>
            </a:extLst>
          </p:cNvPr>
          <p:cNvSpPr>
            <a:spLocks noGrp="1"/>
          </p:cNvSpPr>
          <p:nvPr>
            <p:ph type="sldNum" sz="quarter" idx="12"/>
          </p:nvPr>
        </p:nvSpPr>
        <p:spPr/>
        <p:txBody>
          <a:bodyPr/>
          <a:lstStyle/>
          <a:p>
            <a:fld id="{DD3ED0AF-F907-4F10-99F9-6406D94D9369}" type="slidenum">
              <a:rPr lang="it-IT" smtClean="0"/>
              <a:t>‹N›</a:t>
            </a:fld>
            <a:endParaRPr lang="it-IT"/>
          </a:p>
        </p:txBody>
      </p:sp>
    </p:spTree>
    <p:extLst>
      <p:ext uri="{BB962C8B-B14F-4D97-AF65-F5344CB8AC3E}">
        <p14:creationId xmlns:p14="http://schemas.microsoft.com/office/powerpoint/2010/main" val="2665408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37948B4-A5CA-328A-A369-E23EB799B5A9}"/>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803EF47-7AB4-122F-45FF-C94A3F535DBE}"/>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259D5032-6393-A6E1-4F10-F3299A8B8E60}"/>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F1A5E8AE-14AF-34DA-7EDD-DA42932468AA}"/>
              </a:ext>
            </a:extLst>
          </p:cNvPr>
          <p:cNvSpPr>
            <a:spLocks noGrp="1"/>
          </p:cNvSpPr>
          <p:nvPr>
            <p:ph type="dt" sz="half" idx="10"/>
          </p:nvPr>
        </p:nvSpPr>
        <p:spPr/>
        <p:txBody>
          <a:bodyPr/>
          <a:lstStyle/>
          <a:p>
            <a:fld id="{76A3598E-AD3F-4717-88B8-E163AC0105A1}" type="datetimeFigureOut">
              <a:rPr lang="it-IT" smtClean="0"/>
              <a:t>07/04/2026</a:t>
            </a:fld>
            <a:endParaRPr lang="it-IT"/>
          </a:p>
        </p:txBody>
      </p:sp>
      <p:sp>
        <p:nvSpPr>
          <p:cNvPr id="6" name="Segnaposto piè di pagina 5">
            <a:extLst>
              <a:ext uri="{FF2B5EF4-FFF2-40B4-BE49-F238E27FC236}">
                <a16:creationId xmlns:a16="http://schemas.microsoft.com/office/drawing/2014/main" id="{58EBEE54-4212-68E0-6672-8C54FB2D8751}"/>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A989421-CC3F-E270-6FD7-41FCB4F878F4}"/>
              </a:ext>
            </a:extLst>
          </p:cNvPr>
          <p:cNvSpPr>
            <a:spLocks noGrp="1"/>
          </p:cNvSpPr>
          <p:nvPr>
            <p:ph type="sldNum" sz="quarter" idx="12"/>
          </p:nvPr>
        </p:nvSpPr>
        <p:spPr/>
        <p:txBody>
          <a:bodyPr/>
          <a:lstStyle/>
          <a:p>
            <a:fld id="{DD3ED0AF-F907-4F10-99F9-6406D94D9369}" type="slidenum">
              <a:rPr lang="it-IT" smtClean="0"/>
              <a:t>‹N›</a:t>
            </a:fld>
            <a:endParaRPr lang="it-IT"/>
          </a:p>
        </p:txBody>
      </p:sp>
    </p:spTree>
    <p:extLst>
      <p:ext uri="{BB962C8B-B14F-4D97-AF65-F5344CB8AC3E}">
        <p14:creationId xmlns:p14="http://schemas.microsoft.com/office/powerpoint/2010/main" val="3385983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1D364E5-8A4C-7E88-7D21-6747F9652AC1}"/>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BDE33D6-4ED1-1112-01C5-C2F7573750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1CA9B67-B50B-5D96-CBE7-809134D53DE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ED7932F6-029A-F5B5-1FDE-B716F8D0F0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9A456D79-7883-2F74-DDED-F4388A4B9FC2}"/>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07D0E54A-249B-7086-C701-09D53B41E389}"/>
              </a:ext>
            </a:extLst>
          </p:cNvPr>
          <p:cNvSpPr>
            <a:spLocks noGrp="1"/>
          </p:cNvSpPr>
          <p:nvPr>
            <p:ph type="dt" sz="half" idx="10"/>
          </p:nvPr>
        </p:nvSpPr>
        <p:spPr/>
        <p:txBody>
          <a:bodyPr/>
          <a:lstStyle/>
          <a:p>
            <a:fld id="{76A3598E-AD3F-4717-88B8-E163AC0105A1}" type="datetimeFigureOut">
              <a:rPr lang="it-IT" smtClean="0"/>
              <a:t>07/04/2026</a:t>
            </a:fld>
            <a:endParaRPr lang="it-IT"/>
          </a:p>
        </p:txBody>
      </p:sp>
      <p:sp>
        <p:nvSpPr>
          <p:cNvPr id="8" name="Segnaposto piè di pagina 7">
            <a:extLst>
              <a:ext uri="{FF2B5EF4-FFF2-40B4-BE49-F238E27FC236}">
                <a16:creationId xmlns:a16="http://schemas.microsoft.com/office/drawing/2014/main" id="{88B42CBE-D851-82CD-6BB6-29B4251656E2}"/>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F6ABBEAA-E39C-5B57-B0C2-0F105BFCAB91}"/>
              </a:ext>
            </a:extLst>
          </p:cNvPr>
          <p:cNvSpPr>
            <a:spLocks noGrp="1"/>
          </p:cNvSpPr>
          <p:nvPr>
            <p:ph type="sldNum" sz="quarter" idx="12"/>
          </p:nvPr>
        </p:nvSpPr>
        <p:spPr/>
        <p:txBody>
          <a:bodyPr/>
          <a:lstStyle/>
          <a:p>
            <a:fld id="{DD3ED0AF-F907-4F10-99F9-6406D94D9369}" type="slidenum">
              <a:rPr lang="it-IT" smtClean="0"/>
              <a:t>‹N›</a:t>
            </a:fld>
            <a:endParaRPr lang="it-IT"/>
          </a:p>
        </p:txBody>
      </p:sp>
    </p:spTree>
    <p:extLst>
      <p:ext uri="{BB962C8B-B14F-4D97-AF65-F5344CB8AC3E}">
        <p14:creationId xmlns:p14="http://schemas.microsoft.com/office/powerpoint/2010/main" val="3950002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A38793A-7FB5-D906-E071-089C4529C8C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25F74A0C-9FCC-0616-AED8-F8972C6895E5}"/>
              </a:ext>
            </a:extLst>
          </p:cNvPr>
          <p:cNvSpPr>
            <a:spLocks noGrp="1"/>
          </p:cNvSpPr>
          <p:nvPr>
            <p:ph type="dt" sz="half" idx="10"/>
          </p:nvPr>
        </p:nvSpPr>
        <p:spPr/>
        <p:txBody>
          <a:bodyPr/>
          <a:lstStyle/>
          <a:p>
            <a:fld id="{76A3598E-AD3F-4717-88B8-E163AC0105A1}" type="datetimeFigureOut">
              <a:rPr lang="it-IT" smtClean="0"/>
              <a:t>07/04/2026</a:t>
            </a:fld>
            <a:endParaRPr lang="it-IT"/>
          </a:p>
        </p:txBody>
      </p:sp>
      <p:sp>
        <p:nvSpPr>
          <p:cNvPr id="4" name="Segnaposto piè di pagina 3">
            <a:extLst>
              <a:ext uri="{FF2B5EF4-FFF2-40B4-BE49-F238E27FC236}">
                <a16:creationId xmlns:a16="http://schemas.microsoft.com/office/drawing/2014/main" id="{44FC6F7C-F3E8-44AE-05F5-9BD592406C13}"/>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43804D9D-9012-C06F-E17E-1C3A190C2A53}"/>
              </a:ext>
            </a:extLst>
          </p:cNvPr>
          <p:cNvSpPr>
            <a:spLocks noGrp="1"/>
          </p:cNvSpPr>
          <p:nvPr>
            <p:ph type="sldNum" sz="quarter" idx="12"/>
          </p:nvPr>
        </p:nvSpPr>
        <p:spPr/>
        <p:txBody>
          <a:bodyPr/>
          <a:lstStyle/>
          <a:p>
            <a:fld id="{DD3ED0AF-F907-4F10-99F9-6406D94D9369}" type="slidenum">
              <a:rPr lang="it-IT" smtClean="0"/>
              <a:t>‹N›</a:t>
            </a:fld>
            <a:endParaRPr lang="it-IT"/>
          </a:p>
        </p:txBody>
      </p:sp>
    </p:spTree>
    <p:extLst>
      <p:ext uri="{BB962C8B-B14F-4D97-AF65-F5344CB8AC3E}">
        <p14:creationId xmlns:p14="http://schemas.microsoft.com/office/powerpoint/2010/main" val="3693521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53193006-1514-C138-3E4F-ECC0F0301908}"/>
              </a:ext>
            </a:extLst>
          </p:cNvPr>
          <p:cNvSpPr>
            <a:spLocks noGrp="1"/>
          </p:cNvSpPr>
          <p:nvPr>
            <p:ph type="dt" sz="half" idx="10"/>
          </p:nvPr>
        </p:nvSpPr>
        <p:spPr/>
        <p:txBody>
          <a:bodyPr/>
          <a:lstStyle/>
          <a:p>
            <a:fld id="{76A3598E-AD3F-4717-88B8-E163AC0105A1}" type="datetimeFigureOut">
              <a:rPr lang="it-IT" smtClean="0"/>
              <a:t>07/04/2026</a:t>
            </a:fld>
            <a:endParaRPr lang="it-IT"/>
          </a:p>
        </p:txBody>
      </p:sp>
      <p:sp>
        <p:nvSpPr>
          <p:cNvPr id="3" name="Segnaposto piè di pagina 2">
            <a:extLst>
              <a:ext uri="{FF2B5EF4-FFF2-40B4-BE49-F238E27FC236}">
                <a16:creationId xmlns:a16="http://schemas.microsoft.com/office/drawing/2014/main" id="{199DD1C8-0744-FE0B-018D-1D646AFDA455}"/>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894E57B6-0E03-2F31-A001-BA450197AC32}"/>
              </a:ext>
            </a:extLst>
          </p:cNvPr>
          <p:cNvSpPr>
            <a:spLocks noGrp="1"/>
          </p:cNvSpPr>
          <p:nvPr>
            <p:ph type="sldNum" sz="quarter" idx="12"/>
          </p:nvPr>
        </p:nvSpPr>
        <p:spPr/>
        <p:txBody>
          <a:bodyPr/>
          <a:lstStyle/>
          <a:p>
            <a:fld id="{DD3ED0AF-F907-4F10-99F9-6406D94D9369}" type="slidenum">
              <a:rPr lang="it-IT" smtClean="0"/>
              <a:t>‹N›</a:t>
            </a:fld>
            <a:endParaRPr lang="it-IT"/>
          </a:p>
        </p:txBody>
      </p:sp>
    </p:spTree>
    <p:extLst>
      <p:ext uri="{BB962C8B-B14F-4D97-AF65-F5344CB8AC3E}">
        <p14:creationId xmlns:p14="http://schemas.microsoft.com/office/powerpoint/2010/main" val="509282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C3F02B0-B259-D857-A26E-5249C1E9D121}"/>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71354CB-C9E1-6B0E-C569-5ABC9A1F24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EF08262D-77AB-327B-8A41-551BF9598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9E548CA-7751-6ED7-470A-A7BD1F95833E}"/>
              </a:ext>
            </a:extLst>
          </p:cNvPr>
          <p:cNvSpPr>
            <a:spLocks noGrp="1"/>
          </p:cNvSpPr>
          <p:nvPr>
            <p:ph type="dt" sz="half" idx="10"/>
          </p:nvPr>
        </p:nvSpPr>
        <p:spPr/>
        <p:txBody>
          <a:bodyPr/>
          <a:lstStyle/>
          <a:p>
            <a:fld id="{76A3598E-AD3F-4717-88B8-E163AC0105A1}" type="datetimeFigureOut">
              <a:rPr lang="it-IT" smtClean="0"/>
              <a:t>07/04/2026</a:t>
            </a:fld>
            <a:endParaRPr lang="it-IT"/>
          </a:p>
        </p:txBody>
      </p:sp>
      <p:sp>
        <p:nvSpPr>
          <p:cNvPr id="6" name="Segnaposto piè di pagina 5">
            <a:extLst>
              <a:ext uri="{FF2B5EF4-FFF2-40B4-BE49-F238E27FC236}">
                <a16:creationId xmlns:a16="http://schemas.microsoft.com/office/drawing/2014/main" id="{11E69CB1-54B7-FA21-929A-F7271B705B0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B36072F-C82E-7FF0-EEC6-F852AB56CACF}"/>
              </a:ext>
            </a:extLst>
          </p:cNvPr>
          <p:cNvSpPr>
            <a:spLocks noGrp="1"/>
          </p:cNvSpPr>
          <p:nvPr>
            <p:ph type="sldNum" sz="quarter" idx="12"/>
          </p:nvPr>
        </p:nvSpPr>
        <p:spPr/>
        <p:txBody>
          <a:bodyPr/>
          <a:lstStyle/>
          <a:p>
            <a:fld id="{DD3ED0AF-F907-4F10-99F9-6406D94D9369}" type="slidenum">
              <a:rPr lang="it-IT" smtClean="0"/>
              <a:t>‹N›</a:t>
            </a:fld>
            <a:endParaRPr lang="it-IT"/>
          </a:p>
        </p:txBody>
      </p:sp>
    </p:spTree>
    <p:extLst>
      <p:ext uri="{BB962C8B-B14F-4D97-AF65-F5344CB8AC3E}">
        <p14:creationId xmlns:p14="http://schemas.microsoft.com/office/powerpoint/2010/main" val="1814687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D9FE02-B52E-9037-012D-1721E0E9074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39E8E64B-85D3-EFA9-150B-6E51A71F35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885913B0-2CDF-6162-F43B-364AD54E7E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7BFB4C2-0CA1-9082-CBA0-743E35E78555}"/>
              </a:ext>
            </a:extLst>
          </p:cNvPr>
          <p:cNvSpPr>
            <a:spLocks noGrp="1"/>
          </p:cNvSpPr>
          <p:nvPr>
            <p:ph type="dt" sz="half" idx="10"/>
          </p:nvPr>
        </p:nvSpPr>
        <p:spPr/>
        <p:txBody>
          <a:bodyPr/>
          <a:lstStyle/>
          <a:p>
            <a:fld id="{76A3598E-AD3F-4717-88B8-E163AC0105A1}" type="datetimeFigureOut">
              <a:rPr lang="it-IT" smtClean="0"/>
              <a:t>07/04/2026</a:t>
            </a:fld>
            <a:endParaRPr lang="it-IT"/>
          </a:p>
        </p:txBody>
      </p:sp>
      <p:sp>
        <p:nvSpPr>
          <p:cNvPr id="6" name="Segnaposto piè di pagina 5">
            <a:extLst>
              <a:ext uri="{FF2B5EF4-FFF2-40B4-BE49-F238E27FC236}">
                <a16:creationId xmlns:a16="http://schemas.microsoft.com/office/drawing/2014/main" id="{6730DC3F-7FB5-9BAF-5D27-84B27068CBD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C60F495-A6D7-FA67-3B87-01C2E90D9F1E}"/>
              </a:ext>
            </a:extLst>
          </p:cNvPr>
          <p:cNvSpPr>
            <a:spLocks noGrp="1"/>
          </p:cNvSpPr>
          <p:nvPr>
            <p:ph type="sldNum" sz="quarter" idx="12"/>
          </p:nvPr>
        </p:nvSpPr>
        <p:spPr/>
        <p:txBody>
          <a:bodyPr/>
          <a:lstStyle/>
          <a:p>
            <a:fld id="{DD3ED0AF-F907-4F10-99F9-6406D94D9369}" type="slidenum">
              <a:rPr lang="it-IT" smtClean="0"/>
              <a:t>‹N›</a:t>
            </a:fld>
            <a:endParaRPr lang="it-IT"/>
          </a:p>
        </p:txBody>
      </p:sp>
    </p:spTree>
    <p:extLst>
      <p:ext uri="{BB962C8B-B14F-4D97-AF65-F5344CB8AC3E}">
        <p14:creationId xmlns:p14="http://schemas.microsoft.com/office/powerpoint/2010/main" val="3693864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C8359EA-B0E9-AF59-83DB-8920B978E01F}"/>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F0F022ED-BE35-EFD3-1492-DD7EFDD5367B}"/>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44B5508-01C4-2085-A272-479EC57FBE5B}"/>
              </a:ext>
            </a:extLst>
          </p:cNvPr>
          <p:cNvSpPr>
            <a:spLocks noGrp="1"/>
          </p:cNvSpPr>
          <p:nvPr>
            <p:ph type="dt" sz="half" idx="10"/>
          </p:nvPr>
        </p:nvSpPr>
        <p:spPr/>
        <p:txBody>
          <a:bodyPr/>
          <a:lstStyle/>
          <a:p>
            <a:fld id="{76A3598E-AD3F-4717-88B8-E163AC0105A1}" type="datetimeFigureOut">
              <a:rPr lang="it-IT" smtClean="0"/>
              <a:t>07/04/2026</a:t>
            </a:fld>
            <a:endParaRPr lang="it-IT"/>
          </a:p>
        </p:txBody>
      </p:sp>
      <p:sp>
        <p:nvSpPr>
          <p:cNvPr id="5" name="Segnaposto piè di pagina 4">
            <a:extLst>
              <a:ext uri="{FF2B5EF4-FFF2-40B4-BE49-F238E27FC236}">
                <a16:creationId xmlns:a16="http://schemas.microsoft.com/office/drawing/2014/main" id="{1287838E-E708-72F0-38CF-2EFD5034087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2436E11-E8A4-0F1F-AE01-0AF216599D05}"/>
              </a:ext>
            </a:extLst>
          </p:cNvPr>
          <p:cNvSpPr>
            <a:spLocks noGrp="1"/>
          </p:cNvSpPr>
          <p:nvPr>
            <p:ph type="sldNum" sz="quarter" idx="12"/>
          </p:nvPr>
        </p:nvSpPr>
        <p:spPr/>
        <p:txBody>
          <a:bodyPr/>
          <a:lstStyle/>
          <a:p>
            <a:fld id="{DD3ED0AF-F907-4F10-99F9-6406D94D9369}" type="slidenum">
              <a:rPr lang="it-IT" smtClean="0"/>
              <a:t>‹N›</a:t>
            </a:fld>
            <a:endParaRPr lang="it-IT"/>
          </a:p>
        </p:txBody>
      </p:sp>
    </p:spTree>
    <p:extLst>
      <p:ext uri="{BB962C8B-B14F-4D97-AF65-F5344CB8AC3E}">
        <p14:creationId xmlns:p14="http://schemas.microsoft.com/office/powerpoint/2010/main" val="1960824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D0FE4D6-FDED-6EEB-16F2-5B3C350E2037}"/>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D38C437-2A09-2C4E-FB1E-4873BFCFAFE4}"/>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28620AA-B0D7-ED1C-CB6D-1B53F5E13E85}"/>
              </a:ext>
            </a:extLst>
          </p:cNvPr>
          <p:cNvSpPr>
            <a:spLocks noGrp="1"/>
          </p:cNvSpPr>
          <p:nvPr>
            <p:ph type="dt" sz="half" idx="10"/>
          </p:nvPr>
        </p:nvSpPr>
        <p:spPr/>
        <p:txBody>
          <a:bodyPr/>
          <a:lstStyle/>
          <a:p>
            <a:fld id="{76A3598E-AD3F-4717-88B8-E163AC0105A1}" type="datetimeFigureOut">
              <a:rPr lang="it-IT" smtClean="0"/>
              <a:t>07/04/2026</a:t>
            </a:fld>
            <a:endParaRPr lang="it-IT"/>
          </a:p>
        </p:txBody>
      </p:sp>
      <p:sp>
        <p:nvSpPr>
          <p:cNvPr id="5" name="Segnaposto piè di pagina 4">
            <a:extLst>
              <a:ext uri="{FF2B5EF4-FFF2-40B4-BE49-F238E27FC236}">
                <a16:creationId xmlns:a16="http://schemas.microsoft.com/office/drawing/2014/main" id="{0A4EBA16-598B-7500-318E-9CB9B35B4A9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27313DF-2CA2-64F4-C557-885E142A5FE9}"/>
              </a:ext>
            </a:extLst>
          </p:cNvPr>
          <p:cNvSpPr>
            <a:spLocks noGrp="1"/>
          </p:cNvSpPr>
          <p:nvPr>
            <p:ph type="sldNum" sz="quarter" idx="12"/>
          </p:nvPr>
        </p:nvSpPr>
        <p:spPr/>
        <p:txBody>
          <a:bodyPr/>
          <a:lstStyle/>
          <a:p>
            <a:fld id="{DD3ED0AF-F907-4F10-99F9-6406D94D9369}" type="slidenum">
              <a:rPr lang="it-IT" smtClean="0"/>
              <a:t>‹N›</a:t>
            </a:fld>
            <a:endParaRPr lang="it-IT"/>
          </a:p>
        </p:txBody>
      </p:sp>
    </p:spTree>
    <p:extLst>
      <p:ext uri="{BB962C8B-B14F-4D97-AF65-F5344CB8AC3E}">
        <p14:creationId xmlns:p14="http://schemas.microsoft.com/office/powerpoint/2010/main" val="3608146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C108DF02-07A0-E71C-BB68-DA1ADE259D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D1AE2025-EB48-2834-1BD3-423E8BCFC2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18E9286-B972-9B71-3489-BEAACA359A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A3598E-AD3F-4717-88B8-E163AC0105A1}" type="datetimeFigureOut">
              <a:rPr lang="it-IT" smtClean="0"/>
              <a:t>07/04/2026</a:t>
            </a:fld>
            <a:endParaRPr lang="it-IT"/>
          </a:p>
        </p:txBody>
      </p:sp>
      <p:sp>
        <p:nvSpPr>
          <p:cNvPr id="5" name="Segnaposto piè di pagina 4">
            <a:extLst>
              <a:ext uri="{FF2B5EF4-FFF2-40B4-BE49-F238E27FC236}">
                <a16:creationId xmlns:a16="http://schemas.microsoft.com/office/drawing/2014/main" id="{1C33CBE1-6DC9-20D8-6945-D86E51D17A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B5003053-166C-490D-E21C-A5A3039ED3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3ED0AF-F907-4F10-99F9-6406D94D9369}" type="slidenum">
              <a:rPr lang="it-IT" smtClean="0"/>
              <a:t>‹N›</a:t>
            </a:fld>
            <a:endParaRPr lang="it-IT"/>
          </a:p>
        </p:txBody>
      </p:sp>
    </p:spTree>
    <p:extLst>
      <p:ext uri="{BB962C8B-B14F-4D97-AF65-F5344CB8AC3E}">
        <p14:creationId xmlns:p14="http://schemas.microsoft.com/office/powerpoint/2010/main" val="912177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www.researchgate.net/publication/220100741_Voxel_Similarity_Measures_for_3D_Serial_MR_Brain_Image_Registration" TargetMode="External"/><Relationship Id="rId2" Type="http://schemas.openxmlformats.org/officeDocument/2006/relationships/hyperlink" Target="https://helios2.mi.parisdescartes.fr/~lomn/Cours/CV/BME/Registration/registration3.pdf" TargetMode="External"/><Relationship Id="rId1" Type="http://schemas.openxmlformats.org/officeDocument/2006/relationships/slideLayout" Target="../slideLayouts/slideLayout7.xml"/><Relationship Id="rId6" Type="http://schemas.openxmlformats.org/officeDocument/2006/relationships/hyperlink" Target="https://link.springer.com/article/10.1007/s10589-010-9329-3" TargetMode="External"/><Relationship Id="rId5" Type="http://schemas.openxmlformats.org/officeDocument/2006/relationships/hyperlink" Target="https://www.sciencedirect.com/science/article/pii/S1361841599800309?via%3Dihub" TargetMode="External"/><Relationship Id="rId4" Type="http://schemas.openxmlformats.org/officeDocument/2006/relationships/hyperlink" Target="https://www.scirp.org/journal/paperinformation?paperid=19558"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EFCF5AC3-37E9-2C99-9F61-BA0E2C1E9C95}"/>
              </a:ext>
            </a:extLst>
          </p:cNvPr>
          <p:cNvSpPr txBox="1"/>
          <p:nvPr/>
        </p:nvSpPr>
        <p:spPr>
          <a:xfrm>
            <a:off x="434201" y="278802"/>
            <a:ext cx="9160501" cy="11233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00" dirty="0"/>
              <a:t>Assignment 1 – Computer Vision
Multimodal Image </a:t>
            </a:r>
            <a:r>
              <a:rPr lang="it-IT" sz="4000" dirty="0" err="1"/>
              <a:t>Registration</a:t>
            </a:r>
            <a:endParaRPr lang="it-IT" sz="4000" noProof="0" dirty="0"/>
          </a:p>
        </p:txBody>
      </p:sp>
      <p:sp>
        <p:nvSpPr>
          <p:cNvPr id="15" name="TextBox 2">
            <a:extLst>
              <a:ext uri="{FF2B5EF4-FFF2-40B4-BE49-F238E27FC236}">
                <a16:creationId xmlns:a16="http://schemas.microsoft.com/office/drawing/2014/main" id="{1A59FA3B-8019-477A-2C23-375BAE4347EA}"/>
              </a:ext>
            </a:extLst>
          </p:cNvPr>
          <p:cNvSpPr txBox="1"/>
          <p:nvPr/>
        </p:nvSpPr>
        <p:spPr>
          <a:xfrm>
            <a:off x="8769193" y="6428227"/>
            <a:ext cx="3028722"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pPr algn="ctr"/>
            <a:r>
              <a:rPr lang="it-IT" sz="2000" noProof="0" dirty="0">
                <a:latin typeface="OCR A Extended" panose="02010509020102010303" pitchFamily="50" charset="0"/>
              </a:rPr>
              <a:t>Gabriele Lo Cascio</a:t>
            </a:r>
          </a:p>
        </p:txBody>
      </p:sp>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10525F7A-4DC6-79A8-6E00-A0ADB51B841E}"/>
                  </a:ext>
                </a:extLst>
              </p:cNvPr>
              <p:cNvSpPr txBox="1"/>
              <p:nvPr/>
            </p:nvSpPr>
            <p:spPr>
              <a:xfrm>
                <a:off x="394077" y="2092089"/>
                <a:ext cx="11403839" cy="2780698"/>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dirty="0"/>
                  <a:t>Develop a complete system for recording multimodal images acquired by different sensors.
Estimate a geometric transformation (roto-translation with three parameters) between pairs of images maximizing the Mutual Information.</a:t>
                </a:r>
                <a:endParaRPr lang="en-US" i="1" dirty="0">
                  <a:latin typeface="Cambria Math" panose="02040503050406030204" pitchFamily="18" charset="0"/>
                </a:endParaRPr>
              </a:p>
              <a:p>
                <a:pPr algn="ctr">
                  <a:lnSpc>
                    <a:spcPct val="107000"/>
                  </a:lnSpc>
                  <a:spcAft>
                    <a:spcPts val="800"/>
                  </a:spcAft>
                </a:pPr>
                <a14:m>
                  <m:oMath xmlns:m="http://schemas.openxmlformats.org/officeDocument/2006/math">
                    <m:sSup>
                      <m:sSupPr>
                        <m:ctrlPr>
                          <a:rPr lang="it-IT" i="1">
                            <a:latin typeface="Cambria Math" panose="02040503050406030204" pitchFamily="18" charset="0"/>
                          </a:rPr>
                        </m:ctrlPr>
                      </m:sSupPr>
                      <m:e>
                        <m:r>
                          <a:rPr lang="it-IT" i="1">
                            <a:latin typeface="Cambria Math" panose="02040503050406030204" pitchFamily="18" charset="0"/>
                          </a:rPr>
                          <m:t>𝑇</m:t>
                        </m:r>
                      </m:e>
                      <m:sup>
                        <m:r>
                          <a:rPr lang="it-IT" i="1">
                            <a:latin typeface="Cambria Math" panose="02040503050406030204" pitchFamily="18" charset="0"/>
                          </a:rPr>
                          <m:t>∗</m:t>
                        </m:r>
                      </m:sup>
                    </m:sSup>
                    <m:r>
                      <a:rPr lang="it-IT" i="1">
                        <a:latin typeface="Cambria Math" panose="02040503050406030204" pitchFamily="18" charset="0"/>
                      </a:rPr>
                      <m:t>=</m:t>
                    </m:r>
                  </m:oMath>
                </a14:m>
                <a:r>
                  <a:rPr lang="it-IT" dirty="0"/>
                  <a:t> </a:t>
                </a:r>
                <a14:m>
                  <m:oMath xmlns:m="http://schemas.openxmlformats.org/officeDocument/2006/math">
                    <m:r>
                      <m:rPr>
                        <m:sty m:val="p"/>
                      </m:rPr>
                      <a:rPr lang="it-IT" dirty="0">
                        <a:latin typeface="Cambria Math" panose="02040503050406030204" pitchFamily="18" charset="0"/>
                      </a:rPr>
                      <m:t>a</m:t>
                    </m:r>
                    <m:r>
                      <m:rPr>
                        <m:sty m:val="p"/>
                      </m:rPr>
                      <a:rPr lang="it-IT" b="0" i="0" dirty="0" smtClean="0">
                        <a:latin typeface="Cambria Math" panose="02040503050406030204" pitchFamily="18" charset="0"/>
                      </a:rPr>
                      <m:t>rg</m:t>
                    </m:r>
                    <m:limLow>
                      <m:limLowPr>
                        <m:ctrlPr>
                          <a:rPr lang="it-IT" i="1">
                            <a:latin typeface="Cambria Math" panose="02040503050406030204" pitchFamily="18" charset="0"/>
                          </a:rPr>
                        </m:ctrlPr>
                      </m:limLowPr>
                      <m:e>
                        <m:r>
                          <a:rPr lang="it-IT" b="0" i="1" smtClean="0">
                            <a:latin typeface="Cambria Math" panose="02040503050406030204" pitchFamily="18" charset="0"/>
                          </a:rPr>
                          <m:t>𝑚𝑎𝑥</m:t>
                        </m:r>
                      </m:e>
                      <m:lim>
                        <m:r>
                          <a:rPr lang="it-IT" i="1">
                            <a:latin typeface="Cambria Math" panose="02040503050406030204" pitchFamily="18" charset="0"/>
                          </a:rPr>
                          <m:t>𝑇</m:t>
                        </m:r>
                      </m:lim>
                    </m:limLow>
                    <m:r>
                      <a:rPr lang="it-IT" b="0" i="1" smtClean="0">
                        <a:latin typeface="Cambria Math" panose="02040503050406030204" pitchFamily="18" charset="0"/>
                      </a:rPr>
                      <m:t> </m:t>
                    </m:r>
                    <m:r>
                      <a:rPr lang="it-IT" i="1">
                        <a:latin typeface="Cambria Math" panose="02040503050406030204" pitchFamily="18" charset="0"/>
                      </a:rPr>
                      <m:t>𝑀𝐼</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𝑅</m:t>
                            </m:r>
                          </m:sub>
                        </m:sSub>
                        <m:r>
                          <a:rPr lang="it-IT" i="1">
                            <a:latin typeface="Cambria Math" panose="02040503050406030204" pitchFamily="18" charset="0"/>
                          </a:rPr>
                          <m:t>,</m:t>
                        </m:r>
                        <m:r>
                          <a:rPr lang="it-IT" i="1">
                            <a:latin typeface="Cambria Math" panose="02040503050406030204" pitchFamily="18" charset="0"/>
                          </a:rPr>
                          <m:t>𝑇</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𝑚</m:t>
                                </m:r>
                              </m:sub>
                            </m:sSub>
                          </m:e>
                        </m:d>
                      </m:e>
                    </m:d>
                  </m:oMath>
                </a14:m>
                <a:r>
                  <a:rPr lang="it-IT" dirty="0"/>
                  <a:t> </a:t>
                </a:r>
              </a:p>
              <a:p>
                <a:pPr marL="285750" indent="-285750">
                  <a:lnSpc>
                    <a:spcPct val="107000"/>
                  </a:lnSpc>
                  <a:spcAft>
                    <a:spcPts val="800"/>
                  </a:spcAft>
                  <a:buFont typeface="Courier New" panose="02070309020205020404" pitchFamily="49" charset="0"/>
                  <a:buChar char="o"/>
                </a:pPr>
                <a:r>
                  <a:rPr lang="en-US" dirty="0"/>
                  <a:t>Determine the hyperparameter values that produce, on average, the best configuration:</a:t>
                </a:r>
              </a:p>
              <a:p>
                <a:pPr marL="800100" lvl="1" indent="-342900">
                  <a:lnSpc>
                    <a:spcPct val="107000"/>
                  </a:lnSpc>
                  <a:spcAft>
                    <a:spcPts val="800"/>
                  </a:spcAft>
                  <a:buFont typeface="+mj-lt"/>
                  <a:buAutoNum type="arabicParenR"/>
                </a:pPr>
                <a:r>
                  <a:rPr lang="it-IT" dirty="0"/>
                  <a:t>Number of bins (required)</a:t>
                </a:r>
              </a:p>
              <a:p>
                <a:pPr marL="800100" lvl="1" indent="-342900">
                  <a:lnSpc>
                    <a:spcPct val="107000"/>
                  </a:lnSpc>
                  <a:spcAft>
                    <a:spcPts val="800"/>
                  </a:spcAft>
                  <a:buFont typeface="+mj-lt"/>
                  <a:buAutoNum type="arabicParenR"/>
                </a:pPr>
                <a:r>
                  <a:rPr lang="it-IT" dirty="0"/>
                  <a:t>Best optimization algorithm (optional)</a:t>
                </a:r>
              </a:p>
            </p:txBody>
          </p:sp>
        </mc:Choice>
        <mc:Fallback>
          <p:sp>
            <p:nvSpPr>
              <p:cNvPr id="5" name="CasellaDiTesto 4">
                <a:extLst>
                  <a:ext uri="{FF2B5EF4-FFF2-40B4-BE49-F238E27FC236}">
                    <a16:creationId xmlns:a16="http://schemas.microsoft.com/office/drawing/2014/main" id="{10525F7A-4DC6-79A8-6E00-A0ADB51B841E}"/>
                  </a:ext>
                </a:extLst>
              </p:cNvPr>
              <p:cNvSpPr txBox="1">
                <a:spLocks noRot="1" noChangeAspect="1" noMove="1" noResize="1" noEditPoints="1" noAdjustHandles="1" noChangeArrowheads="1" noChangeShapeType="1" noTextEdit="1"/>
              </p:cNvSpPr>
              <p:nvPr/>
            </p:nvSpPr>
            <p:spPr>
              <a:xfrm>
                <a:off x="394077" y="2092089"/>
                <a:ext cx="11403839" cy="2780698"/>
              </a:xfrm>
              <a:prstGeom prst="rect">
                <a:avLst/>
              </a:prstGeom>
              <a:blipFill>
                <a:blip r:embed="rId2"/>
                <a:stretch>
                  <a:fillRect l="-374" t="-658" b="-2851"/>
                </a:stretch>
              </a:blipFill>
            </p:spPr>
            <p:txBody>
              <a:bodyPr/>
              <a:lstStyle/>
              <a:p>
                <a:r>
                  <a:rPr lang="it-IT">
                    <a:noFill/>
                  </a:rPr>
                  <a:t> </a:t>
                </a:r>
              </a:p>
            </p:txBody>
          </p:sp>
        </mc:Fallback>
      </mc:AlternateContent>
      <p:sp>
        <p:nvSpPr>
          <p:cNvPr id="7" name="TextBox 2">
            <a:extLst>
              <a:ext uri="{FF2B5EF4-FFF2-40B4-BE49-F238E27FC236}">
                <a16:creationId xmlns:a16="http://schemas.microsoft.com/office/drawing/2014/main" id="{58096F9F-86F4-200A-D3BD-709ABE31CBA7}"/>
              </a:ext>
            </a:extLst>
          </p:cNvPr>
          <p:cNvSpPr txBox="1"/>
          <p:nvPr/>
        </p:nvSpPr>
        <p:spPr>
          <a:xfrm>
            <a:off x="434200" y="1643695"/>
            <a:ext cx="9160501" cy="398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2800" b="0"/>
              <a:t>Objectives</a:t>
            </a:r>
            <a:endParaRPr lang="it-IT" sz="2800" b="0" noProof="0" dirty="0"/>
          </a:p>
        </p:txBody>
      </p:sp>
      <p:sp>
        <p:nvSpPr>
          <p:cNvPr id="3" name="CasellaDiTesto 2">
            <a:extLst>
              <a:ext uri="{FF2B5EF4-FFF2-40B4-BE49-F238E27FC236}">
                <a16:creationId xmlns:a16="http://schemas.microsoft.com/office/drawing/2014/main" id="{3FE51B48-2E77-B70F-5A1A-8E5C448C83BA}"/>
              </a:ext>
            </a:extLst>
          </p:cNvPr>
          <p:cNvSpPr txBox="1"/>
          <p:nvPr/>
        </p:nvSpPr>
        <p:spPr>
          <a:xfrm>
            <a:off x="394076" y="5562690"/>
            <a:ext cx="11403839" cy="674928"/>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dirty="0"/>
              <a:t>The set of data is divided into validation and test sets, in each of which eight pairs of images from satellite acquisitions are available. In addition, the pairs in each set are characterized by progressive misalignment.</a:t>
            </a:r>
            <a:endParaRPr lang="it-IT" dirty="0"/>
          </a:p>
        </p:txBody>
      </p:sp>
      <p:sp>
        <p:nvSpPr>
          <p:cNvPr id="4" name="TextBox 2">
            <a:extLst>
              <a:ext uri="{FF2B5EF4-FFF2-40B4-BE49-F238E27FC236}">
                <a16:creationId xmlns:a16="http://schemas.microsoft.com/office/drawing/2014/main" id="{E5F07409-679A-1541-6E67-898C179B2CCC}"/>
              </a:ext>
            </a:extLst>
          </p:cNvPr>
          <p:cNvSpPr txBox="1"/>
          <p:nvPr/>
        </p:nvSpPr>
        <p:spPr>
          <a:xfrm>
            <a:off x="434200" y="5020575"/>
            <a:ext cx="9160501" cy="398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2800" b="0" noProof="0" dirty="0"/>
              <a:t>Dataset</a:t>
            </a:r>
          </a:p>
        </p:txBody>
      </p:sp>
    </p:spTree>
    <p:extLst>
      <p:ext uri="{BB962C8B-B14F-4D97-AF65-F5344CB8AC3E}">
        <p14:creationId xmlns:p14="http://schemas.microsoft.com/office/powerpoint/2010/main" val="3859650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FD23D-253A-5C29-5D12-A7AFAFD1C0FA}"/>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AC1EBE0C-E805-BFEA-420F-26D1697AAAD4}"/>
              </a:ext>
            </a:extLst>
          </p:cNvPr>
          <p:cNvSpPr txBox="1"/>
          <p:nvPr/>
        </p:nvSpPr>
        <p:spPr>
          <a:xfrm>
            <a:off x="370318" y="302655"/>
            <a:ext cx="5799674"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a:t>Introduction</a:t>
            </a:r>
            <a:endParaRPr lang="it-IT" sz="4067" noProof="0" dirty="0"/>
          </a:p>
        </p:txBody>
      </p:sp>
      <p:sp>
        <p:nvSpPr>
          <p:cNvPr id="5" name="CasellaDiTesto 4">
            <a:extLst>
              <a:ext uri="{FF2B5EF4-FFF2-40B4-BE49-F238E27FC236}">
                <a16:creationId xmlns:a16="http://schemas.microsoft.com/office/drawing/2014/main" id="{39D0B398-873E-3B92-72F6-E5AE38CC424B}"/>
              </a:ext>
            </a:extLst>
          </p:cNvPr>
          <p:cNvSpPr txBox="1"/>
          <p:nvPr/>
        </p:nvSpPr>
        <p:spPr>
          <a:xfrm>
            <a:off x="370318" y="1034754"/>
            <a:ext cx="11202250" cy="5702715"/>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dirty="0">
                <a:cs typeface="Arial" panose="020B0604020202020204" pitchFamily="34" charset="0"/>
              </a:rPr>
              <a:t>Registration consists of determining a geometric transformation that aligns corresponding points of two images[1]. 
Given the different nature of the images to be analyzed, as they are acquired by different sensors, it is not possible to resort to feature-based methods.
The idea is to establish a certain criterion of similarity between reference and moving images, i.e. the one transformed according to T. The criterion chosen is Mutual Information, which is based on the concept of entropy and is therefore directly linked to probability.</a:t>
            </a:r>
          </a:p>
          <a:p>
            <a:pPr>
              <a:lnSpc>
                <a:spcPct val="107000"/>
              </a:lnSpc>
              <a:spcAft>
                <a:spcPts val="800"/>
              </a:spcAft>
            </a:pPr>
            <a:endParaRPr lang="en-US" sz="1900" kern="100" dirty="0">
              <a:cs typeface="Arial" panose="020B0604020202020204" pitchFamily="34" charset="0"/>
            </a:endParaRPr>
          </a:p>
          <a:p>
            <a:pPr marL="342900" indent="-342900">
              <a:lnSpc>
                <a:spcPct val="107000"/>
              </a:lnSpc>
              <a:spcAft>
                <a:spcPts val="800"/>
              </a:spcAft>
              <a:buFont typeface="Courier New" panose="02070309020205020404" pitchFamily="49" charset="0"/>
              <a:buChar char="o"/>
            </a:pPr>
            <a:r>
              <a:rPr lang="en-US" sz="1900" kern="100" dirty="0">
                <a:cs typeface="Arial" panose="020B0604020202020204" pitchFamily="34" charset="0"/>
              </a:rPr>
              <a:t>First, a 2D histogram is constructed, then the number of bins with which to divide the intensity range (0-255) is established, and we assume it is the same for both axes. Each bin represents a range of intensity.
Then the pixels are analyzed in terms of indices of both images, and the pair (intensità_pixel_ref, intensità_pixel_mov) is obtained. The 2D histogram will then be a grid whose cells represent the absolute frequency, i.e. how many times this pair has occurred.
Starting from the absolute frequencies, the relative frequencies are calculated, which in fact provide an estimate of the probability corresponding to the pair. Finally, the Mutual Information is calculated.</a:t>
            </a:r>
            <a:endParaRPr lang="it-IT" sz="1900" kern="100" dirty="0">
              <a:cs typeface="Arial" panose="020B0604020202020204" pitchFamily="34" charset="0"/>
            </a:endParaRPr>
          </a:p>
        </p:txBody>
      </p:sp>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222EAED3-C73B-6DCA-0A5E-44AE81C34F27}"/>
                  </a:ext>
                </a:extLst>
              </p:cNvPr>
              <p:cNvSpPr txBox="1"/>
              <p:nvPr/>
            </p:nvSpPr>
            <p:spPr>
              <a:xfrm>
                <a:off x="2349006" y="3508635"/>
                <a:ext cx="7641972" cy="377476"/>
              </a:xfrm>
              <a:prstGeom prst="rect">
                <a:avLst/>
              </a:prstGeom>
              <a:noFill/>
            </p:spPr>
            <p:txBody>
              <a:bodyPr wrap="square">
                <a:spAutoFit/>
              </a:bodyPr>
              <a:lstStyle/>
              <a:p>
                <a:pPr>
                  <a:lnSpc>
                    <a:spcPct val="107000"/>
                  </a:lnSpc>
                  <a:spcAft>
                    <a:spcPts val="800"/>
                  </a:spcAft>
                </a:pPr>
                <a14:m>
                  <m:oMath xmlns:m="http://schemas.openxmlformats.org/officeDocument/2006/math">
                    <m:r>
                      <a:rPr lang="it-IT" i="1" smtClean="0">
                        <a:latin typeface="Cambria Math" panose="02040503050406030204" pitchFamily="18" charset="0"/>
                      </a:rPr>
                      <m:t>𝐻</m:t>
                    </m:r>
                    <m:d>
                      <m:dPr>
                        <m:ctrlPr>
                          <a:rPr lang="it-IT" i="1" smtClean="0">
                            <a:latin typeface="Cambria Math" panose="02040503050406030204" pitchFamily="18" charset="0"/>
                          </a:rPr>
                        </m:ctrlPr>
                      </m:dPr>
                      <m:e>
                        <m:r>
                          <a:rPr lang="it-IT" b="0" i="1" smtClean="0">
                            <a:latin typeface="Cambria Math" panose="02040503050406030204" pitchFamily="18" charset="0"/>
                          </a:rPr>
                          <m:t>𝐼</m:t>
                        </m:r>
                      </m:e>
                    </m:d>
                    <m:r>
                      <a:rPr lang="it-IT" b="0" i="1" smtClean="0">
                        <a:latin typeface="Cambria Math" panose="02040503050406030204" pitchFamily="18" charset="0"/>
                      </a:rPr>
                      <m:t>=</m:t>
                    </m:r>
                    <m:r>
                      <a:rPr lang="en-US" b="0" i="1" smtClean="0">
                        <a:latin typeface="Cambria Math" panose="02040503050406030204" pitchFamily="18" charset="0"/>
                      </a:rPr>
                      <m:t>−</m:t>
                    </m:r>
                    <m:nary>
                      <m:naryPr>
                        <m:chr m:val="∑"/>
                        <m:supHide m:val="on"/>
                        <m:ctrlPr>
                          <a:rPr lang="it-IT" b="0" i="1" smtClean="0">
                            <a:latin typeface="Cambria Math" panose="02040503050406030204" pitchFamily="18" charset="0"/>
                          </a:rPr>
                        </m:ctrlPr>
                      </m:naryPr>
                      <m:sub>
                        <m:r>
                          <m:rPr>
                            <m:brk m:alnAt="7"/>
                          </m:rPr>
                          <a:rPr lang="it-IT" b="0" i="1" smtClean="0">
                            <a:latin typeface="Cambria Math" panose="02040503050406030204" pitchFamily="18" charset="0"/>
                          </a:rPr>
                          <m:t>𝑖</m:t>
                        </m:r>
                      </m:sub>
                      <m:sup/>
                      <m:e>
                        <m:r>
                          <a:rPr lang="it-IT" b="0" i="1" smtClean="0">
                            <a:latin typeface="Cambria Math" panose="02040503050406030204" pitchFamily="18" charset="0"/>
                          </a:rPr>
                          <m:t>𝑝</m:t>
                        </m:r>
                        <m:d>
                          <m:dPr>
                            <m:ctrlPr>
                              <a:rPr lang="it-IT" b="0" i="1" smtClean="0">
                                <a:latin typeface="Cambria Math" panose="02040503050406030204" pitchFamily="18" charset="0"/>
                              </a:rPr>
                            </m:ctrlPr>
                          </m:dPr>
                          <m:e>
                            <m:r>
                              <a:rPr lang="it-IT" b="0" i="1" smtClean="0">
                                <a:latin typeface="Cambria Math" panose="02040503050406030204" pitchFamily="18" charset="0"/>
                              </a:rPr>
                              <m:t>𝑖</m:t>
                            </m:r>
                          </m:e>
                        </m:d>
                        <m:func>
                          <m:funcPr>
                            <m:ctrlPr>
                              <a:rPr lang="it-IT" b="0" i="1" smtClean="0">
                                <a:latin typeface="Cambria Math" panose="02040503050406030204" pitchFamily="18" charset="0"/>
                              </a:rPr>
                            </m:ctrlPr>
                          </m:funcPr>
                          <m:fName>
                            <m:r>
                              <m:rPr>
                                <m:sty m:val="p"/>
                              </m:rPr>
                              <a:rPr lang="it-IT" b="0" i="0" smtClean="0">
                                <a:latin typeface="Cambria Math" panose="02040503050406030204" pitchFamily="18" charset="0"/>
                              </a:rPr>
                              <m:t>log</m:t>
                            </m:r>
                          </m:fName>
                          <m:e>
                            <m:r>
                              <a:rPr lang="it-IT" b="0" i="1" smtClean="0">
                                <a:latin typeface="Cambria Math" panose="02040503050406030204" pitchFamily="18" charset="0"/>
                              </a:rPr>
                              <m:t>𝑝</m:t>
                            </m:r>
                            <m:d>
                              <m:dPr>
                                <m:ctrlPr>
                                  <a:rPr lang="it-IT" b="0" i="1" smtClean="0">
                                    <a:latin typeface="Cambria Math" panose="02040503050406030204" pitchFamily="18" charset="0"/>
                                  </a:rPr>
                                </m:ctrlPr>
                              </m:dPr>
                              <m:e>
                                <m:r>
                                  <a:rPr lang="it-IT" b="0" i="1" smtClean="0">
                                    <a:latin typeface="Cambria Math" panose="02040503050406030204" pitchFamily="18" charset="0"/>
                                  </a:rPr>
                                  <m:t>𝑖</m:t>
                                </m:r>
                              </m:e>
                            </m:d>
                          </m:e>
                        </m:func>
                        <m:r>
                          <a:rPr lang="en-US" b="0" i="1" smtClean="0">
                            <a:latin typeface="Cambria Math" panose="02040503050406030204" pitchFamily="18" charset="0"/>
                          </a:rPr>
                          <m:t> </m:t>
                        </m:r>
                      </m:e>
                    </m:nary>
                  </m:oMath>
                </a14:m>
                <a:r>
                  <a:rPr lang="it-IT" dirty="0"/>
                  <a:t>  then </a:t>
                </a:r>
                <a14:m>
                  <m:oMath xmlns:m="http://schemas.openxmlformats.org/officeDocument/2006/math">
                    <m:r>
                      <a:rPr lang="en-US" b="0" i="0" smtClean="0">
                        <a:latin typeface="Cambria Math" panose="02040503050406030204" pitchFamily="18" charset="0"/>
                      </a:rPr>
                      <m:t>  </m:t>
                    </m:r>
                    <m:r>
                      <a:rPr lang="it-IT" i="1">
                        <a:latin typeface="Cambria Math" panose="02040503050406030204" pitchFamily="18" charset="0"/>
                      </a:rPr>
                      <m:t>𝑀𝐼</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𝑅</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𝑚</m:t>
                            </m:r>
                          </m:sub>
                        </m:sSub>
                      </m:e>
                    </m:d>
                    <m:r>
                      <a:rPr lang="en-US" i="1">
                        <a:latin typeface="Cambria Math" panose="02040503050406030204" pitchFamily="18" charset="0"/>
                      </a:rPr>
                      <m:t>=</m:t>
                    </m:r>
                    <m:r>
                      <a:rPr lang="en-US" i="1">
                        <a:latin typeface="Cambria Math" panose="02040503050406030204" pitchFamily="18" charset="0"/>
                      </a:rPr>
                      <m:t>𝐻</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𝑅</m:t>
                            </m:r>
                          </m:sub>
                        </m:sSub>
                      </m:e>
                    </m:d>
                    <m:r>
                      <a:rPr lang="en-US" i="1">
                        <a:latin typeface="Cambria Math" panose="02040503050406030204" pitchFamily="18" charset="0"/>
                      </a:rPr>
                      <m:t>+</m:t>
                    </m:r>
                    <m:r>
                      <a:rPr lang="en-US" i="1">
                        <a:latin typeface="Cambria Math" panose="02040503050406030204" pitchFamily="18" charset="0"/>
                      </a:rPr>
                      <m:t>𝐻</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𝑚</m:t>
                            </m:r>
                          </m:sub>
                        </m:sSub>
                      </m:e>
                    </m:d>
                    <m:r>
                      <a:rPr lang="en-US" i="1">
                        <a:latin typeface="Cambria Math" panose="02040503050406030204" pitchFamily="18" charset="0"/>
                      </a:rPr>
                      <m:t>−</m:t>
                    </m:r>
                    <m:r>
                      <a:rPr lang="en-US" i="1">
                        <a:latin typeface="Cambria Math" panose="02040503050406030204" pitchFamily="18" charset="0"/>
                      </a:rPr>
                      <m:t>𝐻</m:t>
                    </m:r>
                    <m:d>
                      <m:dPr>
                        <m:ctrlPr>
                          <a:rPr lang="it-IT" i="1">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𝑅</m:t>
                            </m:r>
                          </m:sub>
                        </m:sSub>
                        <m:r>
                          <a:rPr lang="it-IT" i="1">
                            <a:latin typeface="Cambria Math" panose="02040503050406030204" pitchFamily="18" charset="0"/>
                          </a:rPr>
                          <m:t>,</m:t>
                        </m:r>
                        <m:sSub>
                          <m:sSubPr>
                            <m:ctrlPr>
                              <a:rPr lang="it-IT"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𝑚</m:t>
                            </m:r>
                          </m:sub>
                        </m:sSub>
                        <m:r>
                          <a:rPr lang="it-IT" i="1">
                            <a:latin typeface="Cambria Math" panose="02040503050406030204" pitchFamily="18" charset="0"/>
                          </a:rPr>
                          <m:t> </m:t>
                        </m:r>
                      </m:e>
                    </m:d>
                  </m:oMath>
                </a14:m>
                <a:endParaRPr lang="it-IT" dirty="0"/>
              </a:p>
            </p:txBody>
          </p:sp>
        </mc:Choice>
        <mc:Fallback xmlns="">
          <p:sp>
            <p:nvSpPr>
              <p:cNvPr id="4" name="CasellaDiTesto 3">
                <a:extLst>
                  <a:ext uri="{FF2B5EF4-FFF2-40B4-BE49-F238E27FC236}">
                    <a16:creationId xmlns:a16="http://schemas.microsoft.com/office/drawing/2014/main" id="{222EAED3-C73B-6DCA-0A5E-44AE81C34F27}"/>
                  </a:ext>
                </a:extLst>
              </p:cNvPr>
              <p:cNvSpPr txBox="1">
                <a:spLocks noRot="1" noChangeAspect="1" noMove="1" noResize="1" noEditPoints="1" noAdjustHandles="1" noChangeArrowheads="1" noChangeShapeType="1" noTextEdit="1"/>
              </p:cNvSpPr>
              <p:nvPr/>
            </p:nvSpPr>
            <p:spPr>
              <a:xfrm>
                <a:off x="2349006" y="3508635"/>
                <a:ext cx="7641972" cy="377476"/>
              </a:xfrm>
              <a:prstGeom prst="rect">
                <a:avLst/>
              </a:prstGeom>
              <a:blipFill>
                <a:blip r:embed="rId2"/>
                <a:stretch>
                  <a:fillRect t="-118033" b="-185246"/>
                </a:stretch>
              </a:blipFill>
            </p:spPr>
            <p:txBody>
              <a:bodyPr/>
              <a:lstStyle/>
              <a:p>
                <a:r>
                  <a:rPr lang="it-IT">
                    <a:noFill/>
                  </a:rPr>
                  <a:t> </a:t>
                </a:r>
              </a:p>
            </p:txBody>
          </p:sp>
        </mc:Fallback>
      </mc:AlternateContent>
    </p:spTree>
    <p:extLst>
      <p:ext uri="{BB962C8B-B14F-4D97-AF65-F5344CB8AC3E}">
        <p14:creationId xmlns:p14="http://schemas.microsoft.com/office/powerpoint/2010/main" val="348479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4940F-67EB-7D35-A06C-4E4D8EC75484}"/>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D288A905-32DA-5A7D-7DB8-E4973BD05ACD}"/>
              </a:ext>
            </a:extLst>
          </p:cNvPr>
          <p:cNvSpPr txBox="1"/>
          <p:nvPr/>
        </p:nvSpPr>
        <p:spPr>
          <a:xfrm>
            <a:off x="370318" y="327855"/>
            <a:ext cx="5799674"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a:t>The procedure</a:t>
            </a:r>
            <a:endParaRPr lang="it-IT" sz="4067" noProof="0" dirty="0"/>
          </a:p>
        </p:txBody>
      </p:sp>
      <p:sp>
        <p:nvSpPr>
          <p:cNvPr id="5" name="CasellaDiTesto 4">
            <a:extLst>
              <a:ext uri="{FF2B5EF4-FFF2-40B4-BE49-F238E27FC236}">
                <a16:creationId xmlns:a16="http://schemas.microsoft.com/office/drawing/2014/main" id="{F84CA9A8-31D2-1A2B-700E-7B0819C365F8}"/>
              </a:ext>
            </a:extLst>
          </p:cNvPr>
          <p:cNvSpPr txBox="1"/>
          <p:nvPr/>
        </p:nvSpPr>
        <p:spPr>
          <a:xfrm>
            <a:off x="370318" y="1301355"/>
            <a:ext cx="11202250" cy="4764189"/>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dirty="0">
                <a:cs typeface="Arial" panose="020B0604020202020204" pitchFamily="34" charset="0"/>
              </a:rPr>
              <a:t>The approach developed has a pipeline as its core. This pipeline receives the reference and moving pair as input, maximizes the MI and returns a vector of three components, each component representing a roto-translation parameter: tx, ty, theta. It should be noted that the maximization takes place thanks to an optimizer that uses different numerical methods.</a:t>
            </a:r>
          </a:p>
          <a:p>
            <a:pPr marL="285750" indent="-285750">
              <a:lnSpc>
                <a:spcPct val="107000"/>
              </a:lnSpc>
              <a:spcAft>
                <a:spcPts val="800"/>
              </a:spcAft>
              <a:buFont typeface="Courier New" panose="02070309020205020404" pitchFamily="49" charset="0"/>
              <a:buChar char="o"/>
            </a:pPr>
            <a:r>
              <a:rPr lang="en-US" sz="1900" kern="100" dirty="0">
                <a:cs typeface="Arial" panose="020B0604020202020204" pitchFamily="34" charset="0"/>
              </a:rPr>
              <a:t>The pipeline is very versatile as it allows you to set the number of bins with which to perform the MI calculation and the optimization method.</a:t>
            </a:r>
          </a:p>
          <a:p>
            <a:pPr marL="285750" indent="-285750">
              <a:lnSpc>
                <a:spcPct val="107000"/>
              </a:lnSpc>
              <a:spcAft>
                <a:spcPts val="800"/>
              </a:spcAft>
              <a:buFont typeface="Courier New" panose="02070309020205020404" pitchFamily="49" charset="0"/>
              <a:buChar char="o"/>
            </a:pPr>
            <a:r>
              <a:rPr lang="en-US" sz="1900" kern="100" dirty="0">
                <a:cs typeface="Arial" panose="020B0604020202020204" pitchFamily="34" charset="0"/>
              </a:rPr>
              <a:t>A hyperparameter gridsearch has been implemented involving that pipeline. In particular, the search domain requires that each hyperparameter takes one of the following values:</a:t>
            </a:r>
          </a:p>
          <a:p>
            <a:pPr marL="800100" lvl="1" indent="-342900">
              <a:lnSpc>
                <a:spcPct val="107000"/>
              </a:lnSpc>
              <a:spcAft>
                <a:spcPts val="800"/>
              </a:spcAft>
              <a:buFont typeface="Wingdings" panose="05000000000000000000" pitchFamily="2" charset="2"/>
              <a:buChar char="§"/>
            </a:pPr>
            <a:r>
              <a:rPr lang="en-US" sz="1900" kern="100" dirty="0">
                <a:cs typeface="Arial" panose="020B0604020202020204" pitchFamily="34" charset="0"/>
              </a:rPr>
              <a:t>Number of bins -&gt; (64, 128, 256)</a:t>
            </a:r>
          </a:p>
          <a:p>
            <a:pPr marL="800100" lvl="1" indent="-342900">
              <a:lnSpc>
                <a:spcPct val="107000"/>
              </a:lnSpc>
              <a:spcAft>
                <a:spcPts val="800"/>
              </a:spcAft>
              <a:buFont typeface="Wingdings" panose="05000000000000000000" pitchFamily="2" charset="2"/>
              <a:buChar char="§"/>
            </a:pPr>
            <a:r>
              <a:rPr lang="en-US" sz="1900" kern="100" dirty="0">
                <a:cs typeface="Arial" panose="020B0604020202020204" pitchFamily="34" charset="0"/>
              </a:rPr>
              <a:t>Optimization method -&gt; (Powell, Nelder-Mead, BFGS)</a:t>
            </a:r>
          </a:p>
          <a:p>
            <a:pPr marL="342900" indent="-342900">
              <a:lnSpc>
                <a:spcPct val="107000"/>
              </a:lnSpc>
              <a:spcAft>
                <a:spcPts val="800"/>
              </a:spcAft>
              <a:buFont typeface="Courier New" panose="02070309020205020404" pitchFamily="49" charset="0"/>
              <a:buChar char="o"/>
            </a:pPr>
            <a:r>
              <a:rPr lang="en-US" sz="1900" kern="100" dirty="0">
                <a:cs typeface="Arial" panose="020B0604020202020204" pitchFamily="34" charset="0"/>
              </a:rPr>
              <a:t>The gridsearch produces a csv file where all the configurations are present. Then an evaluation function extracts, as per the specifications, the one with the minimum average error.</a:t>
            </a:r>
          </a:p>
          <a:p>
            <a:pPr marL="342900" indent="-342900">
              <a:lnSpc>
                <a:spcPct val="107000"/>
              </a:lnSpc>
              <a:spcAft>
                <a:spcPts val="800"/>
              </a:spcAft>
              <a:buFont typeface="Courier New" panose="02070309020205020404" pitchFamily="49" charset="0"/>
              <a:buChar char="o"/>
            </a:pPr>
            <a:r>
              <a:rPr lang="en-US" sz="1900" kern="100" dirty="0">
                <a:cs typeface="Arial" panose="020B0604020202020204" pitchFamily="34" charset="0"/>
              </a:rPr>
              <a:t>It is important to note that the MAE metric was used to calculate the error.</a:t>
            </a:r>
            <a:endParaRPr lang="it-IT" sz="1900" kern="100" dirty="0">
              <a:cs typeface="Arial" panose="020B0604020202020204" pitchFamily="34" charset="0"/>
            </a:endParaRPr>
          </a:p>
        </p:txBody>
      </p:sp>
    </p:spTree>
    <p:extLst>
      <p:ext uri="{BB962C8B-B14F-4D97-AF65-F5344CB8AC3E}">
        <p14:creationId xmlns:p14="http://schemas.microsoft.com/office/powerpoint/2010/main" val="1704569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6FA9A-2198-14C0-9E63-50A16B9A1543}"/>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1EFDC6AE-1F3E-D6B2-6ED6-5830A4B80F49}"/>
              </a:ext>
            </a:extLst>
          </p:cNvPr>
          <p:cNvSpPr txBox="1"/>
          <p:nvPr/>
        </p:nvSpPr>
        <p:spPr>
          <a:xfrm>
            <a:off x="370318" y="431245"/>
            <a:ext cx="5799674"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a:t>First attempts</a:t>
            </a:r>
            <a:endParaRPr lang="it-IT" sz="4067" noProof="0" dirty="0"/>
          </a:p>
        </p:txBody>
      </p:sp>
      <p:sp>
        <p:nvSpPr>
          <p:cNvPr id="5" name="CasellaDiTesto 4">
            <a:extLst>
              <a:ext uri="{FF2B5EF4-FFF2-40B4-BE49-F238E27FC236}">
                <a16:creationId xmlns:a16="http://schemas.microsoft.com/office/drawing/2014/main" id="{23D9CCE9-28B4-EBAE-AB00-53A8D367DDE4}"/>
              </a:ext>
            </a:extLst>
          </p:cNvPr>
          <p:cNvSpPr txBox="1"/>
          <p:nvPr/>
        </p:nvSpPr>
        <p:spPr>
          <a:xfrm>
            <a:off x="370318" y="1344658"/>
            <a:ext cx="11202250" cy="5082097"/>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a:cs typeface="Arial" panose="020B0604020202020204" pitchFamily="34" charset="0"/>
              </a:rPr>
              <a:t>Early versions of the code performed a comprehensive gridsearch to find both the best optimization methods and the best number of bins. This is because not knowing anything a priori, we wanted to test the performance achieved in a rough way.
The first problem was the presence of null probability values. Depending on the number of bins used, some cells have zero occurrences. This is because there are so many pairs of possible intensities. In this case, it was enough to apply a mask that considers only cells with positive values. 
The second problem was balancing the histogram. This is because, as a result of the T transformation, some pixels in the image are mapped outside the frame. For areas that remain "empty", OpenCV automatically assigns a zero intensity value. This causes a high increase in occurrences in which these black pixels are involved, thus making a greater contribution to these areas of absence of the image. In this case, we have considered a mask, having all white pixels, to which the T transformation is applied. So we consider only the positions of the white pixels following the transformation for the calculation of the histogram. This interpretation is the result of the work carried out by [2].
From the first results, the supremacy of the Powell method is evident, it was decided to proceed with its use because with the default configuration it produces results with satisfactory goodness.</a:t>
            </a:r>
            <a:endParaRPr lang="it-IT" sz="1900" kern="100" dirty="0">
              <a:cs typeface="Arial" panose="020B0604020202020204" pitchFamily="34" charset="0"/>
            </a:endParaRPr>
          </a:p>
        </p:txBody>
      </p:sp>
    </p:spTree>
    <p:extLst>
      <p:ext uri="{BB962C8B-B14F-4D97-AF65-F5344CB8AC3E}">
        <p14:creationId xmlns:p14="http://schemas.microsoft.com/office/powerpoint/2010/main" val="262155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0B00A-F451-3E4E-D493-F3920BDAA25C}"/>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E52AA55D-2123-C785-43D3-220C183BC11D}"/>
              </a:ext>
            </a:extLst>
          </p:cNvPr>
          <p:cNvSpPr txBox="1"/>
          <p:nvPr/>
        </p:nvSpPr>
        <p:spPr>
          <a:xfrm>
            <a:off x="389369" y="512046"/>
            <a:ext cx="7033985"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a:t>T-Matrix and Preprocessing</a:t>
            </a:r>
            <a:endParaRPr lang="it-IT" sz="4067" noProof="0" dirty="0"/>
          </a:p>
        </p:txBody>
      </p:sp>
      <p:sp>
        <p:nvSpPr>
          <p:cNvPr id="5" name="CasellaDiTesto 4">
            <a:extLst>
              <a:ext uri="{FF2B5EF4-FFF2-40B4-BE49-F238E27FC236}">
                <a16:creationId xmlns:a16="http://schemas.microsoft.com/office/drawing/2014/main" id="{E379EBE1-703C-C77D-97A5-83EF47AD01D5}"/>
              </a:ext>
            </a:extLst>
          </p:cNvPr>
          <p:cNvSpPr txBox="1"/>
          <p:nvPr/>
        </p:nvSpPr>
        <p:spPr>
          <a:xfrm>
            <a:off x="389369" y="1909061"/>
            <a:ext cx="11546992" cy="3312702"/>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a:cs typeface="Arial" panose="020B0604020202020204" pitchFamily="34" charset="0"/>
              </a:rPr>
              <a:t>Initially, the T transformation worked with the upper left point of the image as a rotation reference. This is because there was a direct correspondence with the GT, so that the error could be calculated and the results compared immediately. However, according to what was obtained in [3], significant improvements have been noted if the center of the image is taken as a reference. 
Different preprocessing strategies were used in order to bring out distinctive characteristics. The simplest were to convert to grayscale and take advantage of the Value channel of the HSV color space. A further technique was to apply PCA: in fact, each point of the image is initially a vector of three components (BGR), so the direction of maximum variance of these points can be obtained and the value of the projection along that direction can be associated as an intensity value to each point. These strategies were also used in combination with a subsequent Gaussian blurring, trying different kernels.</a:t>
            </a:r>
            <a:endParaRPr lang="it-IT" sz="1900" kern="100" noProof="0" dirty="0">
              <a:cs typeface="Arial" panose="020B0604020202020204" pitchFamily="34" charset="0"/>
            </a:endParaRPr>
          </a:p>
        </p:txBody>
      </p:sp>
    </p:spTree>
    <p:extLst>
      <p:ext uri="{BB962C8B-B14F-4D97-AF65-F5344CB8AC3E}">
        <p14:creationId xmlns:p14="http://schemas.microsoft.com/office/powerpoint/2010/main" val="2972248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33D67-6234-E047-2445-6D117D7D279A}"/>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C780C45A-D48B-93DE-B005-8B9EDE3B58A9}"/>
              </a:ext>
            </a:extLst>
          </p:cNvPr>
          <p:cNvSpPr txBox="1"/>
          <p:nvPr/>
        </p:nvSpPr>
        <p:spPr>
          <a:xfrm>
            <a:off x="370318" y="423554"/>
            <a:ext cx="5799674"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a:t>Scientific insights</a:t>
            </a:r>
            <a:endParaRPr lang="it-IT" sz="4067" noProof="0" dirty="0"/>
          </a:p>
        </p:txBody>
      </p:sp>
      <p:sp>
        <p:nvSpPr>
          <p:cNvPr id="5" name="CasellaDiTesto 4">
            <a:extLst>
              <a:ext uri="{FF2B5EF4-FFF2-40B4-BE49-F238E27FC236}">
                <a16:creationId xmlns:a16="http://schemas.microsoft.com/office/drawing/2014/main" id="{158BA939-4E3C-717B-079A-6A3EDEB8A4AC}"/>
              </a:ext>
            </a:extLst>
          </p:cNvPr>
          <p:cNvSpPr txBox="1"/>
          <p:nvPr/>
        </p:nvSpPr>
        <p:spPr>
          <a:xfrm>
            <a:off x="370318" y="1331836"/>
            <a:ext cx="11202250" cy="5184689"/>
          </a:xfrm>
          <a:prstGeom prst="rect">
            <a:avLst/>
          </a:prstGeom>
          <a:noFill/>
        </p:spPr>
        <p:txBody>
          <a:bodyPr wrap="square" rtlCol="0">
            <a:spAutoFit/>
          </a:bodyPr>
          <a:lstStyle/>
          <a:p>
            <a:pPr marL="285750" indent="-285750">
              <a:lnSpc>
                <a:spcPct val="107000"/>
              </a:lnSpc>
              <a:spcAft>
                <a:spcPts val="800"/>
              </a:spcAft>
              <a:buFont typeface="Courier New" panose="02070309020205020404" pitchFamily="49" charset="0"/>
              <a:buChar char="o"/>
            </a:pPr>
            <a:r>
              <a:rPr lang="en-US" sz="1900" kern="100">
                <a:cs typeface="Arial" panose="020B0604020202020204" pitchFamily="34" charset="0"/>
              </a:rPr>
              <a:t>Once the structure of the code and the method of evaluation of the pipeline were defined, it was decided to search the literature for contributions that could provide both ideas and methodologies.
The mere use of the Powell method has prompted the approach in an attempt to use the other proposed optimization methods as well. Several attempts have been made with BFGS, however no great results have been achieved in accordance with what has been obtained in [4].
The Nelder–Mead method was implemented as suggested by [4] and, without going into too much detail, the same simplex configuration was employed. Note that the paper specifies the simplex parameters related to translations with units of measurement in millimeters. However, although the units of measurement do not match those adopted (pixels), applying these initializations still results are rather satisfactory.
So with Nelder-Mead better performances were achieved than with Powell. It has also been discovered that it is possible to set the Nelder–Mead method with an adaptive variant as reported in [5], just add a flag. However, it was not advantageous to do so.
According to [4], the vector of the parameters of the transformation T (tx, ty, theta), can be initialized as (0, 0, 5°). However, better performance was achieved with initialization (0, 0, 0).</a:t>
            </a:r>
            <a:endParaRPr lang="it-IT" sz="1900" kern="100" noProof="0" dirty="0">
              <a:cs typeface="Arial" panose="020B0604020202020204" pitchFamily="34" charset="0"/>
            </a:endParaRPr>
          </a:p>
        </p:txBody>
      </p:sp>
    </p:spTree>
    <p:extLst>
      <p:ext uri="{BB962C8B-B14F-4D97-AF65-F5344CB8AC3E}">
        <p14:creationId xmlns:p14="http://schemas.microsoft.com/office/powerpoint/2010/main" val="4019245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C8BA5-7404-5785-CACD-135A9A3F3FC9}"/>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70E59110-1663-F044-2C37-BD49BC8B57C9}"/>
              </a:ext>
            </a:extLst>
          </p:cNvPr>
          <p:cNvSpPr txBox="1"/>
          <p:nvPr/>
        </p:nvSpPr>
        <p:spPr>
          <a:xfrm>
            <a:off x="370317" y="214619"/>
            <a:ext cx="7638219"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67" dirty="0"/>
              <a:t>Results obtained on the val set</a:t>
            </a:r>
            <a:endParaRPr lang="it-IT" sz="4067" noProof="0" dirty="0"/>
          </a:p>
        </p:txBody>
      </p:sp>
      <p:sp>
        <p:nvSpPr>
          <p:cNvPr id="5" name="CasellaDiTesto 4">
            <a:extLst>
              <a:ext uri="{FF2B5EF4-FFF2-40B4-BE49-F238E27FC236}">
                <a16:creationId xmlns:a16="http://schemas.microsoft.com/office/drawing/2014/main" id="{C6C617E2-D3BE-7ECE-1C0D-DC6D241ECA8F}"/>
              </a:ext>
            </a:extLst>
          </p:cNvPr>
          <p:cNvSpPr txBox="1"/>
          <p:nvPr/>
        </p:nvSpPr>
        <p:spPr>
          <a:xfrm>
            <a:off x="312173" y="807927"/>
            <a:ext cx="11202250" cy="394532"/>
          </a:xfrm>
          <a:prstGeom prst="rect">
            <a:avLst/>
          </a:prstGeom>
          <a:noFill/>
        </p:spPr>
        <p:txBody>
          <a:bodyPr wrap="square" rtlCol="0">
            <a:spAutoFit/>
          </a:bodyPr>
          <a:lstStyle/>
          <a:p>
            <a:pPr>
              <a:lnSpc>
                <a:spcPct val="107000"/>
              </a:lnSpc>
              <a:spcAft>
                <a:spcPts val="800"/>
              </a:spcAft>
            </a:pPr>
            <a:r>
              <a:rPr lang="en-US" sz="1900" kern="100">
                <a:cs typeface="Arial" panose="020B0604020202020204" pitchFamily="34" charset="0"/>
              </a:rPr>
              <a:t>The unit of measurement is pixels for tx and ty, while radians for theta.</a:t>
            </a:r>
            <a:endParaRPr lang="it-IT" sz="1900" kern="100" noProof="0" dirty="0">
              <a:cs typeface="Arial" panose="020B0604020202020204" pitchFamily="34" charset="0"/>
            </a:endParaRPr>
          </a:p>
        </p:txBody>
      </p:sp>
      <p:graphicFrame>
        <p:nvGraphicFramePr>
          <p:cNvPr id="3" name="Tabella 2">
            <a:extLst>
              <a:ext uri="{FF2B5EF4-FFF2-40B4-BE49-F238E27FC236}">
                <a16:creationId xmlns:a16="http://schemas.microsoft.com/office/drawing/2014/main" id="{8A1FCAF0-2405-6D39-0349-A6C065A74948}"/>
              </a:ext>
            </a:extLst>
          </p:cNvPr>
          <p:cNvGraphicFramePr>
            <a:graphicFrameLocks noGrp="1"/>
          </p:cNvGraphicFramePr>
          <p:nvPr>
            <p:extLst>
              <p:ext uri="{D42A27DB-BD31-4B8C-83A1-F6EECF244321}">
                <p14:modId xmlns:p14="http://schemas.microsoft.com/office/powerpoint/2010/main" val="1521219458"/>
              </p:ext>
            </p:extLst>
          </p:nvPr>
        </p:nvGraphicFramePr>
        <p:xfrm>
          <a:off x="370317" y="1701265"/>
          <a:ext cx="8684450" cy="2221261"/>
        </p:xfrm>
        <a:graphic>
          <a:graphicData uri="http://schemas.openxmlformats.org/drawingml/2006/table">
            <a:tbl>
              <a:tblPr firstRow="1" bandRow="1">
                <a:tableStyleId>{5C22544A-7EE6-4342-B048-85BDC9FD1C3A}</a:tableStyleId>
              </a:tblPr>
              <a:tblGrid>
                <a:gridCol w="1367895">
                  <a:extLst>
                    <a:ext uri="{9D8B030D-6E8A-4147-A177-3AD203B41FA5}">
                      <a16:colId xmlns:a16="http://schemas.microsoft.com/office/drawing/2014/main" val="87444673"/>
                    </a:ext>
                  </a:extLst>
                </a:gridCol>
                <a:gridCol w="1065988">
                  <a:extLst>
                    <a:ext uri="{9D8B030D-6E8A-4147-A177-3AD203B41FA5}">
                      <a16:colId xmlns:a16="http://schemas.microsoft.com/office/drawing/2014/main" val="2283952525"/>
                    </a:ext>
                  </a:extLst>
                </a:gridCol>
                <a:gridCol w="1110715">
                  <a:extLst>
                    <a:ext uri="{9D8B030D-6E8A-4147-A177-3AD203B41FA5}">
                      <a16:colId xmlns:a16="http://schemas.microsoft.com/office/drawing/2014/main" val="2728922838"/>
                    </a:ext>
                  </a:extLst>
                </a:gridCol>
                <a:gridCol w="819991">
                  <a:extLst>
                    <a:ext uri="{9D8B030D-6E8A-4147-A177-3AD203B41FA5}">
                      <a16:colId xmlns:a16="http://schemas.microsoft.com/office/drawing/2014/main" val="4230650793"/>
                    </a:ext>
                  </a:extLst>
                </a:gridCol>
                <a:gridCol w="691204">
                  <a:extLst>
                    <a:ext uri="{9D8B030D-6E8A-4147-A177-3AD203B41FA5}">
                      <a16:colId xmlns:a16="http://schemas.microsoft.com/office/drawing/2014/main" val="1057302898"/>
                    </a:ext>
                  </a:extLst>
                </a:gridCol>
                <a:gridCol w="773723">
                  <a:extLst>
                    <a:ext uri="{9D8B030D-6E8A-4147-A177-3AD203B41FA5}">
                      <a16:colId xmlns:a16="http://schemas.microsoft.com/office/drawing/2014/main" val="2841289455"/>
                    </a:ext>
                  </a:extLst>
                </a:gridCol>
                <a:gridCol w="733530">
                  <a:extLst>
                    <a:ext uri="{9D8B030D-6E8A-4147-A177-3AD203B41FA5}">
                      <a16:colId xmlns:a16="http://schemas.microsoft.com/office/drawing/2014/main" val="3241509570"/>
                    </a:ext>
                  </a:extLst>
                </a:gridCol>
                <a:gridCol w="1115367">
                  <a:extLst>
                    <a:ext uri="{9D8B030D-6E8A-4147-A177-3AD203B41FA5}">
                      <a16:colId xmlns:a16="http://schemas.microsoft.com/office/drawing/2014/main" val="3135359873"/>
                    </a:ext>
                  </a:extLst>
                </a:gridCol>
                <a:gridCol w="1006037">
                  <a:extLst>
                    <a:ext uri="{9D8B030D-6E8A-4147-A177-3AD203B41FA5}">
                      <a16:colId xmlns:a16="http://schemas.microsoft.com/office/drawing/2014/main" val="2924479172"/>
                    </a:ext>
                  </a:extLst>
                </a:gridCol>
              </a:tblGrid>
              <a:tr h="361285">
                <a:tc>
                  <a:txBody>
                    <a:bodyPr/>
                    <a:lstStyle/>
                    <a:p>
                      <a:pPr algn="ctr"/>
                      <a:r>
                        <a:rPr lang="it-IT" sz="1400" dirty="0"/>
                        <a:t>preprocessing</a:t>
                      </a:r>
                    </a:p>
                  </a:txBody>
                  <a:tcPr/>
                </a:tc>
                <a:tc>
                  <a:txBody>
                    <a:bodyPr/>
                    <a:lstStyle/>
                    <a:p>
                      <a:pPr algn="ctr"/>
                      <a:r>
                        <a:rPr lang="it-IT" sz="1400" dirty="0"/>
                        <a:t>metodo</a:t>
                      </a:r>
                    </a:p>
                  </a:txBody>
                  <a:tcPr/>
                </a:tc>
                <a:tc>
                  <a:txBody>
                    <a:bodyPr/>
                    <a:lstStyle/>
                    <a:p>
                      <a:pPr algn="ctr"/>
                      <a:r>
                        <a:rPr lang="it-IT" sz="1400" dirty="0"/>
                        <a:t>numero bin</a:t>
                      </a:r>
                    </a:p>
                  </a:txBody>
                  <a:tcPr/>
                </a:tc>
                <a:tc>
                  <a:txBody>
                    <a:bodyPr/>
                    <a:lstStyle/>
                    <a:p>
                      <a:pPr algn="ctr"/>
                      <a:r>
                        <a:rPr lang="it-IT" sz="1400" dirty="0"/>
                        <a:t>mae_tx</a:t>
                      </a:r>
                    </a:p>
                  </a:txBody>
                  <a:tcPr/>
                </a:tc>
                <a:tc>
                  <a:txBody>
                    <a:bodyPr/>
                    <a:lstStyle/>
                    <a:p>
                      <a:pPr algn="ctr"/>
                      <a:r>
                        <a:rPr lang="it-IT" sz="1400" dirty="0"/>
                        <a:t>std_tx</a:t>
                      </a:r>
                    </a:p>
                  </a:txBody>
                  <a:tcPr/>
                </a:tc>
                <a:tc>
                  <a:txBody>
                    <a:bodyPr/>
                    <a:lstStyle/>
                    <a:p>
                      <a:pPr algn="ctr"/>
                      <a:r>
                        <a:rPr lang="it-IT" sz="1400" dirty="0"/>
                        <a:t>mae_ty</a:t>
                      </a:r>
                    </a:p>
                  </a:txBody>
                  <a:tcPr/>
                </a:tc>
                <a:tc>
                  <a:txBody>
                    <a:bodyPr/>
                    <a:lstStyle/>
                    <a:p>
                      <a:pPr algn="ctr"/>
                      <a:r>
                        <a:rPr lang="it-IT" sz="1400" dirty="0"/>
                        <a:t>std_ty</a:t>
                      </a:r>
                    </a:p>
                  </a:txBody>
                  <a:tcPr/>
                </a:tc>
                <a:tc>
                  <a:txBody>
                    <a:bodyPr/>
                    <a:lstStyle/>
                    <a:p>
                      <a:pPr algn="ctr"/>
                      <a:r>
                        <a:rPr lang="it-IT" sz="1400" dirty="0"/>
                        <a:t>mae_theta</a:t>
                      </a:r>
                    </a:p>
                  </a:txBody>
                  <a:tcPr/>
                </a:tc>
                <a:tc>
                  <a:txBody>
                    <a:bodyPr/>
                    <a:lstStyle/>
                    <a:p>
                      <a:pPr algn="ctr"/>
                      <a:r>
                        <a:rPr lang="it-IT" sz="1400" dirty="0"/>
                        <a:t>std_theta</a:t>
                      </a:r>
                    </a:p>
                  </a:txBody>
                  <a:tcPr/>
                </a:tc>
                <a:extLst>
                  <a:ext uri="{0D108BD9-81ED-4DB2-BD59-A6C34878D82A}">
                    <a16:rowId xmlns:a16="http://schemas.microsoft.com/office/drawing/2014/main" val="2492567403"/>
                  </a:ext>
                </a:extLst>
              </a:tr>
              <a:tr h="309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hsv_v-gauss-3</a:t>
                      </a:r>
                      <a:endParaRPr lang="it-IT" sz="12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Nelder-Mead</a:t>
                      </a:r>
                      <a:endParaRPr lang="it-IT" sz="1200" kern="1200" dirty="0">
                        <a:solidFill>
                          <a:schemeClr val="dk1"/>
                        </a:solidFill>
                        <a:effectLst/>
                        <a:latin typeface="+mn-lt"/>
                        <a:ea typeface="+mn-ea"/>
                        <a:cs typeface="+mn-cs"/>
                      </a:endParaRPr>
                    </a:p>
                  </a:txBody>
                  <a:tcPr/>
                </a:tc>
                <a:tc>
                  <a:txBody>
                    <a:bodyPr/>
                    <a:lstStyle/>
                    <a:p>
                      <a:pPr algn="ctr"/>
                      <a:r>
                        <a:rPr lang="it-IT" sz="1400" dirty="0"/>
                        <a:t>64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3.05</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2.87</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3.67</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3.35</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0.0009</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0.0009</a:t>
                      </a:r>
                      <a:endParaRPr lang="it-IT" sz="1400" kern="1200" dirty="0">
                        <a:solidFill>
                          <a:schemeClr val="dk1"/>
                        </a:solidFill>
                        <a:effectLst/>
                        <a:latin typeface="+mn-lt"/>
                        <a:ea typeface="+mn-ea"/>
                        <a:cs typeface="+mn-cs"/>
                      </a:endParaRPr>
                    </a:p>
                  </a:txBody>
                  <a:tcPr/>
                </a:tc>
                <a:extLst>
                  <a:ext uri="{0D108BD9-81ED-4DB2-BD59-A6C34878D82A}">
                    <a16:rowId xmlns:a16="http://schemas.microsoft.com/office/drawing/2014/main" val="671879042"/>
                  </a:ext>
                </a:extLst>
              </a:tr>
              <a:tr h="309996">
                <a:tc>
                  <a:txBody>
                    <a:bodyPr/>
                    <a:lstStyle/>
                    <a:p>
                      <a:pPr algn="ctr"/>
                      <a:r>
                        <a:rPr lang="it-IT" sz="1200" dirty="0"/>
                        <a:t>gray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Nelder-Mead</a:t>
                      </a:r>
                      <a:endParaRPr lang="it-IT" sz="1200" kern="1200" dirty="0">
                        <a:solidFill>
                          <a:schemeClr val="dk1"/>
                        </a:solidFill>
                        <a:effectLst/>
                        <a:latin typeface="+mn-lt"/>
                        <a:ea typeface="+mn-ea"/>
                        <a:cs typeface="+mn-cs"/>
                      </a:endParaRPr>
                    </a:p>
                  </a:txBody>
                  <a:tcPr/>
                </a:tc>
                <a:tc>
                  <a:txBody>
                    <a:bodyPr/>
                    <a:lstStyle/>
                    <a:p>
                      <a:pPr algn="ctr"/>
                      <a:r>
                        <a:rPr lang="it-IT" sz="1400" dirty="0"/>
                        <a:t>64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3.07</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2.90</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3.71</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3.34</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0.0008</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0.0005</a:t>
                      </a:r>
                      <a:endParaRPr lang="it-IT" sz="1400" kern="1200" dirty="0">
                        <a:solidFill>
                          <a:schemeClr val="dk1"/>
                        </a:solidFill>
                        <a:effectLst/>
                        <a:latin typeface="+mn-lt"/>
                        <a:ea typeface="+mn-ea"/>
                        <a:cs typeface="+mn-cs"/>
                      </a:endParaRPr>
                    </a:p>
                  </a:txBody>
                  <a:tcPr/>
                </a:tc>
                <a:extLst>
                  <a:ext uri="{0D108BD9-81ED-4DB2-BD59-A6C34878D82A}">
                    <a16:rowId xmlns:a16="http://schemas.microsoft.com/office/drawing/2014/main" val="1299882572"/>
                  </a:ext>
                </a:extLst>
              </a:tr>
              <a:tr h="309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gray-gauss-3</a:t>
                      </a:r>
                      <a:endParaRPr lang="it-IT" sz="12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Nelder-Mead</a:t>
                      </a:r>
                      <a:endParaRPr lang="it-IT" sz="1200" kern="1200" dirty="0">
                        <a:solidFill>
                          <a:schemeClr val="dk1"/>
                        </a:solidFill>
                        <a:effectLst/>
                        <a:latin typeface="+mn-lt"/>
                        <a:ea typeface="+mn-ea"/>
                        <a:cs typeface="+mn-cs"/>
                      </a:endParaRPr>
                    </a:p>
                  </a:txBody>
                  <a:tcPr/>
                </a:tc>
                <a:tc>
                  <a:txBody>
                    <a:bodyPr/>
                    <a:lstStyle/>
                    <a:p>
                      <a:pPr algn="ctr"/>
                      <a:r>
                        <a:rPr lang="it-IT" sz="1400" dirty="0"/>
                        <a:t>64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3.01</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2.91</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3.76</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3.40</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0.0010</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0.0008</a:t>
                      </a:r>
                      <a:endParaRPr lang="it-IT" sz="1400" kern="1200" dirty="0">
                        <a:solidFill>
                          <a:schemeClr val="dk1"/>
                        </a:solidFill>
                        <a:effectLst/>
                        <a:latin typeface="+mn-lt"/>
                        <a:ea typeface="+mn-ea"/>
                        <a:cs typeface="+mn-cs"/>
                      </a:endParaRPr>
                    </a:p>
                  </a:txBody>
                  <a:tcPr/>
                </a:tc>
                <a:extLst>
                  <a:ext uri="{0D108BD9-81ED-4DB2-BD59-A6C34878D82A}">
                    <a16:rowId xmlns:a16="http://schemas.microsoft.com/office/drawing/2014/main" val="2094793193"/>
                  </a:ext>
                </a:extLst>
              </a:tr>
              <a:tr h="309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hsv_v-gauss-7</a:t>
                      </a:r>
                      <a:endParaRPr lang="it-IT" sz="1200" kern="1200" dirty="0">
                        <a:solidFill>
                          <a:schemeClr val="dk1"/>
                        </a:solidFill>
                        <a:effectLst/>
                        <a:latin typeface="+mn-lt"/>
                        <a:ea typeface="+mn-ea"/>
                        <a:cs typeface="+mn-cs"/>
                      </a:endParaRPr>
                    </a:p>
                  </a:txBody>
                  <a:tcPr/>
                </a:tc>
                <a:tc>
                  <a:txBody>
                    <a:bodyPr/>
                    <a:lstStyle/>
                    <a:p>
                      <a:r>
                        <a:rPr lang="it-IT" sz="1200" i="1" kern="1200" dirty="0">
                          <a:solidFill>
                            <a:schemeClr val="dk1"/>
                          </a:solidFill>
                          <a:effectLst/>
                          <a:latin typeface="+mn-lt"/>
                          <a:ea typeface="+mn-ea"/>
                          <a:cs typeface="+mn-cs"/>
                        </a:rPr>
                        <a:t>Nelder-Mead</a:t>
                      </a:r>
                      <a:endParaRPr lang="it-IT" sz="1200" dirty="0"/>
                    </a:p>
                  </a:txBody>
                  <a:tcPr/>
                </a:tc>
                <a:tc>
                  <a:txBody>
                    <a:bodyPr/>
                    <a:lstStyle/>
                    <a:p>
                      <a:pPr algn="ctr"/>
                      <a:r>
                        <a:rPr lang="it-IT" sz="1400" dirty="0"/>
                        <a:t>128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3.01</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2.86</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3.70</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3.38</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0.001</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0.001</a:t>
                      </a:r>
                      <a:endParaRPr lang="it-IT" sz="1400" kern="1200" dirty="0">
                        <a:solidFill>
                          <a:schemeClr val="dk1"/>
                        </a:solidFill>
                        <a:effectLst/>
                        <a:latin typeface="+mn-lt"/>
                        <a:ea typeface="+mn-ea"/>
                        <a:cs typeface="+mn-cs"/>
                      </a:endParaRPr>
                    </a:p>
                  </a:txBody>
                  <a:tcPr/>
                </a:tc>
                <a:extLst>
                  <a:ext uri="{0D108BD9-81ED-4DB2-BD59-A6C34878D82A}">
                    <a16:rowId xmlns:a16="http://schemas.microsoft.com/office/drawing/2014/main" val="3749290726"/>
                  </a:ext>
                </a:extLst>
              </a:tr>
              <a:tr h="309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gray-gauss-5</a:t>
                      </a:r>
                      <a:endParaRPr lang="it-IT" sz="1200" kern="1200" dirty="0">
                        <a:solidFill>
                          <a:schemeClr val="dk1"/>
                        </a:solidFill>
                        <a:effectLst/>
                        <a:latin typeface="+mn-lt"/>
                        <a:ea typeface="+mn-ea"/>
                        <a:cs typeface="+mn-cs"/>
                      </a:endParaRPr>
                    </a:p>
                  </a:txBody>
                  <a:tcPr/>
                </a:tc>
                <a:tc>
                  <a:txBody>
                    <a:bodyPr/>
                    <a:lstStyle/>
                    <a:p>
                      <a:r>
                        <a:rPr lang="it-IT" sz="1200" i="1" kern="1200" dirty="0">
                          <a:solidFill>
                            <a:schemeClr val="dk1"/>
                          </a:solidFill>
                          <a:effectLst/>
                          <a:latin typeface="+mn-lt"/>
                          <a:ea typeface="+mn-ea"/>
                          <a:cs typeface="+mn-cs"/>
                        </a:rPr>
                        <a:t>Nelder-Mead</a:t>
                      </a:r>
                      <a:endParaRPr lang="it-IT" sz="1200" dirty="0"/>
                    </a:p>
                  </a:txBody>
                  <a:tcPr/>
                </a:tc>
                <a:tc>
                  <a:txBody>
                    <a:bodyPr/>
                    <a:lstStyle/>
                    <a:p>
                      <a:pPr algn="ctr"/>
                      <a:r>
                        <a:rPr lang="it-IT" sz="1400" dirty="0"/>
                        <a:t>128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3.04</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2.87</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3.71</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3.34</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0.0009</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0.0008</a:t>
                      </a:r>
                      <a:endParaRPr lang="it-IT" sz="1400" kern="1200" dirty="0">
                        <a:solidFill>
                          <a:schemeClr val="dk1"/>
                        </a:solidFill>
                        <a:effectLst/>
                        <a:latin typeface="+mn-lt"/>
                        <a:ea typeface="+mn-ea"/>
                        <a:cs typeface="+mn-cs"/>
                      </a:endParaRPr>
                    </a:p>
                  </a:txBody>
                  <a:tcPr/>
                </a:tc>
                <a:extLst>
                  <a:ext uri="{0D108BD9-81ED-4DB2-BD59-A6C34878D82A}">
                    <a16:rowId xmlns:a16="http://schemas.microsoft.com/office/drawing/2014/main" val="4224594177"/>
                  </a:ext>
                </a:extLst>
              </a:tr>
              <a:tr h="309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pca-gauss-5</a:t>
                      </a:r>
                      <a:endParaRPr lang="it-IT" sz="1200" kern="1200" dirty="0">
                        <a:solidFill>
                          <a:schemeClr val="dk1"/>
                        </a:solidFill>
                        <a:effectLst/>
                        <a:latin typeface="+mn-lt"/>
                        <a:ea typeface="+mn-ea"/>
                        <a:cs typeface="+mn-cs"/>
                      </a:endParaRPr>
                    </a:p>
                  </a:txBody>
                  <a:tcPr>
                    <a:solidFill>
                      <a:schemeClr val="accent2">
                        <a:lumMod val="20000"/>
                        <a:lumOff val="80000"/>
                      </a:schemeClr>
                    </a:solidFill>
                  </a:tcPr>
                </a:tc>
                <a:tc>
                  <a:txBody>
                    <a:bodyPr/>
                    <a:lstStyle/>
                    <a:p>
                      <a:r>
                        <a:rPr lang="it-IT" sz="1200" i="1" kern="1200" dirty="0">
                          <a:solidFill>
                            <a:schemeClr val="dk1"/>
                          </a:solidFill>
                          <a:effectLst/>
                          <a:latin typeface="+mn-lt"/>
                          <a:ea typeface="+mn-ea"/>
                          <a:cs typeface="+mn-cs"/>
                        </a:rPr>
                        <a:t>Nelder-Mead</a:t>
                      </a:r>
                      <a:endParaRPr lang="it-IT" sz="1200" dirty="0"/>
                    </a:p>
                  </a:txBody>
                  <a:tcPr>
                    <a:solidFill>
                      <a:schemeClr val="accent2">
                        <a:lumMod val="20000"/>
                        <a:lumOff val="80000"/>
                      </a:schemeClr>
                    </a:solidFill>
                  </a:tcPr>
                </a:tc>
                <a:tc>
                  <a:txBody>
                    <a:bodyPr/>
                    <a:lstStyle/>
                    <a:p>
                      <a:pPr algn="ctr"/>
                      <a:r>
                        <a:rPr lang="it-IT" sz="1400" dirty="0"/>
                        <a:t>64</a:t>
                      </a:r>
                    </a:p>
                  </a:txBody>
                  <a:tcP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3.03</a:t>
                      </a:r>
                      <a:endParaRPr lang="it-IT" sz="1400" kern="1200" dirty="0">
                        <a:solidFill>
                          <a:schemeClr val="dk1"/>
                        </a:solidFill>
                        <a:effectLst/>
                        <a:latin typeface="+mn-lt"/>
                        <a:ea typeface="+mn-ea"/>
                        <a:cs typeface="+mn-cs"/>
                      </a:endParaRPr>
                    </a:p>
                  </a:txBody>
                  <a:tcP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2.88</a:t>
                      </a:r>
                      <a:endParaRPr lang="it-IT" sz="1400" kern="1200" dirty="0">
                        <a:solidFill>
                          <a:schemeClr val="dk1"/>
                        </a:solidFill>
                        <a:effectLst/>
                        <a:latin typeface="+mn-lt"/>
                        <a:ea typeface="+mn-ea"/>
                        <a:cs typeface="+mn-cs"/>
                      </a:endParaRPr>
                    </a:p>
                  </a:txBody>
                  <a:tcPr>
                    <a:solidFill>
                      <a:schemeClr val="accent2">
                        <a:lumMod val="20000"/>
                        <a:lumOff val="80000"/>
                      </a:schemeClr>
                    </a:solidFill>
                  </a:tcPr>
                </a:tc>
                <a:tc>
                  <a:txBody>
                    <a:bodyPr/>
                    <a:lstStyle/>
                    <a:p>
                      <a:pPr algn="ctr"/>
                      <a:r>
                        <a:rPr lang="it-IT" sz="1400" i="1" kern="1200" dirty="0">
                          <a:solidFill>
                            <a:schemeClr val="dk1"/>
                          </a:solidFill>
                          <a:effectLst/>
                          <a:latin typeface="+mn-lt"/>
                          <a:ea typeface="+mn-ea"/>
                          <a:cs typeface="+mn-cs"/>
                        </a:rPr>
                        <a:t>3.71</a:t>
                      </a:r>
                      <a:endParaRPr lang="it-IT" sz="1400" kern="1200" dirty="0">
                        <a:solidFill>
                          <a:schemeClr val="dk1"/>
                        </a:solidFill>
                        <a:effectLst/>
                        <a:latin typeface="+mn-lt"/>
                        <a:ea typeface="+mn-ea"/>
                        <a:cs typeface="+mn-cs"/>
                      </a:endParaRPr>
                    </a:p>
                  </a:txBody>
                  <a:tcP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3.43</a:t>
                      </a:r>
                      <a:endParaRPr lang="it-IT" sz="1400" kern="1200" dirty="0">
                        <a:solidFill>
                          <a:schemeClr val="dk1"/>
                        </a:solidFill>
                        <a:effectLst/>
                        <a:latin typeface="+mn-lt"/>
                        <a:ea typeface="+mn-ea"/>
                        <a:cs typeface="+mn-cs"/>
                      </a:endParaRPr>
                    </a:p>
                  </a:txBody>
                  <a:tcPr>
                    <a:solidFill>
                      <a:schemeClr val="accent2">
                        <a:lumMod val="20000"/>
                        <a:lumOff val="80000"/>
                      </a:schemeClr>
                    </a:solidFill>
                  </a:tcPr>
                </a:tc>
                <a:tc>
                  <a:txBody>
                    <a:bodyPr/>
                    <a:lstStyle/>
                    <a:p>
                      <a:pPr algn="ctr"/>
                      <a:r>
                        <a:rPr lang="it-IT" sz="1400" i="1" kern="1200" dirty="0">
                          <a:solidFill>
                            <a:schemeClr val="dk1"/>
                          </a:solidFill>
                          <a:effectLst/>
                          <a:latin typeface="+mn-lt"/>
                          <a:ea typeface="+mn-ea"/>
                          <a:cs typeface="+mn-cs"/>
                        </a:rPr>
                        <a:t>0.0007</a:t>
                      </a:r>
                      <a:endParaRPr lang="it-IT" sz="1400" kern="1200" dirty="0">
                        <a:solidFill>
                          <a:schemeClr val="dk1"/>
                        </a:solidFill>
                        <a:effectLst/>
                        <a:latin typeface="+mn-lt"/>
                        <a:ea typeface="+mn-ea"/>
                        <a:cs typeface="+mn-cs"/>
                      </a:endParaRPr>
                    </a:p>
                  </a:txBody>
                  <a:tcPr>
                    <a:solidFill>
                      <a:schemeClr val="accent2">
                        <a:lumMod val="20000"/>
                        <a:lumOff val="80000"/>
                      </a:schemeClr>
                    </a:solidFill>
                  </a:tcPr>
                </a:tc>
                <a:tc>
                  <a:txBody>
                    <a:bodyPr/>
                    <a:lstStyle/>
                    <a:p>
                      <a:pPr algn="ctr"/>
                      <a:r>
                        <a:rPr lang="it-IT" sz="1400" i="1" kern="1200" dirty="0">
                          <a:solidFill>
                            <a:schemeClr val="dk1"/>
                          </a:solidFill>
                          <a:effectLst/>
                          <a:latin typeface="+mn-lt"/>
                          <a:ea typeface="+mn-ea"/>
                          <a:cs typeface="+mn-cs"/>
                        </a:rPr>
                        <a:t>0.0006</a:t>
                      </a:r>
                      <a:endParaRPr lang="it-IT" sz="1400" kern="1200" dirty="0">
                        <a:solidFill>
                          <a:schemeClr val="dk1"/>
                        </a:solidFill>
                        <a:effectLst/>
                        <a:latin typeface="+mn-lt"/>
                        <a:ea typeface="+mn-ea"/>
                        <a:cs typeface="+mn-cs"/>
                      </a:endParaRPr>
                    </a:p>
                  </a:txBody>
                  <a:tcPr>
                    <a:solidFill>
                      <a:schemeClr val="accent2">
                        <a:lumMod val="20000"/>
                        <a:lumOff val="80000"/>
                      </a:schemeClr>
                    </a:solidFill>
                  </a:tcPr>
                </a:tc>
                <a:extLst>
                  <a:ext uri="{0D108BD9-81ED-4DB2-BD59-A6C34878D82A}">
                    <a16:rowId xmlns:a16="http://schemas.microsoft.com/office/drawing/2014/main" val="1212607636"/>
                  </a:ext>
                </a:extLst>
              </a:tr>
            </a:tbl>
          </a:graphicData>
        </a:graphic>
      </p:graphicFrame>
      <p:sp>
        <p:nvSpPr>
          <p:cNvPr id="11" name="CasellaDiTesto 10">
            <a:extLst>
              <a:ext uri="{FF2B5EF4-FFF2-40B4-BE49-F238E27FC236}">
                <a16:creationId xmlns:a16="http://schemas.microsoft.com/office/drawing/2014/main" id="{95748B6C-BC5C-B821-0ACC-6F800B878498}"/>
              </a:ext>
            </a:extLst>
          </p:cNvPr>
          <p:cNvSpPr txBox="1"/>
          <p:nvPr/>
        </p:nvSpPr>
        <p:spPr>
          <a:xfrm>
            <a:off x="9166528" y="3885188"/>
            <a:ext cx="2713300" cy="1267655"/>
          </a:xfrm>
          <a:prstGeom prst="rect">
            <a:avLst/>
          </a:prstGeom>
          <a:noFill/>
        </p:spPr>
        <p:txBody>
          <a:bodyPr wrap="square" rtlCol="0">
            <a:spAutoFit/>
          </a:bodyPr>
          <a:lstStyle/>
          <a:p>
            <a:pPr>
              <a:lnSpc>
                <a:spcPct val="107000"/>
              </a:lnSpc>
              <a:spcAft>
                <a:spcPts val="800"/>
              </a:spcAft>
            </a:pPr>
            <a:r>
              <a:rPr lang="en-US" kern="100">
                <a:cs typeface="Arial" panose="020B0604020202020204" pitchFamily="34" charset="0"/>
              </a:rPr>
              <a:t>better configuration, as it is the only one present in the best tops of both groups</a:t>
            </a:r>
            <a:endParaRPr lang="it-IT" kern="100" noProof="0" dirty="0">
              <a:cs typeface="Arial" panose="020B0604020202020204" pitchFamily="34" charset="0"/>
            </a:endParaRPr>
          </a:p>
        </p:txBody>
      </p:sp>
      <p:graphicFrame>
        <p:nvGraphicFramePr>
          <p:cNvPr id="2" name="Tabella 1">
            <a:extLst>
              <a:ext uri="{FF2B5EF4-FFF2-40B4-BE49-F238E27FC236}">
                <a16:creationId xmlns:a16="http://schemas.microsoft.com/office/drawing/2014/main" id="{A2B0FB7D-CC6A-8628-F1D3-20142FCAE332}"/>
              </a:ext>
            </a:extLst>
          </p:cNvPr>
          <p:cNvGraphicFramePr>
            <a:graphicFrameLocks noGrp="1"/>
          </p:cNvGraphicFramePr>
          <p:nvPr>
            <p:extLst>
              <p:ext uri="{D42A27DB-BD31-4B8C-83A1-F6EECF244321}">
                <p14:modId xmlns:p14="http://schemas.microsoft.com/office/powerpoint/2010/main" val="1259142670"/>
              </p:ext>
            </p:extLst>
          </p:nvPr>
        </p:nvGraphicFramePr>
        <p:xfrm>
          <a:off x="370317" y="4474085"/>
          <a:ext cx="8684450" cy="2221261"/>
        </p:xfrm>
        <a:graphic>
          <a:graphicData uri="http://schemas.openxmlformats.org/drawingml/2006/table">
            <a:tbl>
              <a:tblPr firstRow="1" bandRow="1">
                <a:tableStyleId>{5C22544A-7EE6-4342-B048-85BDC9FD1C3A}</a:tableStyleId>
              </a:tblPr>
              <a:tblGrid>
                <a:gridCol w="1367895">
                  <a:extLst>
                    <a:ext uri="{9D8B030D-6E8A-4147-A177-3AD203B41FA5}">
                      <a16:colId xmlns:a16="http://schemas.microsoft.com/office/drawing/2014/main" val="87444673"/>
                    </a:ext>
                  </a:extLst>
                </a:gridCol>
                <a:gridCol w="1065988">
                  <a:extLst>
                    <a:ext uri="{9D8B030D-6E8A-4147-A177-3AD203B41FA5}">
                      <a16:colId xmlns:a16="http://schemas.microsoft.com/office/drawing/2014/main" val="2283952525"/>
                    </a:ext>
                  </a:extLst>
                </a:gridCol>
                <a:gridCol w="1110715">
                  <a:extLst>
                    <a:ext uri="{9D8B030D-6E8A-4147-A177-3AD203B41FA5}">
                      <a16:colId xmlns:a16="http://schemas.microsoft.com/office/drawing/2014/main" val="2728922838"/>
                    </a:ext>
                  </a:extLst>
                </a:gridCol>
                <a:gridCol w="819991">
                  <a:extLst>
                    <a:ext uri="{9D8B030D-6E8A-4147-A177-3AD203B41FA5}">
                      <a16:colId xmlns:a16="http://schemas.microsoft.com/office/drawing/2014/main" val="4230650793"/>
                    </a:ext>
                  </a:extLst>
                </a:gridCol>
                <a:gridCol w="691204">
                  <a:extLst>
                    <a:ext uri="{9D8B030D-6E8A-4147-A177-3AD203B41FA5}">
                      <a16:colId xmlns:a16="http://schemas.microsoft.com/office/drawing/2014/main" val="1057302898"/>
                    </a:ext>
                  </a:extLst>
                </a:gridCol>
                <a:gridCol w="773723">
                  <a:extLst>
                    <a:ext uri="{9D8B030D-6E8A-4147-A177-3AD203B41FA5}">
                      <a16:colId xmlns:a16="http://schemas.microsoft.com/office/drawing/2014/main" val="2841289455"/>
                    </a:ext>
                  </a:extLst>
                </a:gridCol>
                <a:gridCol w="733530">
                  <a:extLst>
                    <a:ext uri="{9D8B030D-6E8A-4147-A177-3AD203B41FA5}">
                      <a16:colId xmlns:a16="http://schemas.microsoft.com/office/drawing/2014/main" val="3241509570"/>
                    </a:ext>
                  </a:extLst>
                </a:gridCol>
                <a:gridCol w="1115367">
                  <a:extLst>
                    <a:ext uri="{9D8B030D-6E8A-4147-A177-3AD203B41FA5}">
                      <a16:colId xmlns:a16="http://schemas.microsoft.com/office/drawing/2014/main" val="3135359873"/>
                    </a:ext>
                  </a:extLst>
                </a:gridCol>
                <a:gridCol w="1006037">
                  <a:extLst>
                    <a:ext uri="{9D8B030D-6E8A-4147-A177-3AD203B41FA5}">
                      <a16:colId xmlns:a16="http://schemas.microsoft.com/office/drawing/2014/main" val="2924479172"/>
                    </a:ext>
                  </a:extLst>
                </a:gridCol>
              </a:tblGrid>
              <a:tr h="361285">
                <a:tc>
                  <a:txBody>
                    <a:bodyPr/>
                    <a:lstStyle/>
                    <a:p>
                      <a:pPr algn="ctr"/>
                      <a:r>
                        <a:rPr lang="it-IT" sz="1400" dirty="0"/>
                        <a:t>preprocessing</a:t>
                      </a:r>
                    </a:p>
                  </a:txBody>
                  <a:tcPr/>
                </a:tc>
                <a:tc>
                  <a:txBody>
                    <a:bodyPr/>
                    <a:lstStyle/>
                    <a:p>
                      <a:pPr algn="ctr"/>
                      <a:r>
                        <a:rPr lang="it-IT" sz="1400" dirty="0"/>
                        <a:t>metodo</a:t>
                      </a:r>
                    </a:p>
                  </a:txBody>
                  <a:tcPr/>
                </a:tc>
                <a:tc>
                  <a:txBody>
                    <a:bodyPr/>
                    <a:lstStyle/>
                    <a:p>
                      <a:pPr algn="ctr"/>
                      <a:r>
                        <a:rPr lang="it-IT" sz="1400" dirty="0"/>
                        <a:t>numero bin</a:t>
                      </a:r>
                    </a:p>
                  </a:txBody>
                  <a:tcPr/>
                </a:tc>
                <a:tc>
                  <a:txBody>
                    <a:bodyPr/>
                    <a:lstStyle/>
                    <a:p>
                      <a:pPr algn="ctr"/>
                      <a:r>
                        <a:rPr lang="it-IT" sz="1400" dirty="0"/>
                        <a:t>mae_tx</a:t>
                      </a:r>
                    </a:p>
                  </a:txBody>
                  <a:tcPr/>
                </a:tc>
                <a:tc>
                  <a:txBody>
                    <a:bodyPr/>
                    <a:lstStyle/>
                    <a:p>
                      <a:pPr algn="ctr"/>
                      <a:r>
                        <a:rPr lang="it-IT" sz="1400" dirty="0"/>
                        <a:t>std_tx</a:t>
                      </a:r>
                    </a:p>
                  </a:txBody>
                  <a:tcPr/>
                </a:tc>
                <a:tc>
                  <a:txBody>
                    <a:bodyPr/>
                    <a:lstStyle/>
                    <a:p>
                      <a:pPr algn="ctr"/>
                      <a:r>
                        <a:rPr lang="it-IT" sz="1400" dirty="0"/>
                        <a:t>mae_ty</a:t>
                      </a:r>
                    </a:p>
                  </a:txBody>
                  <a:tcPr/>
                </a:tc>
                <a:tc>
                  <a:txBody>
                    <a:bodyPr/>
                    <a:lstStyle/>
                    <a:p>
                      <a:pPr algn="ctr"/>
                      <a:r>
                        <a:rPr lang="it-IT" sz="1400" dirty="0"/>
                        <a:t>std_ty</a:t>
                      </a:r>
                    </a:p>
                  </a:txBody>
                  <a:tcPr/>
                </a:tc>
                <a:tc>
                  <a:txBody>
                    <a:bodyPr/>
                    <a:lstStyle/>
                    <a:p>
                      <a:pPr algn="ctr"/>
                      <a:r>
                        <a:rPr lang="it-IT" sz="1400" dirty="0"/>
                        <a:t>mae_theta</a:t>
                      </a:r>
                    </a:p>
                  </a:txBody>
                  <a:tcPr/>
                </a:tc>
                <a:tc>
                  <a:txBody>
                    <a:bodyPr/>
                    <a:lstStyle/>
                    <a:p>
                      <a:pPr algn="ctr"/>
                      <a:r>
                        <a:rPr lang="it-IT" sz="1400" dirty="0"/>
                        <a:t>std_theta</a:t>
                      </a:r>
                    </a:p>
                  </a:txBody>
                  <a:tcPr/>
                </a:tc>
                <a:extLst>
                  <a:ext uri="{0D108BD9-81ED-4DB2-BD59-A6C34878D82A}">
                    <a16:rowId xmlns:a16="http://schemas.microsoft.com/office/drawing/2014/main" val="2492567403"/>
                  </a:ext>
                </a:extLst>
              </a:tr>
              <a:tr h="309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gray</a:t>
                      </a:r>
                      <a:endParaRPr lang="it-IT" sz="12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Nelder-Mead</a:t>
                      </a:r>
                      <a:endParaRPr lang="it-IT" sz="1200" kern="1200" dirty="0">
                        <a:solidFill>
                          <a:schemeClr val="dk1"/>
                        </a:solidFill>
                        <a:effectLst/>
                        <a:latin typeface="+mn-lt"/>
                        <a:ea typeface="+mn-ea"/>
                        <a:cs typeface="+mn-cs"/>
                      </a:endParaRPr>
                    </a:p>
                  </a:txBody>
                  <a:tcPr/>
                </a:tc>
                <a:tc>
                  <a:txBody>
                    <a:bodyPr/>
                    <a:lstStyle/>
                    <a:p>
                      <a:pPr algn="ctr"/>
                      <a:r>
                        <a:rPr lang="it-IT" sz="1400" dirty="0"/>
                        <a:t>128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3.11</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2.94</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3.73</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3.43</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0.0005</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0.0004</a:t>
                      </a:r>
                      <a:endParaRPr lang="it-IT" sz="1400" kern="1200" dirty="0">
                        <a:solidFill>
                          <a:schemeClr val="dk1"/>
                        </a:solidFill>
                        <a:effectLst/>
                        <a:latin typeface="+mn-lt"/>
                        <a:ea typeface="+mn-ea"/>
                        <a:cs typeface="+mn-cs"/>
                      </a:endParaRPr>
                    </a:p>
                  </a:txBody>
                  <a:tcPr/>
                </a:tc>
                <a:extLst>
                  <a:ext uri="{0D108BD9-81ED-4DB2-BD59-A6C34878D82A}">
                    <a16:rowId xmlns:a16="http://schemas.microsoft.com/office/drawing/2014/main" val="671879042"/>
                  </a:ext>
                </a:extLst>
              </a:tr>
              <a:tr h="309996">
                <a:tc>
                  <a:txBody>
                    <a:bodyPr/>
                    <a:lstStyle/>
                    <a:p>
                      <a:pPr algn="ctr"/>
                      <a:r>
                        <a:rPr lang="it-IT" sz="1200" dirty="0"/>
                        <a:t>pca-gauss-5</a:t>
                      </a: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Nelder-Mead</a:t>
                      </a:r>
                      <a:endParaRPr lang="it-IT" sz="1200" kern="1200" dirty="0">
                        <a:solidFill>
                          <a:schemeClr val="dk1"/>
                        </a:solidFill>
                        <a:effectLst/>
                        <a:latin typeface="+mn-lt"/>
                        <a:ea typeface="+mn-ea"/>
                        <a:cs typeface="+mn-cs"/>
                      </a:endParaRPr>
                    </a:p>
                  </a:txBody>
                  <a:tcPr>
                    <a:solidFill>
                      <a:schemeClr val="accent2">
                        <a:lumMod val="20000"/>
                        <a:lumOff val="80000"/>
                      </a:schemeClr>
                    </a:solidFill>
                  </a:tcPr>
                </a:tc>
                <a:tc>
                  <a:txBody>
                    <a:bodyPr/>
                    <a:lstStyle/>
                    <a:p>
                      <a:pPr algn="ctr"/>
                      <a:r>
                        <a:rPr lang="it-IT" sz="1400" dirty="0"/>
                        <a:t>64</a:t>
                      </a:r>
                    </a:p>
                  </a:txBody>
                  <a:tcP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3.03</a:t>
                      </a:r>
                      <a:endParaRPr lang="it-IT" sz="1400" kern="1200" dirty="0">
                        <a:solidFill>
                          <a:schemeClr val="dk1"/>
                        </a:solidFill>
                        <a:effectLst/>
                        <a:latin typeface="+mn-lt"/>
                        <a:ea typeface="+mn-ea"/>
                        <a:cs typeface="+mn-cs"/>
                      </a:endParaRPr>
                    </a:p>
                  </a:txBody>
                  <a:tcP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2.88</a:t>
                      </a:r>
                      <a:endParaRPr lang="it-IT" sz="1400" kern="1200" dirty="0">
                        <a:solidFill>
                          <a:schemeClr val="dk1"/>
                        </a:solidFill>
                        <a:effectLst/>
                        <a:latin typeface="+mn-lt"/>
                        <a:ea typeface="+mn-ea"/>
                        <a:cs typeface="+mn-cs"/>
                      </a:endParaRPr>
                    </a:p>
                  </a:txBody>
                  <a:tcP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3.71</a:t>
                      </a:r>
                      <a:endParaRPr lang="it-IT" sz="1400" kern="1200" dirty="0">
                        <a:solidFill>
                          <a:schemeClr val="dk1"/>
                        </a:solidFill>
                        <a:effectLst/>
                        <a:latin typeface="+mn-lt"/>
                        <a:ea typeface="+mn-ea"/>
                        <a:cs typeface="+mn-cs"/>
                      </a:endParaRPr>
                    </a:p>
                  </a:txBody>
                  <a:tcP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3.43</a:t>
                      </a:r>
                      <a:endParaRPr lang="it-IT" sz="1400" kern="1200" dirty="0">
                        <a:solidFill>
                          <a:schemeClr val="dk1"/>
                        </a:solidFill>
                        <a:effectLst/>
                        <a:latin typeface="+mn-lt"/>
                        <a:ea typeface="+mn-ea"/>
                        <a:cs typeface="+mn-cs"/>
                      </a:endParaRPr>
                    </a:p>
                  </a:txBody>
                  <a:tcPr>
                    <a:solidFill>
                      <a:schemeClr val="accent2">
                        <a:lumMod val="20000"/>
                        <a:lumOff val="80000"/>
                      </a:schemeClr>
                    </a:solidFill>
                  </a:tcPr>
                </a:tc>
                <a:tc>
                  <a:txBody>
                    <a:bodyPr/>
                    <a:lstStyle/>
                    <a:p>
                      <a:pPr algn="ctr"/>
                      <a:r>
                        <a:rPr lang="it-IT" sz="1400" i="1" kern="1200" dirty="0">
                          <a:solidFill>
                            <a:schemeClr val="dk1"/>
                          </a:solidFill>
                          <a:effectLst/>
                          <a:latin typeface="+mn-lt"/>
                          <a:ea typeface="+mn-ea"/>
                          <a:cs typeface="+mn-cs"/>
                        </a:rPr>
                        <a:t>0.0007</a:t>
                      </a:r>
                      <a:endParaRPr lang="it-IT" sz="1400" kern="1200" dirty="0">
                        <a:solidFill>
                          <a:schemeClr val="dk1"/>
                        </a:solidFill>
                        <a:effectLst/>
                        <a:latin typeface="+mn-lt"/>
                        <a:ea typeface="+mn-ea"/>
                        <a:cs typeface="+mn-cs"/>
                      </a:endParaRPr>
                    </a:p>
                  </a:txBody>
                  <a:tcPr>
                    <a:solidFill>
                      <a:schemeClr val="accent2">
                        <a:lumMod val="20000"/>
                        <a:lumOff val="80000"/>
                      </a:schemeClr>
                    </a:solidFill>
                  </a:tcPr>
                </a:tc>
                <a:tc>
                  <a:txBody>
                    <a:bodyPr/>
                    <a:lstStyle/>
                    <a:p>
                      <a:pPr algn="ctr"/>
                      <a:r>
                        <a:rPr lang="it-IT" sz="1400" i="1" kern="1200" dirty="0">
                          <a:solidFill>
                            <a:schemeClr val="dk1"/>
                          </a:solidFill>
                          <a:effectLst/>
                          <a:latin typeface="+mn-lt"/>
                          <a:ea typeface="+mn-ea"/>
                          <a:cs typeface="+mn-cs"/>
                        </a:rPr>
                        <a:t>0.0006</a:t>
                      </a:r>
                      <a:endParaRPr lang="it-IT" sz="1400" kern="1200" dirty="0">
                        <a:solidFill>
                          <a:schemeClr val="dk1"/>
                        </a:solidFill>
                        <a:effectLst/>
                        <a:latin typeface="+mn-lt"/>
                        <a:ea typeface="+mn-ea"/>
                        <a:cs typeface="+mn-cs"/>
                      </a:endParaRPr>
                    </a:p>
                  </a:txBody>
                  <a:tcPr>
                    <a:solidFill>
                      <a:schemeClr val="accent2">
                        <a:lumMod val="20000"/>
                        <a:lumOff val="80000"/>
                      </a:schemeClr>
                    </a:solidFill>
                  </a:tcPr>
                </a:tc>
                <a:extLst>
                  <a:ext uri="{0D108BD9-81ED-4DB2-BD59-A6C34878D82A}">
                    <a16:rowId xmlns:a16="http://schemas.microsoft.com/office/drawing/2014/main" val="1299882572"/>
                  </a:ext>
                </a:extLst>
              </a:tr>
              <a:tr h="309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gray-gauss-5</a:t>
                      </a:r>
                      <a:endParaRPr lang="it-IT" sz="12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Nelder-Mead</a:t>
                      </a:r>
                      <a:endParaRPr lang="it-IT" sz="1200" kern="1200" dirty="0">
                        <a:solidFill>
                          <a:schemeClr val="dk1"/>
                        </a:solidFill>
                        <a:effectLst/>
                        <a:latin typeface="+mn-lt"/>
                        <a:ea typeface="+mn-ea"/>
                        <a:cs typeface="+mn-cs"/>
                      </a:endParaRPr>
                    </a:p>
                  </a:txBody>
                  <a:tcPr/>
                </a:tc>
                <a:tc>
                  <a:txBody>
                    <a:bodyPr/>
                    <a:lstStyle/>
                    <a:p>
                      <a:pPr algn="ctr"/>
                      <a:r>
                        <a:rPr lang="it-IT" sz="1400" dirty="0"/>
                        <a:t>64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3.07</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2.94</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3.74</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3.42</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0.0007</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0.0005</a:t>
                      </a:r>
                      <a:endParaRPr lang="it-IT" sz="1400" kern="1200" dirty="0">
                        <a:solidFill>
                          <a:schemeClr val="dk1"/>
                        </a:solidFill>
                        <a:effectLst/>
                        <a:latin typeface="+mn-lt"/>
                        <a:ea typeface="+mn-ea"/>
                        <a:cs typeface="+mn-cs"/>
                      </a:endParaRPr>
                    </a:p>
                  </a:txBody>
                  <a:tcPr/>
                </a:tc>
                <a:extLst>
                  <a:ext uri="{0D108BD9-81ED-4DB2-BD59-A6C34878D82A}">
                    <a16:rowId xmlns:a16="http://schemas.microsoft.com/office/drawing/2014/main" val="2094793193"/>
                  </a:ext>
                </a:extLst>
              </a:tr>
              <a:tr h="309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hsv_v</a:t>
                      </a:r>
                      <a:endParaRPr lang="it-IT" sz="1200" kern="1200" dirty="0">
                        <a:solidFill>
                          <a:schemeClr val="dk1"/>
                        </a:solidFill>
                        <a:effectLst/>
                        <a:latin typeface="+mn-lt"/>
                        <a:ea typeface="+mn-ea"/>
                        <a:cs typeface="+mn-cs"/>
                      </a:endParaRPr>
                    </a:p>
                  </a:txBody>
                  <a:tcPr/>
                </a:tc>
                <a:tc>
                  <a:txBody>
                    <a:bodyPr/>
                    <a:lstStyle/>
                    <a:p>
                      <a:r>
                        <a:rPr lang="it-IT" sz="1200" i="1" kern="1200" dirty="0">
                          <a:solidFill>
                            <a:schemeClr val="dk1"/>
                          </a:solidFill>
                          <a:effectLst/>
                          <a:latin typeface="+mn-lt"/>
                          <a:ea typeface="+mn-ea"/>
                          <a:cs typeface="+mn-cs"/>
                        </a:rPr>
                        <a:t>Nelder-Mead</a:t>
                      </a:r>
                      <a:endParaRPr lang="it-IT" sz="1200" dirty="0"/>
                    </a:p>
                  </a:txBody>
                  <a:tcPr/>
                </a:tc>
                <a:tc>
                  <a:txBody>
                    <a:bodyPr/>
                    <a:lstStyle/>
                    <a:p>
                      <a:pPr algn="ctr"/>
                      <a:r>
                        <a:rPr lang="it-IT" sz="1400" dirty="0"/>
                        <a:t>128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3.06</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2.93</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3.77</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3.33</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0.0007</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0.0007</a:t>
                      </a:r>
                      <a:endParaRPr lang="it-IT" sz="1400" kern="1200" dirty="0">
                        <a:solidFill>
                          <a:schemeClr val="dk1"/>
                        </a:solidFill>
                        <a:effectLst/>
                        <a:latin typeface="+mn-lt"/>
                        <a:ea typeface="+mn-ea"/>
                        <a:cs typeface="+mn-cs"/>
                      </a:endParaRPr>
                    </a:p>
                  </a:txBody>
                  <a:tcPr/>
                </a:tc>
                <a:extLst>
                  <a:ext uri="{0D108BD9-81ED-4DB2-BD59-A6C34878D82A}">
                    <a16:rowId xmlns:a16="http://schemas.microsoft.com/office/drawing/2014/main" val="3749290726"/>
                  </a:ext>
                </a:extLst>
              </a:tr>
              <a:tr h="309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gray</a:t>
                      </a:r>
                      <a:endParaRPr lang="it-IT" sz="1200" kern="1200" dirty="0">
                        <a:solidFill>
                          <a:schemeClr val="dk1"/>
                        </a:solidFill>
                        <a:effectLst/>
                        <a:latin typeface="+mn-lt"/>
                        <a:ea typeface="+mn-ea"/>
                        <a:cs typeface="+mn-cs"/>
                      </a:endParaRPr>
                    </a:p>
                  </a:txBody>
                  <a:tcPr/>
                </a:tc>
                <a:tc>
                  <a:txBody>
                    <a:bodyPr/>
                    <a:lstStyle/>
                    <a:p>
                      <a:r>
                        <a:rPr lang="it-IT" sz="1200" i="1" kern="1200" dirty="0">
                          <a:solidFill>
                            <a:schemeClr val="dk1"/>
                          </a:solidFill>
                          <a:effectLst/>
                          <a:latin typeface="+mn-lt"/>
                          <a:ea typeface="+mn-ea"/>
                          <a:cs typeface="+mn-cs"/>
                        </a:rPr>
                        <a:t>Nelder-Mead</a:t>
                      </a:r>
                      <a:endParaRPr lang="it-IT" sz="1200" dirty="0"/>
                    </a:p>
                  </a:txBody>
                  <a:tcPr/>
                </a:tc>
                <a:tc>
                  <a:txBody>
                    <a:bodyPr/>
                    <a:lstStyle/>
                    <a:p>
                      <a:pPr algn="ctr"/>
                      <a:r>
                        <a:rPr lang="it-IT" sz="1400" dirty="0"/>
                        <a:t>256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3.06</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2.94</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3.77</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3.34</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0.0007</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0.0008</a:t>
                      </a:r>
                      <a:endParaRPr lang="it-IT" sz="1400" kern="1200" dirty="0">
                        <a:solidFill>
                          <a:schemeClr val="dk1"/>
                        </a:solidFill>
                        <a:effectLst/>
                        <a:latin typeface="+mn-lt"/>
                        <a:ea typeface="+mn-ea"/>
                        <a:cs typeface="+mn-cs"/>
                      </a:endParaRPr>
                    </a:p>
                  </a:txBody>
                  <a:tcPr/>
                </a:tc>
                <a:extLst>
                  <a:ext uri="{0D108BD9-81ED-4DB2-BD59-A6C34878D82A}">
                    <a16:rowId xmlns:a16="http://schemas.microsoft.com/office/drawing/2014/main" val="4224594177"/>
                  </a:ext>
                </a:extLst>
              </a:tr>
              <a:tr h="309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200" i="1" kern="1200" dirty="0">
                          <a:solidFill>
                            <a:schemeClr val="dk1"/>
                          </a:solidFill>
                          <a:effectLst/>
                          <a:latin typeface="+mn-lt"/>
                          <a:ea typeface="+mn-ea"/>
                          <a:cs typeface="+mn-cs"/>
                        </a:rPr>
                        <a:t>pca</a:t>
                      </a:r>
                      <a:endParaRPr lang="it-IT" sz="1200" kern="1200" dirty="0">
                        <a:solidFill>
                          <a:schemeClr val="dk1"/>
                        </a:solidFill>
                        <a:effectLst/>
                        <a:latin typeface="+mn-lt"/>
                        <a:ea typeface="+mn-ea"/>
                        <a:cs typeface="+mn-cs"/>
                      </a:endParaRPr>
                    </a:p>
                  </a:txBody>
                  <a:tcPr/>
                </a:tc>
                <a:tc>
                  <a:txBody>
                    <a:bodyPr/>
                    <a:lstStyle/>
                    <a:p>
                      <a:r>
                        <a:rPr lang="it-IT" sz="1200" i="1" kern="1200" dirty="0">
                          <a:solidFill>
                            <a:schemeClr val="dk1"/>
                          </a:solidFill>
                          <a:effectLst/>
                          <a:latin typeface="+mn-lt"/>
                          <a:ea typeface="+mn-ea"/>
                          <a:cs typeface="+mn-cs"/>
                        </a:rPr>
                        <a:t>Nelder-Mead</a:t>
                      </a:r>
                      <a:endParaRPr lang="it-IT" sz="1200" dirty="0"/>
                    </a:p>
                  </a:txBody>
                  <a:tcPr/>
                </a:tc>
                <a:tc>
                  <a:txBody>
                    <a:bodyPr/>
                    <a:lstStyle/>
                    <a:p>
                      <a:pPr algn="ctr"/>
                      <a:r>
                        <a:rPr lang="it-IT" sz="1400" dirty="0"/>
                        <a:t>256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3.07</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2.91</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3.80</a:t>
                      </a:r>
                      <a:endParaRPr lang="it-IT" sz="14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kern="1200" dirty="0">
                          <a:solidFill>
                            <a:schemeClr val="dk1"/>
                          </a:solidFill>
                          <a:effectLst/>
                          <a:latin typeface="+mn-lt"/>
                          <a:ea typeface="+mn-ea"/>
                          <a:cs typeface="+mn-cs"/>
                        </a:rPr>
                        <a:t>3.34</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0.0007</a:t>
                      </a:r>
                      <a:endParaRPr lang="it-IT" sz="1400" kern="1200" dirty="0">
                        <a:solidFill>
                          <a:schemeClr val="dk1"/>
                        </a:solidFill>
                        <a:effectLst/>
                        <a:latin typeface="+mn-lt"/>
                        <a:ea typeface="+mn-ea"/>
                        <a:cs typeface="+mn-cs"/>
                      </a:endParaRPr>
                    </a:p>
                  </a:txBody>
                  <a:tcPr/>
                </a:tc>
                <a:tc>
                  <a:txBody>
                    <a:bodyPr/>
                    <a:lstStyle/>
                    <a:p>
                      <a:pPr algn="ctr"/>
                      <a:r>
                        <a:rPr lang="it-IT" sz="1400" i="1" kern="1200" dirty="0">
                          <a:solidFill>
                            <a:schemeClr val="dk1"/>
                          </a:solidFill>
                          <a:effectLst/>
                          <a:latin typeface="+mn-lt"/>
                          <a:ea typeface="+mn-ea"/>
                          <a:cs typeface="+mn-cs"/>
                        </a:rPr>
                        <a:t>0.0005</a:t>
                      </a:r>
                      <a:endParaRPr lang="it-IT" sz="1400" kern="1200" dirty="0">
                        <a:solidFill>
                          <a:schemeClr val="dk1"/>
                        </a:solidFill>
                        <a:effectLst/>
                        <a:latin typeface="+mn-lt"/>
                        <a:ea typeface="+mn-ea"/>
                        <a:cs typeface="+mn-cs"/>
                      </a:endParaRPr>
                    </a:p>
                  </a:txBody>
                  <a:tcPr/>
                </a:tc>
                <a:extLst>
                  <a:ext uri="{0D108BD9-81ED-4DB2-BD59-A6C34878D82A}">
                    <a16:rowId xmlns:a16="http://schemas.microsoft.com/office/drawing/2014/main" val="1212607636"/>
                  </a:ext>
                </a:extLst>
              </a:tr>
            </a:tbl>
          </a:graphicData>
        </a:graphic>
      </p:graphicFrame>
      <p:sp>
        <p:nvSpPr>
          <p:cNvPr id="4" name="CasellaDiTesto 3">
            <a:extLst>
              <a:ext uri="{FF2B5EF4-FFF2-40B4-BE49-F238E27FC236}">
                <a16:creationId xmlns:a16="http://schemas.microsoft.com/office/drawing/2014/main" id="{3698EE84-A0FA-39EE-668C-8831B8700354}"/>
              </a:ext>
            </a:extLst>
          </p:cNvPr>
          <p:cNvSpPr txBox="1"/>
          <p:nvPr/>
        </p:nvSpPr>
        <p:spPr>
          <a:xfrm>
            <a:off x="312173" y="1289641"/>
            <a:ext cx="11339053" cy="378565"/>
          </a:xfrm>
          <a:prstGeom prst="rect">
            <a:avLst/>
          </a:prstGeom>
          <a:noFill/>
        </p:spPr>
        <p:txBody>
          <a:bodyPr wrap="square" rtlCol="0">
            <a:spAutoFit/>
          </a:bodyPr>
          <a:lstStyle/>
          <a:p>
            <a:pPr>
              <a:lnSpc>
                <a:spcPct val="107000"/>
              </a:lnSpc>
              <a:spcAft>
                <a:spcPts val="800"/>
              </a:spcAft>
            </a:pPr>
            <a:r>
              <a:rPr lang="en-US" kern="100">
                <a:cs typeface="Arial" panose="020B0604020202020204" pitchFamily="34" charset="0"/>
              </a:rPr>
              <a:t>Ordered configurations with priority over translation error, calculated by combining x-axis and ordinate.</a:t>
            </a:r>
            <a:endParaRPr lang="it-IT" kern="100" noProof="0" dirty="0">
              <a:cs typeface="Arial" panose="020B0604020202020204" pitchFamily="34" charset="0"/>
            </a:endParaRPr>
          </a:p>
        </p:txBody>
      </p:sp>
      <p:sp>
        <p:nvSpPr>
          <p:cNvPr id="6" name="CasellaDiTesto 5">
            <a:extLst>
              <a:ext uri="{FF2B5EF4-FFF2-40B4-BE49-F238E27FC236}">
                <a16:creationId xmlns:a16="http://schemas.microsoft.com/office/drawing/2014/main" id="{75D59159-F516-C06F-B316-F7BC11762AA1}"/>
              </a:ext>
            </a:extLst>
          </p:cNvPr>
          <p:cNvSpPr txBox="1"/>
          <p:nvPr/>
        </p:nvSpPr>
        <p:spPr>
          <a:xfrm>
            <a:off x="312173" y="4079163"/>
            <a:ext cx="7696363" cy="378565"/>
          </a:xfrm>
          <a:prstGeom prst="rect">
            <a:avLst/>
          </a:prstGeom>
          <a:noFill/>
        </p:spPr>
        <p:txBody>
          <a:bodyPr wrap="square" rtlCol="0">
            <a:spAutoFit/>
          </a:bodyPr>
          <a:lstStyle/>
          <a:p>
            <a:pPr>
              <a:lnSpc>
                <a:spcPct val="107000"/>
              </a:lnSpc>
              <a:spcAft>
                <a:spcPts val="800"/>
              </a:spcAft>
            </a:pPr>
            <a:r>
              <a:rPr lang="it-IT" kern="100" noProof="0" dirty="0">
                <a:cs typeface="Arial" panose="020B0604020202020204" pitchFamily="34" charset="0"/>
              </a:rPr>
              <a:t>Configurazioni ordinate con priorità rispetto all’errore di rotazione.</a:t>
            </a:r>
          </a:p>
        </p:txBody>
      </p:sp>
      <p:cxnSp>
        <p:nvCxnSpPr>
          <p:cNvPr id="9" name="Connettore a gomito 8">
            <a:extLst>
              <a:ext uri="{FF2B5EF4-FFF2-40B4-BE49-F238E27FC236}">
                <a16:creationId xmlns:a16="http://schemas.microsoft.com/office/drawing/2014/main" id="{6BE1318A-FB0C-712D-0F68-8AF18A6BFB2C}"/>
              </a:ext>
            </a:extLst>
          </p:cNvPr>
          <p:cNvCxnSpPr>
            <a:cxnSpLocks/>
            <a:endCxn id="11" idx="2"/>
          </p:cNvCxnSpPr>
          <p:nvPr/>
        </p:nvCxnSpPr>
        <p:spPr>
          <a:xfrm flipV="1">
            <a:off x="9166527" y="5152843"/>
            <a:ext cx="1356651" cy="150677"/>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ttore a gomito 14">
            <a:extLst>
              <a:ext uri="{FF2B5EF4-FFF2-40B4-BE49-F238E27FC236}">
                <a16:creationId xmlns:a16="http://schemas.microsoft.com/office/drawing/2014/main" id="{A7AE8134-853E-8A05-73F1-28174B6C56FD}"/>
              </a:ext>
            </a:extLst>
          </p:cNvPr>
          <p:cNvCxnSpPr>
            <a:cxnSpLocks/>
            <a:endCxn id="11" idx="0"/>
          </p:cNvCxnSpPr>
          <p:nvPr/>
        </p:nvCxnSpPr>
        <p:spPr>
          <a:xfrm>
            <a:off x="9166527" y="3735274"/>
            <a:ext cx="1356651" cy="149914"/>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5074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D89FD-72FA-23EB-DEEB-479468BD461C}"/>
            </a:ext>
          </a:extLst>
        </p:cNvPr>
        <p:cNvGrpSpPr/>
        <p:nvPr/>
      </p:nvGrpSpPr>
      <p:grpSpPr>
        <a:xfrm>
          <a:off x="0" y="0"/>
          <a:ext cx="0" cy="0"/>
          <a:chOff x="0" y="0"/>
          <a:chExt cx="0" cy="0"/>
        </a:xfrm>
      </p:grpSpPr>
      <p:pic>
        <p:nvPicPr>
          <p:cNvPr id="14" name="Immagine 13">
            <a:extLst>
              <a:ext uri="{FF2B5EF4-FFF2-40B4-BE49-F238E27FC236}">
                <a16:creationId xmlns:a16="http://schemas.microsoft.com/office/drawing/2014/main" id="{2E924ABA-B3E5-2BE5-3FBB-E3F5F2C454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1116" y="1002172"/>
            <a:ext cx="5063623" cy="2531812"/>
          </a:xfrm>
          <a:prstGeom prst="rect">
            <a:avLst/>
          </a:prstGeom>
        </p:spPr>
      </p:pic>
      <p:pic>
        <p:nvPicPr>
          <p:cNvPr id="9" name="Immagine 8">
            <a:extLst>
              <a:ext uri="{FF2B5EF4-FFF2-40B4-BE49-F238E27FC236}">
                <a16:creationId xmlns:a16="http://schemas.microsoft.com/office/drawing/2014/main" id="{8D3098BA-B9DA-91FC-E1BD-DF3D8FEE55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9022" y="3870636"/>
            <a:ext cx="5253048" cy="2626524"/>
          </a:xfrm>
          <a:prstGeom prst="rect">
            <a:avLst/>
          </a:prstGeom>
        </p:spPr>
      </p:pic>
      <p:pic>
        <p:nvPicPr>
          <p:cNvPr id="6" name="Immagine 5">
            <a:extLst>
              <a:ext uri="{FF2B5EF4-FFF2-40B4-BE49-F238E27FC236}">
                <a16:creationId xmlns:a16="http://schemas.microsoft.com/office/drawing/2014/main" id="{07A0F728-F521-4E1C-A39C-DF3D59E9C0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096" y="1002172"/>
            <a:ext cx="5053790" cy="2526896"/>
          </a:xfrm>
          <a:prstGeom prst="rect">
            <a:avLst/>
          </a:prstGeom>
        </p:spPr>
      </p:pic>
      <p:sp>
        <p:nvSpPr>
          <p:cNvPr id="7" name="TextBox 2">
            <a:extLst>
              <a:ext uri="{FF2B5EF4-FFF2-40B4-BE49-F238E27FC236}">
                <a16:creationId xmlns:a16="http://schemas.microsoft.com/office/drawing/2014/main" id="{34E1AD3E-7727-7D44-ED44-EB6E78ED8739}"/>
              </a:ext>
            </a:extLst>
          </p:cNvPr>
          <p:cNvSpPr txBox="1"/>
          <p:nvPr/>
        </p:nvSpPr>
        <p:spPr>
          <a:xfrm>
            <a:off x="367095" y="228464"/>
            <a:ext cx="11316905"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67"/>
              <a:t>Some qualitative results on the val set</a:t>
            </a:r>
            <a:endParaRPr lang="it-IT" sz="4067" noProof="0" dirty="0"/>
          </a:p>
        </p:txBody>
      </p:sp>
      <p:sp>
        <p:nvSpPr>
          <p:cNvPr id="11" name="CasellaDiTesto 10">
            <a:extLst>
              <a:ext uri="{FF2B5EF4-FFF2-40B4-BE49-F238E27FC236}">
                <a16:creationId xmlns:a16="http://schemas.microsoft.com/office/drawing/2014/main" id="{54473D60-FAB1-E79B-83B2-FC999D430FBC}"/>
              </a:ext>
            </a:extLst>
          </p:cNvPr>
          <p:cNvSpPr txBox="1"/>
          <p:nvPr/>
        </p:nvSpPr>
        <p:spPr>
          <a:xfrm>
            <a:off x="384468" y="3512350"/>
            <a:ext cx="4819047" cy="315023"/>
          </a:xfrm>
          <a:prstGeom prst="rect">
            <a:avLst/>
          </a:prstGeom>
          <a:noFill/>
        </p:spPr>
        <p:txBody>
          <a:bodyPr wrap="square" rtlCol="0">
            <a:spAutoFit/>
          </a:bodyPr>
          <a:lstStyle/>
          <a:p>
            <a:pPr>
              <a:lnSpc>
                <a:spcPct val="107000"/>
              </a:lnSpc>
              <a:spcAft>
                <a:spcPts val="800"/>
              </a:spcAft>
            </a:pPr>
            <a:r>
              <a:rPr lang="en-US" sz="1400" kern="100" dirty="0">
                <a:solidFill>
                  <a:srgbClr val="FF0000"/>
                </a:solidFill>
                <a:cs typeface="Arial" panose="020B0604020202020204" pitchFamily="34" charset="0"/>
              </a:rPr>
              <a:t>Pair: c3, Preprocessing: hsv_v, Method: Powell, Bins: 256</a:t>
            </a:r>
            <a:endParaRPr lang="it-IT" sz="1400" kern="100" noProof="0" dirty="0">
              <a:solidFill>
                <a:srgbClr val="FF0000"/>
              </a:solidFill>
              <a:cs typeface="Arial" panose="020B0604020202020204" pitchFamily="34" charset="0"/>
            </a:endParaRPr>
          </a:p>
        </p:txBody>
      </p:sp>
      <p:sp>
        <p:nvSpPr>
          <p:cNvPr id="2" name="CasellaDiTesto 1">
            <a:extLst>
              <a:ext uri="{FF2B5EF4-FFF2-40B4-BE49-F238E27FC236}">
                <a16:creationId xmlns:a16="http://schemas.microsoft.com/office/drawing/2014/main" id="{D5956715-9E35-EB6F-3DA0-0779C832919D}"/>
              </a:ext>
            </a:extLst>
          </p:cNvPr>
          <p:cNvSpPr txBox="1"/>
          <p:nvPr/>
        </p:nvSpPr>
        <p:spPr>
          <a:xfrm>
            <a:off x="6249410" y="3506130"/>
            <a:ext cx="5854100" cy="315023"/>
          </a:xfrm>
          <a:prstGeom prst="rect">
            <a:avLst/>
          </a:prstGeom>
          <a:noFill/>
        </p:spPr>
        <p:txBody>
          <a:bodyPr wrap="square" rtlCol="0">
            <a:spAutoFit/>
          </a:bodyPr>
          <a:lstStyle/>
          <a:p>
            <a:pPr>
              <a:lnSpc>
                <a:spcPct val="107000"/>
              </a:lnSpc>
              <a:spcAft>
                <a:spcPts val="800"/>
              </a:spcAft>
            </a:pPr>
            <a:r>
              <a:rPr lang="en-US" sz="1400" kern="100" dirty="0">
                <a:solidFill>
                  <a:srgbClr val="FF0000"/>
                </a:solidFill>
                <a:cs typeface="Arial" panose="020B0604020202020204" pitchFamily="34" charset="0"/>
              </a:rPr>
              <a:t>Pair: c3, Preprocessing: gray-gauss-5, Method: Nelder-Mead, Bins: 128</a:t>
            </a:r>
            <a:endParaRPr lang="it-IT" sz="1400" kern="100" noProof="0" dirty="0">
              <a:solidFill>
                <a:srgbClr val="FF0000"/>
              </a:solidFill>
              <a:cs typeface="Arial" panose="020B0604020202020204" pitchFamily="34" charset="0"/>
            </a:endParaRPr>
          </a:p>
        </p:txBody>
      </p:sp>
      <p:sp>
        <p:nvSpPr>
          <p:cNvPr id="3" name="CasellaDiTesto 2">
            <a:extLst>
              <a:ext uri="{FF2B5EF4-FFF2-40B4-BE49-F238E27FC236}">
                <a16:creationId xmlns:a16="http://schemas.microsoft.com/office/drawing/2014/main" id="{E129AE99-2DEC-EE48-DCD3-86433549A641}"/>
              </a:ext>
            </a:extLst>
          </p:cNvPr>
          <p:cNvSpPr txBox="1"/>
          <p:nvPr/>
        </p:nvSpPr>
        <p:spPr>
          <a:xfrm>
            <a:off x="3111095" y="6514200"/>
            <a:ext cx="5828903" cy="315023"/>
          </a:xfrm>
          <a:prstGeom prst="rect">
            <a:avLst/>
          </a:prstGeom>
          <a:noFill/>
        </p:spPr>
        <p:txBody>
          <a:bodyPr wrap="square" rtlCol="0">
            <a:spAutoFit/>
          </a:bodyPr>
          <a:lstStyle/>
          <a:p>
            <a:pPr>
              <a:lnSpc>
                <a:spcPct val="107000"/>
              </a:lnSpc>
              <a:spcAft>
                <a:spcPts val="800"/>
              </a:spcAft>
            </a:pPr>
            <a:r>
              <a:rPr lang="en-US" sz="1400" kern="100" dirty="0">
                <a:solidFill>
                  <a:srgbClr val="FF0000"/>
                </a:solidFill>
                <a:cs typeface="Arial" panose="020B0604020202020204" pitchFamily="34" charset="0"/>
              </a:rPr>
              <a:t>Pair: c3, Preprocessing: pca-gauss-5, Method: Nelder-Mead, Bins: 64</a:t>
            </a:r>
            <a:endParaRPr lang="it-IT" sz="1400" kern="100" noProof="0" dirty="0">
              <a:solidFill>
                <a:srgbClr val="FF0000"/>
              </a:solidFill>
              <a:cs typeface="Arial" panose="020B0604020202020204" pitchFamily="34" charset="0"/>
            </a:endParaRPr>
          </a:p>
        </p:txBody>
      </p:sp>
    </p:spTree>
    <p:extLst>
      <p:ext uri="{BB962C8B-B14F-4D97-AF65-F5344CB8AC3E}">
        <p14:creationId xmlns:p14="http://schemas.microsoft.com/office/powerpoint/2010/main" val="2928617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D6DAC-CFA6-9947-540D-33271D432DFF}"/>
            </a:ext>
          </a:extLst>
        </p:cNvPr>
        <p:cNvGrpSpPr/>
        <p:nvPr/>
      </p:nvGrpSpPr>
      <p:grpSpPr>
        <a:xfrm>
          <a:off x="0" y="0"/>
          <a:ext cx="0" cy="0"/>
          <a:chOff x="0" y="0"/>
          <a:chExt cx="0" cy="0"/>
        </a:xfrm>
      </p:grpSpPr>
      <p:pic>
        <p:nvPicPr>
          <p:cNvPr id="16" name="Immagine 15">
            <a:extLst>
              <a:ext uri="{FF2B5EF4-FFF2-40B4-BE49-F238E27FC236}">
                <a16:creationId xmlns:a16="http://schemas.microsoft.com/office/drawing/2014/main" id="{86C63BC8-8030-13A4-A32E-BAC377D220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4189" y="2808877"/>
            <a:ext cx="6238204" cy="3465669"/>
          </a:xfrm>
          <a:prstGeom prst="rect">
            <a:avLst/>
          </a:prstGeom>
        </p:spPr>
      </p:pic>
      <p:pic>
        <p:nvPicPr>
          <p:cNvPr id="14" name="Immagine 13">
            <a:extLst>
              <a:ext uri="{FF2B5EF4-FFF2-40B4-BE49-F238E27FC236}">
                <a16:creationId xmlns:a16="http://schemas.microsoft.com/office/drawing/2014/main" id="{DFB9E57E-9282-5596-01F4-FDD0977CC9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60" y="1104935"/>
            <a:ext cx="6238204" cy="3465669"/>
          </a:xfrm>
          <a:prstGeom prst="rect">
            <a:avLst/>
          </a:prstGeom>
        </p:spPr>
      </p:pic>
      <p:sp>
        <p:nvSpPr>
          <p:cNvPr id="7" name="TextBox 2">
            <a:extLst>
              <a:ext uri="{FF2B5EF4-FFF2-40B4-BE49-F238E27FC236}">
                <a16:creationId xmlns:a16="http://schemas.microsoft.com/office/drawing/2014/main" id="{7C7D3F90-4D9A-93D0-8F64-582891BCBE10}"/>
              </a:ext>
            </a:extLst>
          </p:cNvPr>
          <p:cNvSpPr txBox="1"/>
          <p:nvPr/>
        </p:nvSpPr>
        <p:spPr>
          <a:xfrm>
            <a:off x="389370" y="247558"/>
            <a:ext cx="5799674"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a:t>MI trend</a:t>
            </a:r>
            <a:endParaRPr lang="it-IT" sz="4067" noProof="0" dirty="0"/>
          </a:p>
        </p:txBody>
      </p:sp>
      <p:sp>
        <p:nvSpPr>
          <p:cNvPr id="12" name="CasellaDiTesto 11">
            <a:extLst>
              <a:ext uri="{FF2B5EF4-FFF2-40B4-BE49-F238E27FC236}">
                <a16:creationId xmlns:a16="http://schemas.microsoft.com/office/drawing/2014/main" id="{09121E68-CC37-C063-0E0E-CAC37CE8EE3E}"/>
              </a:ext>
            </a:extLst>
          </p:cNvPr>
          <p:cNvSpPr txBox="1"/>
          <p:nvPr/>
        </p:nvSpPr>
        <p:spPr>
          <a:xfrm>
            <a:off x="853912" y="4413911"/>
            <a:ext cx="4870589" cy="545534"/>
          </a:xfrm>
          <a:prstGeom prst="rect">
            <a:avLst/>
          </a:prstGeom>
          <a:noFill/>
        </p:spPr>
        <p:txBody>
          <a:bodyPr wrap="square" rtlCol="0">
            <a:spAutoFit/>
          </a:bodyPr>
          <a:lstStyle/>
          <a:p>
            <a:pPr algn="ctr">
              <a:lnSpc>
                <a:spcPct val="107000"/>
              </a:lnSpc>
              <a:spcAft>
                <a:spcPts val="800"/>
              </a:spcAft>
            </a:pPr>
            <a:r>
              <a:rPr lang="en-US" sz="1400" kern="100">
                <a:cs typeface="Arial" panose="020B0604020202020204" pitchFamily="34" charset="0"/>
              </a:rPr>
              <a:t>Trend of the E for the c3 pair of the val set, Preprocessing: pca-gauss-5, Method: Nelder-Mead, Bins: 64</a:t>
            </a:r>
            <a:endParaRPr lang="it-IT" sz="1400" kern="100" dirty="0">
              <a:cs typeface="Arial" panose="020B0604020202020204" pitchFamily="34" charset="0"/>
            </a:endParaRPr>
          </a:p>
        </p:txBody>
      </p:sp>
      <p:sp>
        <p:nvSpPr>
          <p:cNvPr id="13" name="CasellaDiTesto 12">
            <a:extLst>
              <a:ext uri="{FF2B5EF4-FFF2-40B4-BE49-F238E27FC236}">
                <a16:creationId xmlns:a16="http://schemas.microsoft.com/office/drawing/2014/main" id="{EC30F8D0-F0C8-69F9-A17A-85BAC1A4FA9D}"/>
              </a:ext>
            </a:extLst>
          </p:cNvPr>
          <p:cNvSpPr txBox="1"/>
          <p:nvPr/>
        </p:nvSpPr>
        <p:spPr>
          <a:xfrm>
            <a:off x="6774096" y="6119493"/>
            <a:ext cx="4958389" cy="545534"/>
          </a:xfrm>
          <a:prstGeom prst="rect">
            <a:avLst/>
          </a:prstGeom>
          <a:noFill/>
        </p:spPr>
        <p:txBody>
          <a:bodyPr wrap="square" rtlCol="0">
            <a:spAutoFit/>
          </a:bodyPr>
          <a:lstStyle/>
          <a:p>
            <a:pPr algn="ctr">
              <a:lnSpc>
                <a:spcPct val="107000"/>
              </a:lnSpc>
              <a:spcAft>
                <a:spcPts val="800"/>
              </a:spcAft>
            </a:pPr>
            <a:r>
              <a:rPr lang="en-US" sz="1400" kern="100">
                <a:cs typeface="Arial" panose="020B0604020202020204" pitchFamily="34" charset="0"/>
              </a:rPr>
              <a:t>Trend of the E for the c6 pair of the val set, Preprocessing: pca-gauss-5, Method: Nelder-Mead, Bins: 64</a:t>
            </a:r>
            <a:endParaRPr lang="it-IT" sz="1400" kern="100" dirty="0">
              <a:cs typeface="Arial" panose="020B0604020202020204" pitchFamily="34" charset="0"/>
            </a:endParaRPr>
          </a:p>
        </p:txBody>
      </p:sp>
    </p:spTree>
    <p:extLst>
      <p:ext uri="{BB962C8B-B14F-4D97-AF65-F5344CB8AC3E}">
        <p14:creationId xmlns:p14="http://schemas.microsoft.com/office/powerpoint/2010/main" val="2738811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EDF2-8544-90C5-FB46-E69D3F95E006}"/>
            </a:ext>
          </a:extLst>
        </p:cNvPr>
        <p:cNvGrpSpPr/>
        <p:nvPr/>
      </p:nvGrpSpPr>
      <p:grpSpPr>
        <a:xfrm>
          <a:off x="0" y="0"/>
          <a:ext cx="0" cy="0"/>
          <a:chOff x="0" y="0"/>
          <a:chExt cx="0" cy="0"/>
        </a:xfrm>
      </p:grpSpPr>
      <p:pic>
        <p:nvPicPr>
          <p:cNvPr id="19" name="Immagine 18">
            <a:extLst>
              <a:ext uri="{FF2B5EF4-FFF2-40B4-BE49-F238E27FC236}">
                <a16:creationId xmlns:a16="http://schemas.microsoft.com/office/drawing/2014/main" id="{577E04C7-B96B-5235-5046-E8876F4634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3626" y="607446"/>
            <a:ext cx="5753266" cy="2876633"/>
          </a:xfrm>
          <a:prstGeom prst="rect">
            <a:avLst/>
          </a:prstGeom>
        </p:spPr>
      </p:pic>
      <p:pic>
        <p:nvPicPr>
          <p:cNvPr id="16" name="Immagine 15">
            <a:extLst>
              <a:ext uri="{FF2B5EF4-FFF2-40B4-BE49-F238E27FC236}">
                <a16:creationId xmlns:a16="http://schemas.microsoft.com/office/drawing/2014/main" id="{23F62E73-7E75-2CB7-CE34-459E7B4666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4824" y="3781909"/>
            <a:ext cx="5753266" cy="2876633"/>
          </a:xfrm>
          <a:prstGeom prst="rect">
            <a:avLst/>
          </a:prstGeom>
        </p:spPr>
      </p:pic>
      <p:sp>
        <p:nvSpPr>
          <p:cNvPr id="7" name="TextBox 2">
            <a:extLst>
              <a:ext uri="{FF2B5EF4-FFF2-40B4-BE49-F238E27FC236}">
                <a16:creationId xmlns:a16="http://schemas.microsoft.com/office/drawing/2014/main" id="{DA5C0B4D-2FD5-0439-3EFF-1F9E4E926AC0}"/>
              </a:ext>
            </a:extLst>
          </p:cNvPr>
          <p:cNvSpPr txBox="1"/>
          <p:nvPr/>
        </p:nvSpPr>
        <p:spPr>
          <a:xfrm>
            <a:off x="251718" y="304513"/>
            <a:ext cx="7053649"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en-US" sz="4067"/>
              <a:t>Performance on the test set</a:t>
            </a:r>
            <a:endParaRPr lang="it-IT" sz="4067" noProof="0" dirty="0"/>
          </a:p>
        </p:txBody>
      </p:sp>
      <p:sp>
        <p:nvSpPr>
          <p:cNvPr id="3" name="CasellaDiTesto 2">
            <a:extLst>
              <a:ext uri="{FF2B5EF4-FFF2-40B4-BE49-F238E27FC236}">
                <a16:creationId xmlns:a16="http://schemas.microsoft.com/office/drawing/2014/main" id="{D8C631B5-34A6-F8E5-9CEB-6A4208826A68}"/>
              </a:ext>
            </a:extLst>
          </p:cNvPr>
          <p:cNvSpPr txBox="1"/>
          <p:nvPr/>
        </p:nvSpPr>
        <p:spPr>
          <a:xfrm>
            <a:off x="2274444" y="4969743"/>
            <a:ext cx="1722035" cy="707373"/>
          </a:xfrm>
          <a:prstGeom prst="rect">
            <a:avLst/>
          </a:prstGeom>
          <a:noFill/>
        </p:spPr>
        <p:txBody>
          <a:bodyPr wrap="square" rtlCol="0">
            <a:spAutoFit/>
          </a:bodyPr>
          <a:lstStyle/>
          <a:p>
            <a:pPr>
              <a:lnSpc>
                <a:spcPct val="107000"/>
              </a:lnSpc>
              <a:spcAft>
                <a:spcPts val="800"/>
              </a:spcAft>
            </a:pPr>
            <a:r>
              <a:rPr lang="it-IT" sz="1900" kern="100">
                <a:cs typeface="Arial" panose="020B0604020202020204" pitchFamily="34" charset="0"/>
              </a:rPr>
              <a:t>Average results</a:t>
            </a:r>
            <a:endParaRPr lang="it-IT" sz="1900" kern="100" noProof="0" dirty="0">
              <a:cs typeface="Arial" panose="020B0604020202020204" pitchFamily="34" charset="0"/>
            </a:endParaRPr>
          </a:p>
        </p:txBody>
      </p:sp>
      <p:graphicFrame>
        <p:nvGraphicFramePr>
          <p:cNvPr id="4" name="Tabella 3">
            <a:extLst>
              <a:ext uri="{FF2B5EF4-FFF2-40B4-BE49-F238E27FC236}">
                <a16:creationId xmlns:a16="http://schemas.microsoft.com/office/drawing/2014/main" id="{C857DB1E-458A-FA12-E802-3139E98FB12B}"/>
              </a:ext>
            </a:extLst>
          </p:cNvPr>
          <p:cNvGraphicFramePr>
            <a:graphicFrameLocks noGrp="1"/>
          </p:cNvGraphicFramePr>
          <p:nvPr>
            <p:extLst>
              <p:ext uri="{D42A27DB-BD31-4B8C-83A1-F6EECF244321}">
                <p14:modId xmlns:p14="http://schemas.microsoft.com/office/powerpoint/2010/main" val="3673393047"/>
              </p:ext>
            </p:extLst>
          </p:nvPr>
        </p:nvGraphicFramePr>
        <p:xfrm>
          <a:off x="57601" y="1611933"/>
          <a:ext cx="6381133" cy="3051966"/>
        </p:xfrm>
        <a:graphic>
          <a:graphicData uri="http://schemas.openxmlformats.org/drawingml/2006/table">
            <a:tbl>
              <a:tblPr firstRow="1" bandRow="1">
                <a:tableStyleId>{5C22544A-7EE6-4342-B048-85BDC9FD1C3A}</a:tableStyleId>
              </a:tblPr>
              <a:tblGrid>
                <a:gridCol w="1012413">
                  <a:extLst>
                    <a:ext uri="{9D8B030D-6E8A-4147-A177-3AD203B41FA5}">
                      <a16:colId xmlns:a16="http://schemas.microsoft.com/office/drawing/2014/main" val="87444673"/>
                    </a:ext>
                  </a:extLst>
                </a:gridCol>
                <a:gridCol w="762000">
                  <a:extLst>
                    <a:ext uri="{9D8B030D-6E8A-4147-A177-3AD203B41FA5}">
                      <a16:colId xmlns:a16="http://schemas.microsoft.com/office/drawing/2014/main" val="2283952525"/>
                    </a:ext>
                  </a:extLst>
                </a:gridCol>
                <a:gridCol w="685800">
                  <a:extLst>
                    <a:ext uri="{9D8B030D-6E8A-4147-A177-3AD203B41FA5}">
                      <a16:colId xmlns:a16="http://schemas.microsoft.com/office/drawing/2014/main" val="2728922838"/>
                    </a:ext>
                  </a:extLst>
                </a:gridCol>
                <a:gridCol w="800100">
                  <a:extLst>
                    <a:ext uri="{9D8B030D-6E8A-4147-A177-3AD203B41FA5}">
                      <a16:colId xmlns:a16="http://schemas.microsoft.com/office/drawing/2014/main" val="2239828005"/>
                    </a:ext>
                  </a:extLst>
                </a:gridCol>
                <a:gridCol w="685800">
                  <a:extLst>
                    <a:ext uri="{9D8B030D-6E8A-4147-A177-3AD203B41FA5}">
                      <a16:colId xmlns:a16="http://schemas.microsoft.com/office/drawing/2014/main" val="4230650793"/>
                    </a:ext>
                  </a:extLst>
                </a:gridCol>
                <a:gridCol w="815340">
                  <a:extLst>
                    <a:ext uri="{9D8B030D-6E8A-4147-A177-3AD203B41FA5}">
                      <a16:colId xmlns:a16="http://schemas.microsoft.com/office/drawing/2014/main" val="180656240"/>
                    </a:ext>
                  </a:extLst>
                </a:gridCol>
                <a:gridCol w="811606">
                  <a:extLst>
                    <a:ext uri="{9D8B030D-6E8A-4147-A177-3AD203B41FA5}">
                      <a16:colId xmlns:a16="http://schemas.microsoft.com/office/drawing/2014/main" val="1057302898"/>
                    </a:ext>
                  </a:extLst>
                </a:gridCol>
                <a:gridCol w="808074">
                  <a:extLst>
                    <a:ext uri="{9D8B030D-6E8A-4147-A177-3AD203B41FA5}">
                      <a16:colId xmlns:a16="http://schemas.microsoft.com/office/drawing/2014/main" val="3924260202"/>
                    </a:ext>
                  </a:extLst>
                </a:gridCol>
              </a:tblGrid>
              <a:tr h="343990">
                <a:tc>
                  <a:txBody>
                    <a:bodyPr/>
                    <a:lstStyle/>
                    <a:p>
                      <a:pPr algn="ctr"/>
                      <a:r>
                        <a:rPr lang="it-IT" sz="1400" dirty="0"/>
                        <a:t>immagine</a:t>
                      </a:r>
                    </a:p>
                  </a:txBody>
                  <a:tcPr/>
                </a:tc>
                <a:tc>
                  <a:txBody>
                    <a:bodyPr/>
                    <a:lstStyle/>
                    <a:p>
                      <a:pPr algn="ctr"/>
                      <a:r>
                        <a:rPr lang="it-IT" sz="1400" dirty="0"/>
                        <a:t>coppia</a:t>
                      </a:r>
                    </a:p>
                  </a:txBody>
                  <a:tcPr/>
                </a:tc>
                <a:tc>
                  <a:txBody>
                    <a:bodyPr/>
                    <a:lstStyle/>
                    <a:p>
                      <a:pPr algn="ctr"/>
                      <a:r>
                        <a:rPr lang="it-IT" sz="1400" dirty="0"/>
                        <a:t>tx</a:t>
                      </a:r>
                    </a:p>
                  </a:txBody>
                  <a:tcPr/>
                </a:tc>
                <a:tc>
                  <a:txBody>
                    <a:bodyPr/>
                    <a:lstStyle/>
                    <a:p>
                      <a:pPr algn="ctr"/>
                      <a:r>
                        <a:rPr lang="it-IT" sz="1400" dirty="0"/>
                        <a:t>residuo</a:t>
                      </a:r>
                    </a:p>
                  </a:txBody>
                  <a:tcPr/>
                </a:tc>
                <a:tc>
                  <a:txBody>
                    <a:bodyPr/>
                    <a:lstStyle/>
                    <a:p>
                      <a:pPr algn="ctr"/>
                      <a:r>
                        <a:rPr lang="it-IT" sz="1400" dirty="0"/>
                        <a:t>ty</a:t>
                      </a:r>
                    </a:p>
                  </a:txBody>
                  <a:tcPr/>
                </a:tc>
                <a:tc>
                  <a:txBody>
                    <a:bodyPr/>
                    <a:lstStyle/>
                    <a:p>
                      <a:pPr algn="ctr"/>
                      <a:r>
                        <a:rPr lang="it-IT" sz="1400" dirty="0"/>
                        <a:t>residuo</a:t>
                      </a:r>
                    </a:p>
                  </a:txBody>
                  <a:tcPr/>
                </a:tc>
                <a:tc>
                  <a:txBody>
                    <a:bodyPr/>
                    <a:lstStyle/>
                    <a:p>
                      <a:pPr algn="ctr"/>
                      <a:r>
                        <a:rPr lang="it-IT" sz="1400" dirty="0"/>
                        <a:t>theta</a:t>
                      </a:r>
                    </a:p>
                  </a:txBody>
                  <a:tcPr/>
                </a:tc>
                <a:tc>
                  <a:txBody>
                    <a:bodyPr/>
                    <a:lstStyle/>
                    <a:p>
                      <a:pPr algn="ctr"/>
                      <a:r>
                        <a:rPr lang="it-IT" sz="1400" dirty="0"/>
                        <a:t>residuo</a:t>
                      </a:r>
                    </a:p>
                  </a:txBody>
                  <a:tcPr/>
                </a:tc>
                <a:extLst>
                  <a:ext uri="{0D108BD9-81ED-4DB2-BD59-A6C34878D82A}">
                    <a16:rowId xmlns:a16="http://schemas.microsoft.com/office/drawing/2014/main" val="2492567403"/>
                  </a:ext>
                </a:extLst>
              </a:tr>
              <a:tr h="338497">
                <a:tc>
                  <a:txBody>
                    <a:bodyPr/>
                    <a:lstStyle/>
                    <a:p>
                      <a:pPr algn="ctr">
                        <a:buNone/>
                      </a:pPr>
                      <a:r>
                        <a:rPr lang="it-IT" sz="1400" i="1" dirty="0">
                          <a:solidFill>
                            <a:schemeClr val="tx1"/>
                          </a:solidFill>
                          <a:effectLst/>
                          <a:latin typeface="+mn-lt"/>
                        </a:rPr>
                        <a:t>zh3_01_03</a:t>
                      </a:r>
                      <a:endParaRPr lang="it-IT" sz="1400" dirty="0">
                        <a:solidFill>
                          <a:schemeClr val="tx1"/>
                        </a:solidFill>
                        <a:effectLst/>
                        <a:latin typeface="+mn-lt"/>
                      </a:endParaRPr>
                    </a:p>
                  </a:txBody>
                  <a:tcPr/>
                </a:tc>
                <a:tc>
                  <a:txBody>
                    <a:bodyPr/>
                    <a:lstStyle/>
                    <a:p>
                      <a:pPr algn="ctr"/>
                      <a:r>
                        <a:rPr lang="it-IT" sz="1400" dirty="0">
                          <a:solidFill>
                            <a:schemeClr val="tx1"/>
                          </a:solidFill>
                          <a:latin typeface="+mn-lt"/>
                        </a:rPr>
                        <a:t>c1</a:t>
                      </a:r>
                    </a:p>
                  </a:txBody>
                  <a:tcPr/>
                </a:tc>
                <a:tc>
                  <a:txBody>
                    <a:bodyPr/>
                    <a:lstStyle/>
                    <a:p>
                      <a:pPr algn="ctr"/>
                      <a:r>
                        <a:rPr lang="it-IT" sz="1400" dirty="0"/>
                        <a:t>8.97</a:t>
                      </a:r>
                    </a:p>
                  </a:txBody>
                  <a:tcPr/>
                </a:tc>
                <a:tc>
                  <a:txBody>
                    <a:bodyPr/>
                    <a:lstStyle/>
                    <a:p>
                      <a:pPr algn="ctr"/>
                      <a:r>
                        <a:rPr lang="it-IT" sz="1400" dirty="0"/>
                        <a:t>0.90</a:t>
                      </a:r>
                    </a:p>
                  </a:txBody>
                  <a:tcPr/>
                </a:tc>
                <a:tc>
                  <a:txBody>
                    <a:bodyPr/>
                    <a:lstStyle/>
                    <a:p>
                      <a:pPr algn="ctr"/>
                      <a:r>
                        <a:rPr lang="it-IT" sz="1400" dirty="0"/>
                        <a:t>-15.01</a:t>
                      </a:r>
                    </a:p>
                  </a:txBody>
                  <a:tcPr/>
                </a:tc>
                <a:tc>
                  <a:txBody>
                    <a:bodyPr/>
                    <a:lstStyle/>
                    <a:p>
                      <a:pPr algn="ctr"/>
                      <a:r>
                        <a:rPr lang="it-IT" sz="1400" dirty="0"/>
                        <a:t>0.02</a:t>
                      </a:r>
                    </a:p>
                  </a:txBody>
                  <a:tcPr/>
                </a:tc>
                <a:tc>
                  <a:txBody>
                    <a:bodyPr/>
                    <a:lstStyle/>
                    <a:p>
                      <a:pPr algn="ctr"/>
                      <a:r>
                        <a:rPr lang="it-IT" sz="1400" dirty="0"/>
                        <a:t>0.0645</a:t>
                      </a:r>
                    </a:p>
                  </a:txBody>
                  <a:tcPr/>
                </a:tc>
                <a:tc>
                  <a:txBody>
                    <a:bodyPr/>
                    <a:lstStyle/>
                    <a:p>
                      <a:pPr algn="ctr"/>
                      <a:r>
                        <a:rPr lang="it-IT" sz="1400" dirty="0"/>
                        <a:t>0.0004</a:t>
                      </a:r>
                    </a:p>
                  </a:txBody>
                  <a:tcPr/>
                </a:tc>
                <a:extLst>
                  <a:ext uri="{0D108BD9-81ED-4DB2-BD59-A6C34878D82A}">
                    <a16:rowId xmlns:a16="http://schemas.microsoft.com/office/drawing/2014/main" val="671879042"/>
                  </a:ext>
                </a:extLst>
              </a:tr>
              <a:tr h="338497">
                <a:tc>
                  <a:txBody>
                    <a:bodyPr/>
                    <a:lstStyle/>
                    <a:p>
                      <a:pPr algn="ctr">
                        <a:buNone/>
                      </a:pPr>
                      <a:r>
                        <a:rPr lang="it-IT" sz="1400" i="1" dirty="0">
                          <a:solidFill>
                            <a:schemeClr val="tx1"/>
                          </a:solidFill>
                          <a:effectLst/>
                          <a:latin typeface="+mn-lt"/>
                        </a:rPr>
                        <a:t>zh3_02_01</a:t>
                      </a:r>
                      <a:endParaRPr lang="it-IT" sz="1400" dirty="0">
                        <a:solidFill>
                          <a:schemeClr val="tx1"/>
                        </a:solidFill>
                        <a:effectLst/>
                        <a:latin typeface="+mn-lt"/>
                      </a:endParaRPr>
                    </a:p>
                  </a:txBody>
                  <a:tcPr/>
                </a:tc>
                <a:tc>
                  <a:txBody>
                    <a:bodyPr/>
                    <a:lstStyle/>
                    <a:p>
                      <a:pPr algn="ctr"/>
                      <a:r>
                        <a:rPr lang="it-IT" sz="1400" dirty="0">
                          <a:solidFill>
                            <a:schemeClr val="tx1"/>
                          </a:solidFill>
                          <a:latin typeface="+mn-lt"/>
                        </a:rPr>
                        <a:t>c2</a:t>
                      </a:r>
                    </a:p>
                  </a:txBody>
                  <a:tcPr/>
                </a:tc>
                <a:tc>
                  <a:txBody>
                    <a:bodyPr/>
                    <a:lstStyle/>
                    <a:p>
                      <a:pPr algn="ctr"/>
                      <a:r>
                        <a:rPr lang="it-IT" sz="1400" dirty="0"/>
                        <a:t>16.55</a:t>
                      </a:r>
                    </a:p>
                  </a:txBody>
                  <a:tcPr/>
                </a:tc>
                <a:tc>
                  <a:txBody>
                    <a:bodyPr/>
                    <a:lstStyle/>
                    <a:p>
                      <a:pPr algn="ctr"/>
                      <a:r>
                        <a:rPr lang="it-IT" sz="1400" dirty="0"/>
                        <a:t>-1.15</a:t>
                      </a:r>
                    </a:p>
                  </a:txBody>
                  <a:tcPr/>
                </a:tc>
                <a:tc>
                  <a:txBody>
                    <a:bodyPr/>
                    <a:lstStyle/>
                    <a:p>
                      <a:pPr algn="ctr"/>
                      <a:r>
                        <a:rPr lang="it-IT" sz="1400" dirty="0"/>
                        <a:t>-5.16</a:t>
                      </a:r>
                    </a:p>
                  </a:txBody>
                  <a:tcPr/>
                </a:tc>
                <a:tc>
                  <a:txBody>
                    <a:bodyPr/>
                    <a:lstStyle/>
                    <a:p>
                      <a:pPr algn="ctr"/>
                      <a:r>
                        <a:rPr lang="it-IT" sz="1400" dirty="0"/>
                        <a:t>0.21</a:t>
                      </a:r>
                    </a:p>
                  </a:txBody>
                  <a:tcPr/>
                </a:tc>
                <a:tc>
                  <a:txBody>
                    <a:bodyPr/>
                    <a:lstStyle/>
                    <a:p>
                      <a:pPr algn="ctr"/>
                      <a:r>
                        <a:rPr lang="it-IT" sz="1400" dirty="0"/>
                        <a:t>0.0788</a:t>
                      </a:r>
                    </a:p>
                  </a:txBody>
                  <a:tcPr/>
                </a:tc>
                <a:tc>
                  <a:txBody>
                    <a:bodyPr/>
                    <a:lstStyle/>
                    <a:p>
                      <a:pPr algn="ctr"/>
                      <a:r>
                        <a:rPr lang="it-IT" sz="1400" dirty="0"/>
                        <a:t>-0.0007</a:t>
                      </a:r>
                    </a:p>
                  </a:txBody>
                  <a:tcPr/>
                </a:tc>
                <a:extLst>
                  <a:ext uri="{0D108BD9-81ED-4DB2-BD59-A6C34878D82A}">
                    <a16:rowId xmlns:a16="http://schemas.microsoft.com/office/drawing/2014/main" val="1299882572"/>
                  </a:ext>
                </a:extLst>
              </a:tr>
              <a:tr h="338497">
                <a:tc>
                  <a:txBody>
                    <a:bodyPr/>
                    <a:lstStyle/>
                    <a:p>
                      <a:pPr algn="ctr">
                        <a:buNone/>
                      </a:pPr>
                      <a:r>
                        <a:rPr lang="it-IT" sz="1400" i="1" dirty="0">
                          <a:solidFill>
                            <a:schemeClr val="tx1"/>
                          </a:solidFill>
                          <a:effectLst/>
                          <a:latin typeface="+mn-lt"/>
                        </a:rPr>
                        <a:t>zh3_03_01</a:t>
                      </a:r>
                      <a:endParaRPr lang="it-IT" sz="1400" dirty="0">
                        <a:solidFill>
                          <a:schemeClr val="tx1"/>
                        </a:solidFill>
                        <a:effectLst/>
                        <a:latin typeface="+mn-lt"/>
                      </a:endParaRPr>
                    </a:p>
                  </a:txBody>
                  <a:tcPr/>
                </a:tc>
                <a:tc>
                  <a:txBody>
                    <a:bodyPr/>
                    <a:lstStyle/>
                    <a:p>
                      <a:pPr algn="ctr"/>
                      <a:r>
                        <a:rPr lang="it-IT" sz="1400" dirty="0">
                          <a:solidFill>
                            <a:schemeClr val="tx1"/>
                          </a:solidFill>
                          <a:latin typeface="+mn-lt"/>
                        </a:rPr>
                        <a:t>c3</a:t>
                      </a:r>
                    </a:p>
                  </a:txBody>
                  <a:tcPr/>
                </a:tc>
                <a:tc>
                  <a:txBody>
                    <a:bodyPr/>
                    <a:lstStyle/>
                    <a:p>
                      <a:pPr algn="ctr"/>
                      <a:r>
                        <a:rPr lang="it-IT" sz="1400" dirty="0"/>
                        <a:t>-23.82</a:t>
                      </a:r>
                    </a:p>
                  </a:txBody>
                  <a:tcPr/>
                </a:tc>
                <a:tc>
                  <a:txBody>
                    <a:bodyPr/>
                    <a:lstStyle/>
                    <a:p>
                      <a:pPr algn="ctr"/>
                      <a:r>
                        <a:rPr lang="it-IT" sz="1400" dirty="0"/>
                        <a:t>0.96</a:t>
                      </a:r>
                    </a:p>
                  </a:txBody>
                  <a:tcPr/>
                </a:tc>
                <a:tc>
                  <a:txBody>
                    <a:bodyPr/>
                    <a:lstStyle/>
                    <a:p>
                      <a:pPr algn="ctr"/>
                      <a:r>
                        <a:rPr lang="it-IT" sz="1400" dirty="0"/>
                        <a:t>23.71</a:t>
                      </a:r>
                    </a:p>
                  </a:txBody>
                  <a:tcPr/>
                </a:tc>
                <a:tc>
                  <a:txBody>
                    <a:bodyPr/>
                    <a:lstStyle/>
                    <a:p>
                      <a:pPr algn="ctr"/>
                      <a:r>
                        <a:rPr lang="it-IT" sz="1400" dirty="0"/>
                        <a:t>1.62</a:t>
                      </a:r>
                    </a:p>
                  </a:txBody>
                  <a:tcPr/>
                </a:tc>
                <a:tc>
                  <a:txBody>
                    <a:bodyPr/>
                    <a:lstStyle/>
                    <a:p>
                      <a:pPr algn="ctr"/>
                      <a:r>
                        <a:rPr lang="it-IT" sz="1400" dirty="0"/>
                        <a:t>-0.0915</a:t>
                      </a:r>
                    </a:p>
                  </a:txBody>
                  <a:tcPr/>
                </a:tc>
                <a:tc>
                  <a:txBody>
                    <a:bodyPr/>
                    <a:lstStyle/>
                    <a:p>
                      <a:pPr algn="ctr"/>
                      <a:r>
                        <a:rPr lang="it-IT" sz="1400" dirty="0"/>
                        <a:t>-0.0012</a:t>
                      </a:r>
                    </a:p>
                  </a:txBody>
                  <a:tcPr/>
                </a:tc>
                <a:extLst>
                  <a:ext uri="{0D108BD9-81ED-4DB2-BD59-A6C34878D82A}">
                    <a16:rowId xmlns:a16="http://schemas.microsoft.com/office/drawing/2014/main" val="2094793193"/>
                  </a:ext>
                </a:extLst>
              </a:tr>
              <a:tr h="338497">
                <a:tc>
                  <a:txBody>
                    <a:bodyPr/>
                    <a:lstStyle/>
                    <a:p>
                      <a:pPr algn="ctr">
                        <a:buNone/>
                      </a:pPr>
                      <a:r>
                        <a:rPr lang="it-IT" sz="1400" i="1" dirty="0">
                          <a:solidFill>
                            <a:schemeClr val="tx1"/>
                          </a:solidFill>
                          <a:effectLst/>
                          <a:latin typeface="+mn-lt"/>
                        </a:rPr>
                        <a:t>zh3_03_02</a:t>
                      </a:r>
                      <a:endParaRPr lang="it-IT" sz="1400" dirty="0">
                        <a:solidFill>
                          <a:schemeClr val="tx1"/>
                        </a:solidFill>
                        <a:effectLst/>
                        <a:latin typeface="+mn-lt"/>
                      </a:endParaRPr>
                    </a:p>
                  </a:txBody>
                  <a:tcPr/>
                </a:tc>
                <a:tc>
                  <a:txBody>
                    <a:bodyPr/>
                    <a:lstStyle/>
                    <a:p>
                      <a:pPr algn="ctr"/>
                      <a:r>
                        <a:rPr lang="it-IT" sz="1400" dirty="0">
                          <a:solidFill>
                            <a:schemeClr val="tx1"/>
                          </a:solidFill>
                          <a:latin typeface="+mn-lt"/>
                        </a:rPr>
                        <a:t>c4</a:t>
                      </a:r>
                    </a:p>
                  </a:txBody>
                  <a:tcPr/>
                </a:tc>
                <a:tc>
                  <a:txBody>
                    <a:bodyPr/>
                    <a:lstStyle/>
                    <a:p>
                      <a:pPr algn="ctr"/>
                      <a:r>
                        <a:rPr lang="it-IT" sz="1400" dirty="0"/>
                        <a:t>-27.13</a:t>
                      </a:r>
                    </a:p>
                  </a:txBody>
                  <a:tcPr/>
                </a:tc>
                <a:tc>
                  <a:txBody>
                    <a:bodyPr/>
                    <a:lstStyle/>
                    <a:p>
                      <a:pPr algn="ctr"/>
                      <a:r>
                        <a:rPr lang="it-IT" sz="1400" dirty="0"/>
                        <a:t>0.51</a:t>
                      </a:r>
                    </a:p>
                  </a:txBody>
                  <a:tcPr/>
                </a:tc>
                <a:tc>
                  <a:txBody>
                    <a:bodyPr/>
                    <a:lstStyle/>
                    <a:p>
                      <a:pPr algn="ctr"/>
                      <a:r>
                        <a:rPr lang="it-IT" sz="1400" dirty="0"/>
                        <a:t>27.29</a:t>
                      </a:r>
                    </a:p>
                  </a:txBody>
                  <a:tcPr/>
                </a:tc>
                <a:tc>
                  <a:txBody>
                    <a:bodyPr/>
                    <a:lstStyle/>
                    <a:p>
                      <a:pPr algn="ctr"/>
                      <a:r>
                        <a:rPr lang="it-IT" sz="1400" dirty="0"/>
                        <a:t>1.14</a:t>
                      </a:r>
                    </a:p>
                  </a:txBody>
                  <a:tcPr/>
                </a:tc>
                <a:tc>
                  <a:txBody>
                    <a:bodyPr/>
                    <a:lstStyle/>
                    <a:p>
                      <a:pPr algn="ctr"/>
                      <a:r>
                        <a:rPr lang="it-IT" sz="1400" dirty="0"/>
                        <a:t>-0.1017</a:t>
                      </a:r>
                    </a:p>
                  </a:txBody>
                  <a:tcPr/>
                </a:tc>
                <a:tc>
                  <a:txBody>
                    <a:bodyPr/>
                    <a:lstStyle/>
                    <a:p>
                      <a:pPr algn="ctr"/>
                      <a:r>
                        <a:rPr lang="it-IT" sz="1400" dirty="0"/>
                        <a:t>-0.0017</a:t>
                      </a:r>
                    </a:p>
                  </a:txBody>
                  <a:tcPr/>
                </a:tc>
                <a:extLst>
                  <a:ext uri="{0D108BD9-81ED-4DB2-BD59-A6C34878D82A}">
                    <a16:rowId xmlns:a16="http://schemas.microsoft.com/office/drawing/2014/main" val="3749290726"/>
                  </a:ext>
                </a:extLst>
              </a:tr>
              <a:tr h="338497">
                <a:tc>
                  <a:txBody>
                    <a:bodyPr/>
                    <a:lstStyle/>
                    <a:p>
                      <a:pPr algn="ctr">
                        <a:buNone/>
                      </a:pPr>
                      <a:r>
                        <a:rPr lang="it-IT" sz="1400" i="1" dirty="0">
                          <a:solidFill>
                            <a:schemeClr val="tx1"/>
                          </a:solidFill>
                          <a:effectLst/>
                          <a:latin typeface="+mn-lt"/>
                        </a:rPr>
                        <a:t>zh1_01_03</a:t>
                      </a:r>
                      <a:endParaRPr lang="it-IT" sz="1400" dirty="0">
                        <a:solidFill>
                          <a:schemeClr val="tx1"/>
                        </a:solidFill>
                        <a:effectLst/>
                        <a:latin typeface="+mn-lt"/>
                      </a:endParaRPr>
                    </a:p>
                  </a:txBody>
                  <a:tcPr/>
                </a:tc>
                <a:tc>
                  <a:txBody>
                    <a:bodyPr/>
                    <a:lstStyle/>
                    <a:p>
                      <a:pPr algn="ctr"/>
                      <a:r>
                        <a:rPr lang="it-IT" sz="1400" dirty="0">
                          <a:solidFill>
                            <a:schemeClr val="tx1"/>
                          </a:solidFill>
                          <a:latin typeface="+mn-lt"/>
                        </a:rPr>
                        <a:t>c5</a:t>
                      </a:r>
                    </a:p>
                  </a:txBody>
                  <a:tcPr/>
                </a:tc>
                <a:tc>
                  <a:txBody>
                    <a:bodyPr/>
                    <a:lstStyle/>
                    <a:p>
                      <a:pPr algn="ctr"/>
                      <a:r>
                        <a:rPr lang="it-IT" sz="1400" dirty="0"/>
                        <a:t>-14.80</a:t>
                      </a:r>
                    </a:p>
                  </a:txBody>
                  <a:tcPr/>
                </a:tc>
                <a:tc>
                  <a:txBody>
                    <a:bodyPr/>
                    <a:lstStyle/>
                    <a:p>
                      <a:pPr algn="ctr"/>
                      <a:r>
                        <a:rPr lang="it-IT" sz="1400" dirty="0"/>
                        <a:t>37.89</a:t>
                      </a:r>
                    </a:p>
                  </a:txBody>
                  <a:tcPr/>
                </a:tc>
                <a:tc>
                  <a:txBody>
                    <a:bodyPr/>
                    <a:lstStyle/>
                    <a:p>
                      <a:pPr algn="ctr"/>
                      <a:r>
                        <a:rPr lang="it-IT" sz="1400" dirty="0"/>
                        <a:t>23.06</a:t>
                      </a:r>
                    </a:p>
                  </a:txBody>
                  <a:tcPr/>
                </a:tc>
                <a:tc>
                  <a:txBody>
                    <a:bodyPr/>
                    <a:lstStyle/>
                    <a:p>
                      <a:pPr algn="ctr"/>
                      <a:r>
                        <a:rPr lang="it-IT" sz="1400" dirty="0"/>
                        <a:t>-34.57</a:t>
                      </a:r>
                    </a:p>
                  </a:txBody>
                  <a:tcPr/>
                </a:tc>
                <a:tc>
                  <a:txBody>
                    <a:bodyPr/>
                    <a:lstStyle/>
                    <a:p>
                      <a:pPr algn="ctr"/>
                      <a:r>
                        <a:rPr lang="it-IT" sz="1400" dirty="0"/>
                        <a:t>-0.1426</a:t>
                      </a:r>
                    </a:p>
                  </a:txBody>
                  <a:tcPr/>
                </a:tc>
                <a:tc>
                  <a:txBody>
                    <a:bodyPr/>
                    <a:lstStyle/>
                    <a:p>
                      <a:pPr algn="ctr"/>
                      <a:r>
                        <a:rPr lang="it-IT" sz="1400" dirty="0"/>
                        <a:t>0.1084</a:t>
                      </a:r>
                    </a:p>
                  </a:txBody>
                  <a:tcPr/>
                </a:tc>
                <a:extLst>
                  <a:ext uri="{0D108BD9-81ED-4DB2-BD59-A6C34878D82A}">
                    <a16:rowId xmlns:a16="http://schemas.microsoft.com/office/drawing/2014/main" val="4224594177"/>
                  </a:ext>
                </a:extLst>
              </a:tr>
              <a:tr h="3384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dirty="0">
                          <a:solidFill>
                            <a:schemeClr val="tx1"/>
                          </a:solidFill>
                          <a:effectLst/>
                          <a:latin typeface="+mn-lt"/>
                        </a:rPr>
                        <a:t>zh1_01_04</a:t>
                      </a:r>
                      <a:endParaRPr lang="it-IT" sz="1400" dirty="0">
                        <a:solidFill>
                          <a:schemeClr val="tx1"/>
                        </a:solidFill>
                        <a:effectLst/>
                        <a:latin typeface="+mn-lt"/>
                      </a:endParaRPr>
                    </a:p>
                  </a:txBody>
                  <a:tcPr/>
                </a:tc>
                <a:tc>
                  <a:txBody>
                    <a:bodyPr/>
                    <a:lstStyle/>
                    <a:p>
                      <a:pPr algn="ctr"/>
                      <a:r>
                        <a:rPr lang="it-IT" sz="1400" dirty="0">
                          <a:solidFill>
                            <a:schemeClr val="tx1"/>
                          </a:solidFill>
                          <a:latin typeface="+mn-lt"/>
                        </a:rPr>
                        <a:t>c6</a:t>
                      </a:r>
                    </a:p>
                  </a:txBody>
                  <a:tcPr/>
                </a:tc>
                <a:tc>
                  <a:txBody>
                    <a:bodyPr/>
                    <a:lstStyle/>
                    <a:p>
                      <a:pPr algn="ctr"/>
                      <a:r>
                        <a:rPr lang="it-IT" sz="1400" dirty="0"/>
                        <a:t>-20.99</a:t>
                      </a:r>
                    </a:p>
                  </a:txBody>
                  <a:tcPr/>
                </a:tc>
                <a:tc>
                  <a:txBody>
                    <a:bodyPr/>
                    <a:lstStyle/>
                    <a:p>
                      <a:pPr algn="ctr"/>
                      <a:r>
                        <a:rPr lang="it-IT" sz="1400" dirty="0"/>
                        <a:t>-4.90</a:t>
                      </a:r>
                    </a:p>
                  </a:txBody>
                  <a:tcPr/>
                </a:tc>
                <a:tc>
                  <a:txBody>
                    <a:bodyPr/>
                    <a:lstStyle/>
                    <a:p>
                      <a:pPr algn="ctr"/>
                      <a:r>
                        <a:rPr lang="it-IT" sz="1400" dirty="0"/>
                        <a:t>19.40</a:t>
                      </a:r>
                    </a:p>
                  </a:txBody>
                  <a:tcPr/>
                </a:tc>
                <a:tc>
                  <a:txBody>
                    <a:bodyPr/>
                    <a:lstStyle/>
                    <a:p>
                      <a:pPr algn="ctr"/>
                      <a:r>
                        <a:rPr lang="it-IT" sz="1400" dirty="0"/>
                        <a:t>-3.46</a:t>
                      </a:r>
                    </a:p>
                  </a:txBody>
                  <a:tcPr/>
                </a:tc>
                <a:tc>
                  <a:txBody>
                    <a:bodyPr/>
                    <a:lstStyle/>
                    <a:p>
                      <a:pPr algn="ctr"/>
                      <a:r>
                        <a:rPr lang="it-IT" sz="1400" dirty="0"/>
                        <a:t>-0.2450</a:t>
                      </a:r>
                    </a:p>
                  </a:txBody>
                  <a:tcPr/>
                </a:tc>
                <a:tc>
                  <a:txBody>
                    <a:bodyPr/>
                    <a:lstStyle/>
                    <a:p>
                      <a:pPr algn="ctr"/>
                      <a:r>
                        <a:rPr lang="it-IT" sz="1400" dirty="0"/>
                        <a:t>-0.0008</a:t>
                      </a:r>
                    </a:p>
                  </a:txBody>
                  <a:tcPr/>
                </a:tc>
                <a:extLst>
                  <a:ext uri="{0D108BD9-81ED-4DB2-BD59-A6C34878D82A}">
                    <a16:rowId xmlns:a16="http://schemas.microsoft.com/office/drawing/2014/main" val="1212607636"/>
                  </a:ext>
                </a:extLst>
              </a:tr>
              <a:tr h="3384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dirty="0">
                          <a:solidFill>
                            <a:schemeClr val="tx1"/>
                          </a:solidFill>
                          <a:effectLst/>
                          <a:latin typeface="+mn-lt"/>
                        </a:rPr>
                        <a:t>zh1_01_03</a:t>
                      </a:r>
                      <a:endParaRPr lang="it-IT" sz="1400" dirty="0">
                        <a:solidFill>
                          <a:schemeClr val="tx1"/>
                        </a:solidFill>
                        <a:effectLst/>
                        <a:latin typeface="+mn-lt"/>
                      </a:endParaRPr>
                    </a:p>
                  </a:txBody>
                  <a:tcPr/>
                </a:tc>
                <a:tc>
                  <a:txBody>
                    <a:bodyPr/>
                    <a:lstStyle/>
                    <a:p>
                      <a:pPr algn="ctr"/>
                      <a:r>
                        <a:rPr lang="it-IT" sz="1400" dirty="0">
                          <a:solidFill>
                            <a:schemeClr val="tx1"/>
                          </a:solidFill>
                          <a:latin typeface="+mn-lt"/>
                        </a:rPr>
                        <a:t>c7</a:t>
                      </a:r>
                    </a:p>
                  </a:txBody>
                  <a:tcPr/>
                </a:tc>
                <a:tc>
                  <a:txBody>
                    <a:bodyPr/>
                    <a:lstStyle/>
                    <a:p>
                      <a:pPr algn="ctr"/>
                      <a:r>
                        <a:rPr lang="it-IT" sz="1400" dirty="0"/>
                        <a:t>-3.70</a:t>
                      </a:r>
                    </a:p>
                  </a:txBody>
                  <a:tcPr/>
                </a:tc>
                <a:tc>
                  <a:txBody>
                    <a:bodyPr/>
                    <a:lstStyle/>
                    <a:p>
                      <a:pPr algn="ctr"/>
                      <a:r>
                        <a:rPr lang="it-IT" sz="1400" dirty="0"/>
                        <a:t>17.17</a:t>
                      </a:r>
                    </a:p>
                  </a:txBody>
                  <a:tcPr/>
                </a:tc>
                <a:tc>
                  <a:txBody>
                    <a:bodyPr/>
                    <a:lstStyle/>
                    <a:p>
                      <a:pPr algn="ctr"/>
                      <a:r>
                        <a:rPr lang="it-IT" sz="1400" dirty="0"/>
                        <a:t>8.21</a:t>
                      </a:r>
                    </a:p>
                  </a:txBody>
                  <a:tcPr/>
                </a:tc>
                <a:tc>
                  <a:txBody>
                    <a:bodyPr/>
                    <a:lstStyle/>
                    <a:p>
                      <a:pPr algn="ctr"/>
                      <a:r>
                        <a:rPr lang="it-IT" sz="1400" dirty="0"/>
                        <a:t>-25.23</a:t>
                      </a:r>
                    </a:p>
                  </a:txBody>
                  <a:tcPr/>
                </a:tc>
                <a:tc>
                  <a:txBody>
                    <a:bodyPr/>
                    <a:lstStyle/>
                    <a:p>
                      <a:pPr algn="ctr"/>
                      <a:r>
                        <a:rPr lang="it-IT" sz="1400" dirty="0"/>
                        <a:t>-0.0154</a:t>
                      </a:r>
                    </a:p>
                  </a:txBody>
                  <a:tcPr/>
                </a:tc>
                <a:tc>
                  <a:txBody>
                    <a:bodyPr/>
                    <a:lstStyle/>
                    <a:p>
                      <a:pPr algn="ctr"/>
                      <a:r>
                        <a:rPr lang="it-IT" sz="1400" dirty="0"/>
                        <a:t>0.3330</a:t>
                      </a:r>
                    </a:p>
                  </a:txBody>
                  <a:tcPr/>
                </a:tc>
                <a:extLst>
                  <a:ext uri="{0D108BD9-81ED-4DB2-BD59-A6C34878D82A}">
                    <a16:rowId xmlns:a16="http://schemas.microsoft.com/office/drawing/2014/main" val="2891610483"/>
                  </a:ext>
                </a:extLst>
              </a:tr>
              <a:tr h="3384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400" i="1" dirty="0">
                          <a:solidFill>
                            <a:schemeClr val="tx1"/>
                          </a:solidFill>
                          <a:effectLst/>
                          <a:latin typeface="+mn-lt"/>
                        </a:rPr>
                        <a:t>zh1_02_01</a:t>
                      </a:r>
                      <a:endParaRPr lang="it-IT" sz="1400" dirty="0">
                        <a:solidFill>
                          <a:schemeClr val="tx1"/>
                        </a:solidFill>
                        <a:effectLst/>
                        <a:latin typeface="+mn-lt"/>
                      </a:endParaRPr>
                    </a:p>
                  </a:txBody>
                  <a:tcPr/>
                </a:tc>
                <a:tc>
                  <a:txBody>
                    <a:bodyPr/>
                    <a:lstStyle/>
                    <a:p>
                      <a:pPr algn="ctr"/>
                      <a:r>
                        <a:rPr lang="it-IT" sz="1400" dirty="0">
                          <a:solidFill>
                            <a:schemeClr val="tx1"/>
                          </a:solidFill>
                          <a:latin typeface="+mn-lt"/>
                        </a:rPr>
                        <a:t>c8</a:t>
                      </a:r>
                    </a:p>
                  </a:txBody>
                  <a:tcPr/>
                </a:tc>
                <a:tc>
                  <a:txBody>
                    <a:bodyPr/>
                    <a:lstStyle/>
                    <a:p>
                      <a:pPr algn="ctr"/>
                      <a:r>
                        <a:rPr lang="it-IT" sz="1400" dirty="0"/>
                        <a:t>8.80</a:t>
                      </a:r>
                    </a:p>
                  </a:txBody>
                  <a:tcPr/>
                </a:tc>
                <a:tc>
                  <a:txBody>
                    <a:bodyPr/>
                    <a:lstStyle/>
                    <a:p>
                      <a:pPr algn="ctr"/>
                      <a:r>
                        <a:rPr lang="it-IT" sz="1400" dirty="0"/>
                        <a:t>22.80</a:t>
                      </a:r>
                    </a:p>
                  </a:txBody>
                  <a:tcPr/>
                </a:tc>
                <a:tc>
                  <a:txBody>
                    <a:bodyPr/>
                    <a:lstStyle/>
                    <a:p>
                      <a:pPr algn="ctr"/>
                      <a:r>
                        <a:rPr lang="it-IT" sz="1400" dirty="0"/>
                        <a:t>1.46</a:t>
                      </a:r>
                    </a:p>
                  </a:txBody>
                  <a:tcPr/>
                </a:tc>
                <a:tc>
                  <a:txBody>
                    <a:bodyPr/>
                    <a:lstStyle/>
                    <a:p>
                      <a:pPr algn="ctr"/>
                      <a:r>
                        <a:rPr lang="it-IT" sz="1400" dirty="0"/>
                        <a:t>-77.23</a:t>
                      </a:r>
                    </a:p>
                  </a:txBody>
                  <a:tcPr/>
                </a:tc>
                <a:tc>
                  <a:txBody>
                    <a:bodyPr/>
                    <a:lstStyle/>
                    <a:p>
                      <a:pPr algn="ctr"/>
                      <a:r>
                        <a:rPr lang="it-IT" sz="1400" dirty="0"/>
                        <a:t>-0.0405</a:t>
                      </a:r>
                    </a:p>
                  </a:txBody>
                  <a:tcPr/>
                </a:tc>
                <a:tc>
                  <a:txBody>
                    <a:bodyPr/>
                    <a:lstStyle/>
                    <a:p>
                      <a:pPr algn="ctr"/>
                      <a:r>
                        <a:rPr lang="it-IT" sz="1400" dirty="0"/>
                        <a:t>0.2782</a:t>
                      </a:r>
                    </a:p>
                  </a:txBody>
                  <a:tcPr/>
                </a:tc>
                <a:extLst>
                  <a:ext uri="{0D108BD9-81ED-4DB2-BD59-A6C34878D82A}">
                    <a16:rowId xmlns:a16="http://schemas.microsoft.com/office/drawing/2014/main" val="4270290623"/>
                  </a:ext>
                </a:extLst>
              </a:tr>
            </a:tbl>
          </a:graphicData>
        </a:graphic>
      </p:graphicFrame>
      <p:graphicFrame>
        <p:nvGraphicFramePr>
          <p:cNvPr id="6" name="Tabella 5">
            <a:extLst>
              <a:ext uri="{FF2B5EF4-FFF2-40B4-BE49-F238E27FC236}">
                <a16:creationId xmlns:a16="http://schemas.microsoft.com/office/drawing/2014/main" id="{F55E6191-DFB1-DA6D-7427-AE655531AD3A}"/>
              </a:ext>
            </a:extLst>
          </p:cNvPr>
          <p:cNvGraphicFramePr>
            <a:graphicFrameLocks noGrp="1"/>
          </p:cNvGraphicFramePr>
          <p:nvPr>
            <p:extLst>
              <p:ext uri="{D42A27DB-BD31-4B8C-83A1-F6EECF244321}">
                <p14:modId xmlns:p14="http://schemas.microsoft.com/office/powerpoint/2010/main" val="1932324324"/>
              </p:ext>
            </p:extLst>
          </p:nvPr>
        </p:nvGraphicFramePr>
        <p:xfrm>
          <a:off x="516097" y="5427996"/>
          <a:ext cx="5472952" cy="670840"/>
        </p:xfrm>
        <a:graphic>
          <a:graphicData uri="http://schemas.openxmlformats.org/drawingml/2006/table">
            <a:tbl>
              <a:tblPr firstRow="1" bandRow="1">
                <a:tableStyleId>{5C22544A-7EE6-4342-B048-85BDC9FD1C3A}</a:tableStyleId>
              </a:tblPr>
              <a:tblGrid>
                <a:gridCol w="931432">
                  <a:extLst>
                    <a:ext uri="{9D8B030D-6E8A-4147-A177-3AD203B41FA5}">
                      <a16:colId xmlns:a16="http://schemas.microsoft.com/office/drawing/2014/main" val="87444673"/>
                    </a:ext>
                  </a:extLst>
                </a:gridCol>
                <a:gridCol w="762000">
                  <a:extLst>
                    <a:ext uri="{9D8B030D-6E8A-4147-A177-3AD203B41FA5}">
                      <a16:colId xmlns:a16="http://schemas.microsoft.com/office/drawing/2014/main" val="2283952525"/>
                    </a:ext>
                  </a:extLst>
                </a:gridCol>
                <a:gridCol w="863600">
                  <a:extLst>
                    <a:ext uri="{9D8B030D-6E8A-4147-A177-3AD203B41FA5}">
                      <a16:colId xmlns:a16="http://schemas.microsoft.com/office/drawing/2014/main" val="2728922838"/>
                    </a:ext>
                  </a:extLst>
                </a:gridCol>
                <a:gridCol w="731520">
                  <a:extLst>
                    <a:ext uri="{9D8B030D-6E8A-4147-A177-3AD203B41FA5}">
                      <a16:colId xmlns:a16="http://schemas.microsoft.com/office/drawing/2014/main" val="4230650793"/>
                    </a:ext>
                  </a:extLst>
                </a:gridCol>
                <a:gridCol w="1137920">
                  <a:extLst>
                    <a:ext uri="{9D8B030D-6E8A-4147-A177-3AD203B41FA5}">
                      <a16:colId xmlns:a16="http://schemas.microsoft.com/office/drawing/2014/main" val="1057302898"/>
                    </a:ext>
                  </a:extLst>
                </a:gridCol>
                <a:gridCol w="1046480">
                  <a:extLst>
                    <a:ext uri="{9D8B030D-6E8A-4147-A177-3AD203B41FA5}">
                      <a16:colId xmlns:a16="http://schemas.microsoft.com/office/drawing/2014/main" val="2841289455"/>
                    </a:ext>
                  </a:extLst>
                </a:gridCol>
              </a:tblGrid>
              <a:tr h="343722">
                <a:tc>
                  <a:txBody>
                    <a:bodyPr/>
                    <a:lstStyle/>
                    <a:p>
                      <a:pPr algn="ctr"/>
                      <a:r>
                        <a:rPr lang="it-IT" sz="1400" dirty="0"/>
                        <a:t>mae_tx</a:t>
                      </a:r>
                    </a:p>
                  </a:txBody>
                  <a:tcPr/>
                </a:tc>
                <a:tc>
                  <a:txBody>
                    <a:bodyPr/>
                    <a:lstStyle/>
                    <a:p>
                      <a:pPr algn="ctr"/>
                      <a:r>
                        <a:rPr lang="it-IT" sz="1400" dirty="0"/>
                        <a:t>std_tx</a:t>
                      </a:r>
                    </a:p>
                  </a:txBody>
                  <a:tcPr/>
                </a:tc>
                <a:tc>
                  <a:txBody>
                    <a:bodyPr/>
                    <a:lstStyle/>
                    <a:p>
                      <a:pPr algn="ctr"/>
                      <a:r>
                        <a:rPr lang="it-IT" sz="1400" dirty="0"/>
                        <a:t>mae_ty</a:t>
                      </a:r>
                    </a:p>
                  </a:txBody>
                  <a:tcPr/>
                </a:tc>
                <a:tc>
                  <a:txBody>
                    <a:bodyPr/>
                    <a:lstStyle/>
                    <a:p>
                      <a:pPr algn="ctr"/>
                      <a:r>
                        <a:rPr lang="it-IT" sz="1400" dirty="0"/>
                        <a:t>std_ty</a:t>
                      </a:r>
                    </a:p>
                  </a:txBody>
                  <a:tcPr/>
                </a:tc>
                <a:tc>
                  <a:txBody>
                    <a:bodyPr/>
                    <a:lstStyle/>
                    <a:p>
                      <a:pPr algn="ctr"/>
                      <a:r>
                        <a:rPr lang="it-IT" sz="1400" dirty="0"/>
                        <a:t>mae_theta</a:t>
                      </a:r>
                    </a:p>
                  </a:txBody>
                  <a:tcPr/>
                </a:tc>
                <a:tc>
                  <a:txBody>
                    <a:bodyPr/>
                    <a:lstStyle/>
                    <a:p>
                      <a:pPr algn="ctr"/>
                      <a:r>
                        <a:rPr lang="it-IT" sz="1400" dirty="0"/>
                        <a:t>std_theta</a:t>
                      </a:r>
                    </a:p>
                  </a:txBody>
                  <a:tcPr/>
                </a:tc>
                <a:extLst>
                  <a:ext uri="{0D108BD9-81ED-4DB2-BD59-A6C34878D82A}">
                    <a16:rowId xmlns:a16="http://schemas.microsoft.com/office/drawing/2014/main" val="2492567403"/>
                  </a:ext>
                </a:extLst>
              </a:tr>
              <a:tr h="327118">
                <a:tc>
                  <a:txBody>
                    <a:bodyPr/>
                    <a:lstStyle/>
                    <a:p>
                      <a:pPr algn="ctr"/>
                      <a:r>
                        <a:rPr lang="it-IT" sz="1400" dirty="0"/>
                        <a:t>10.80</a:t>
                      </a:r>
                    </a:p>
                  </a:txBody>
                  <a:tcPr/>
                </a:tc>
                <a:tc>
                  <a:txBody>
                    <a:bodyPr/>
                    <a:lstStyle/>
                    <a:p>
                      <a:pPr algn="ctr"/>
                      <a:r>
                        <a:rPr lang="it-IT" sz="1400" dirty="0"/>
                        <a:t>13.86</a:t>
                      </a:r>
                    </a:p>
                  </a:txBody>
                  <a:tcPr/>
                </a:tc>
                <a:tc>
                  <a:txBody>
                    <a:bodyPr/>
                    <a:lstStyle/>
                    <a:p>
                      <a:pPr algn="ctr"/>
                      <a:r>
                        <a:rPr lang="it-IT" sz="1400" dirty="0"/>
                        <a:t>17.93</a:t>
                      </a:r>
                    </a:p>
                  </a:txBody>
                  <a:tcPr/>
                </a:tc>
                <a:tc>
                  <a:txBody>
                    <a:bodyPr/>
                    <a:lstStyle/>
                    <a:p>
                      <a:pPr algn="ctr"/>
                      <a:r>
                        <a:rPr lang="it-IT" sz="1400" dirty="0"/>
                        <a:t>27.36</a:t>
                      </a:r>
                    </a:p>
                  </a:txBody>
                  <a:tcPr/>
                </a:tc>
                <a:tc>
                  <a:txBody>
                    <a:bodyPr/>
                    <a:lstStyle/>
                    <a:p>
                      <a:pPr algn="ctr"/>
                      <a:r>
                        <a:rPr lang="it-IT" sz="1400" dirty="0"/>
                        <a:t>0.0905</a:t>
                      </a:r>
                    </a:p>
                  </a:txBody>
                  <a:tcPr/>
                </a:tc>
                <a:tc>
                  <a:txBody>
                    <a:bodyPr/>
                    <a:lstStyle/>
                    <a:p>
                      <a:pPr algn="ctr"/>
                      <a:r>
                        <a:rPr lang="it-IT" sz="1400" dirty="0"/>
                        <a:t>0.1386</a:t>
                      </a:r>
                    </a:p>
                  </a:txBody>
                  <a:tcPr/>
                </a:tc>
                <a:extLst>
                  <a:ext uri="{0D108BD9-81ED-4DB2-BD59-A6C34878D82A}">
                    <a16:rowId xmlns:a16="http://schemas.microsoft.com/office/drawing/2014/main" val="4270290623"/>
                  </a:ext>
                </a:extLst>
              </a:tr>
            </a:tbl>
          </a:graphicData>
        </a:graphic>
      </p:graphicFrame>
      <p:sp>
        <p:nvSpPr>
          <p:cNvPr id="8" name="CasellaDiTesto 7">
            <a:extLst>
              <a:ext uri="{FF2B5EF4-FFF2-40B4-BE49-F238E27FC236}">
                <a16:creationId xmlns:a16="http://schemas.microsoft.com/office/drawing/2014/main" id="{58C93F4C-FC5E-5D18-DC89-5FC98DC09C89}"/>
              </a:ext>
            </a:extLst>
          </p:cNvPr>
          <p:cNvSpPr txBox="1"/>
          <p:nvPr/>
        </p:nvSpPr>
        <p:spPr>
          <a:xfrm>
            <a:off x="-1" y="1099193"/>
            <a:ext cx="7639051" cy="346826"/>
          </a:xfrm>
          <a:prstGeom prst="rect">
            <a:avLst/>
          </a:prstGeom>
          <a:noFill/>
        </p:spPr>
        <p:txBody>
          <a:bodyPr wrap="square" rtlCol="0">
            <a:spAutoFit/>
          </a:bodyPr>
          <a:lstStyle/>
          <a:p>
            <a:pPr>
              <a:lnSpc>
                <a:spcPct val="107000"/>
              </a:lnSpc>
              <a:spcAft>
                <a:spcPts val="800"/>
              </a:spcAft>
            </a:pPr>
            <a:r>
              <a:rPr lang="en-US" sz="1600" kern="100" dirty="0">
                <a:cs typeface="Arial" panose="020B0604020202020204" pitchFamily="34" charset="0"/>
              </a:rPr>
              <a:t>The unit of measurement is pixels for tx and ty, while radians for theta.</a:t>
            </a:r>
            <a:endParaRPr lang="it-IT" sz="1600" kern="100" noProof="0" dirty="0">
              <a:cs typeface="Arial" panose="020B0604020202020204" pitchFamily="34" charset="0"/>
            </a:endParaRPr>
          </a:p>
        </p:txBody>
      </p:sp>
      <p:sp>
        <p:nvSpPr>
          <p:cNvPr id="5" name="AutoShape 20">
            <a:extLst>
              <a:ext uri="{FF2B5EF4-FFF2-40B4-BE49-F238E27FC236}">
                <a16:creationId xmlns:a16="http://schemas.microsoft.com/office/drawing/2014/main" id="{896F7DE4-C7BC-0E97-0E20-A7172ACAB5B7}"/>
              </a:ext>
            </a:extLst>
          </p:cNvPr>
          <p:cNvSpPr/>
          <p:nvPr/>
        </p:nvSpPr>
        <p:spPr>
          <a:xfrm flipV="1">
            <a:off x="6522557" y="1390572"/>
            <a:ext cx="1" cy="4557038"/>
          </a:xfrm>
          <a:prstGeom prst="line">
            <a:avLst/>
          </a:prstGeom>
          <a:ln/>
        </p:spPr>
        <p:style>
          <a:lnRef idx="2">
            <a:schemeClr val="accent1"/>
          </a:lnRef>
          <a:fillRef idx="0">
            <a:schemeClr val="accent1"/>
          </a:fillRef>
          <a:effectRef idx="1">
            <a:schemeClr val="accent1"/>
          </a:effectRef>
          <a:fontRef idx="minor">
            <a:schemeClr val="tx1"/>
          </a:fontRef>
        </p:style>
        <p:txBody>
          <a:bodyPr lIns="45719" rIns="45719"/>
          <a:lstStyle/>
          <a:p>
            <a:pPr>
              <a:lnSpc>
                <a:spcPct val="100000"/>
              </a:lnSpc>
              <a:defRPr sz="1800">
                <a:solidFill>
                  <a:srgbClr val="000000"/>
                </a:solidFill>
                <a:latin typeface="+mn-lt"/>
                <a:ea typeface="+mn-ea"/>
                <a:cs typeface="+mn-cs"/>
                <a:sym typeface="Calibri"/>
              </a:defRPr>
            </a:pPr>
            <a:endParaRPr/>
          </a:p>
        </p:txBody>
      </p:sp>
      <p:sp>
        <p:nvSpPr>
          <p:cNvPr id="13" name="CasellaDiTesto 12">
            <a:extLst>
              <a:ext uri="{FF2B5EF4-FFF2-40B4-BE49-F238E27FC236}">
                <a16:creationId xmlns:a16="http://schemas.microsoft.com/office/drawing/2014/main" id="{658148F9-8B89-4E9D-DA2F-03F087B2763A}"/>
              </a:ext>
            </a:extLst>
          </p:cNvPr>
          <p:cNvSpPr txBox="1"/>
          <p:nvPr/>
        </p:nvSpPr>
        <p:spPr>
          <a:xfrm>
            <a:off x="8047491" y="3332298"/>
            <a:ext cx="2607933" cy="315023"/>
          </a:xfrm>
          <a:prstGeom prst="rect">
            <a:avLst/>
          </a:prstGeom>
          <a:noFill/>
        </p:spPr>
        <p:txBody>
          <a:bodyPr wrap="square" rtlCol="0">
            <a:spAutoFit/>
          </a:bodyPr>
          <a:lstStyle/>
          <a:p>
            <a:pPr>
              <a:lnSpc>
                <a:spcPct val="107000"/>
              </a:lnSpc>
              <a:spcAft>
                <a:spcPts val="800"/>
              </a:spcAft>
            </a:pPr>
            <a:r>
              <a:rPr lang="it-IT" sz="1400" kern="100">
                <a:cs typeface="Arial" panose="020B0604020202020204" pitchFamily="34" charset="0"/>
              </a:rPr>
              <a:t>Best result: pair c1</a:t>
            </a:r>
            <a:endParaRPr lang="it-IT" sz="1400" kern="100" noProof="0" dirty="0">
              <a:cs typeface="Arial" panose="020B0604020202020204" pitchFamily="34" charset="0"/>
            </a:endParaRPr>
          </a:p>
        </p:txBody>
      </p:sp>
      <p:sp>
        <p:nvSpPr>
          <p:cNvPr id="18" name="CasellaDiTesto 17">
            <a:extLst>
              <a:ext uri="{FF2B5EF4-FFF2-40B4-BE49-F238E27FC236}">
                <a16:creationId xmlns:a16="http://schemas.microsoft.com/office/drawing/2014/main" id="{B8CE94F2-D613-3E4B-D121-529E54FC989F}"/>
              </a:ext>
            </a:extLst>
          </p:cNvPr>
          <p:cNvSpPr txBox="1"/>
          <p:nvPr/>
        </p:nvSpPr>
        <p:spPr>
          <a:xfrm>
            <a:off x="8113530" y="6501031"/>
            <a:ext cx="2475854" cy="315023"/>
          </a:xfrm>
          <a:prstGeom prst="rect">
            <a:avLst/>
          </a:prstGeom>
          <a:noFill/>
        </p:spPr>
        <p:txBody>
          <a:bodyPr wrap="square" rtlCol="0">
            <a:spAutoFit/>
          </a:bodyPr>
          <a:lstStyle/>
          <a:p>
            <a:pPr>
              <a:lnSpc>
                <a:spcPct val="107000"/>
              </a:lnSpc>
              <a:spcAft>
                <a:spcPts val="800"/>
              </a:spcAft>
            </a:pPr>
            <a:r>
              <a:rPr lang="it-IT" sz="1400" kern="100">
                <a:cs typeface="Arial" panose="020B0604020202020204" pitchFamily="34" charset="0"/>
              </a:rPr>
              <a:t>Worst result: c8 pair</a:t>
            </a:r>
            <a:endParaRPr lang="it-IT" sz="1400" kern="100" noProof="0" dirty="0">
              <a:cs typeface="Arial" panose="020B0604020202020204" pitchFamily="34" charset="0"/>
            </a:endParaRPr>
          </a:p>
        </p:txBody>
      </p:sp>
    </p:spTree>
    <p:extLst>
      <p:ext uri="{BB962C8B-B14F-4D97-AF65-F5344CB8AC3E}">
        <p14:creationId xmlns:p14="http://schemas.microsoft.com/office/powerpoint/2010/main" val="3803624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E5102-93D1-AA88-356F-49249166A3E1}"/>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05E78EAE-F7EA-9111-4A3B-232AFC3F712A}"/>
              </a:ext>
            </a:extLst>
          </p:cNvPr>
          <p:cNvSpPr txBox="1"/>
          <p:nvPr/>
        </p:nvSpPr>
        <p:spPr>
          <a:xfrm>
            <a:off x="389370" y="521878"/>
            <a:ext cx="5799674" cy="57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4067"/>
              <a:t>Bibliography</a:t>
            </a:r>
            <a:endParaRPr lang="it-IT" sz="4067" noProof="0" dirty="0"/>
          </a:p>
        </p:txBody>
      </p:sp>
      <p:sp>
        <p:nvSpPr>
          <p:cNvPr id="5" name="CasellaDiTesto 4">
            <a:extLst>
              <a:ext uri="{FF2B5EF4-FFF2-40B4-BE49-F238E27FC236}">
                <a16:creationId xmlns:a16="http://schemas.microsoft.com/office/drawing/2014/main" id="{C8B22340-1A62-20F7-3383-0989CEFED212}"/>
              </a:ext>
            </a:extLst>
          </p:cNvPr>
          <p:cNvSpPr txBox="1"/>
          <p:nvPr/>
        </p:nvSpPr>
        <p:spPr>
          <a:xfrm>
            <a:off x="370317" y="1351500"/>
            <a:ext cx="11713527" cy="3139321"/>
          </a:xfrm>
          <a:prstGeom prst="rect">
            <a:avLst/>
          </a:prstGeom>
          <a:noFill/>
        </p:spPr>
        <p:txBody>
          <a:bodyPr wrap="square" rtlCol="0">
            <a:spAutoFit/>
          </a:bodyPr>
          <a:lstStyle/>
          <a:p>
            <a:r>
              <a:rPr lang="en-US" dirty="0">
                <a:hlinkClick r:id="rId2"/>
              </a:rPr>
              <a:t>[1] CHAPTER 8-Image Registration, J. Michael Fitzpatrick, Derek L. G. Hill, Calvin R. Maurer, Jr.</a:t>
            </a:r>
            <a:endParaRPr lang="en-US" dirty="0"/>
          </a:p>
          <a:p>
            <a:endParaRPr lang="en-US" dirty="0"/>
          </a:p>
          <a:p>
            <a:r>
              <a:rPr lang="en-US" dirty="0">
                <a:hlinkClick r:id="rId3"/>
              </a:rPr>
              <a:t>[2] Voxel Similarity Measures for 3D Serial MR Brain</a:t>
            </a:r>
            <a:endParaRPr lang="en-US" dirty="0"/>
          </a:p>
          <a:p>
            <a:endParaRPr lang="en-US" dirty="0"/>
          </a:p>
          <a:p>
            <a:r>
              <a:rPr lang="en-US" dirty="0">
                <a:hlinkClick r:id="rId4"/>
              </a:rPr>
              <a:t>[3] Robust Image Registration Based on Mutual Information</a:t>
            </a:r>
            <a:endParaRPr lang="en-US" dirty="0"/>
          </a:p>
          <a:p>
            <a:endParaRPr lang="it-IT" dirty="0"/>
          </a:p>
          <a:p>
            <a:r>
              <a:rPr lang="en-US" dirty="0">
                <a:hlinkClick r:id="rId5"/>
              </a:rPr>
              <a:t>[4] Comparative evaluation of multiresolution optimization strategies for multimodality image registration by maximization of mutual Information, Frederik Maes</a:t>
            </a:r>
            <a:endParaRPr lang="en-US" dirty="0"/>
          </a:p>
          <a:p>
            <a:endParaRPr lang="en-US" dirty="0"/>
          </a:p>
          <a:p>
            <a:r>
              <a:rPr lang="en-US" dirty="0">
                <a:hlinkClick r:id="rId6"/>
              </a:rPr>
              <a:t>[5] Implementing the Nelder-Mead simplex algorithm with adaptive parameters, Fuchang Gao, Lixing Han</a:t>
            </a:r>
            <a:endParaRPr lang="it-IT" dirty="0"/>
          </a:p>
          <a:p>
            <a:endParaRPr lang="en-US" dirty="0"/>
          </a:p>
        </p:txBody>
      </p:sp>
      <p:sp>
        <p:nvSpPr>
          <p:cNvPr id="2" name="TextBox 2">
            <a:extLst>
              <a:ext uri="{FF2B5EF4-FFF2-40B4-BE49-F238E27FC236}">
                <a16:creationId xmlns:a16="http://schemas.microsoft.com/office/drawing/2014/main" id="{0499EC8C-003D-789D-7062-33F08AA52A44}"/>
              </a:ext>
            </a:extLst>
          </p:cNvPr>
          <p:cNvSpPr txBox="1"/>
          <p:nvPr/>
        </p:nvSpPr>
        <p:spPr>
          <a:xfrm>
            <a:off x="389370" y="4542216"/>
            <a:ext cx="9160501" cy="398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nSpc>
                <a:spcPct val="90000"/>
              </a:lnSpc>
              <a:defRPr sz="6100" b="1">
                <a:solidFill>
                  <a:srgbClr val="000000"/>
                </a:solidFill>
                <a:latin typeface="Nunito-Bold"/>
                <a:ea typeface="Nunito-Bold"/>
                <a:cs typeface="Nunito-Bold"/>
                <a:sym typeface="Nunito-Bold"/>
              </a:defRPr>
            </a:lvl1pPr>
          </a:lstStyle>
          <a:p>
            <a:r>
              <a:rPr lang="it-IT" sz="2800" b="0" noProof="0" dirty="0"/>
              <a:t>Disclaimer</a:t>
            </a:r>
          </a:p>
        </p:txBody>
      </p:sp>
      <p:sp>
        <p:nvSpPr>
          <p:cNvPr id="4" name="CasellaDiTesto 3">
            <a:extLst>
              <a:ext uri="{FF2B5EF4-FFF2-40B4-BE49-F238E27FC236}">
                <a16:creationId xmlns:a16="http://schemas.microsoft.com/office/drawing/2014/main" id="{9395080B-1B48-37E8-412B-75BA2B15EDAE}"/>
              </a:ext>
            </a:extLst>
          </p:cNvPr>
          <p:cNvSpPr txBox="1"/>
          <p:nvPr/>
        </p:nvSpPr>
        <p:spPr>
          <a:xfrm>
            <a:off x="370317" y="4992182"/>
            <a:ext cx="11429004" cy="1754326"/>
          </a:xfrm>
          <a:prstGeom prst="rect">
            <a:avLst/>
          </a:prstGeom>
          <a:noFill/>
        </p:spPr>
        <p:txBody>
          <a:bodyPr wrap="square">
            <a:spAutoFit/>
          </a:bodyPr>
          <a:lstStyle/>
          <a:p>
            <a:r>
              <a:rPr lang="en-US" dirty="0"/>
              <a:t>Generative models such as Gemini and Claude have been used to:</a:t>
            </a:r>
          </a:p>
          <a:p>
            <a:pPr marL="742950" lvl="1" indent="-285750">
              <a:buFont typeface="Wingdings" panose="05000000000000000000" pitchFamily="2" charset="2"/>
              <a:buChar char="§"/>
            </a:pPr>
            <a:r>
              <a:rPr lang="en-US" dirty="0"/>
              <a:t>Realization of the parts of code involving the matplotlib library</a:t>
            </a:r>
          </a:p>
          <a:p>
            <a:pPr marL="742950" lvl="1" indent="-285750">
              <a:buFont typeface="Wingdings" panose="05000000000000000000" pitchFamily="2" charset="2"/>
              <a:buChar char="§"/>
            </a:pPr>
            <a:r>
              <a:rPr lang="en-US" dirty="0"/>
              <a:t>Quickly interact with library documentation</a:t>
            </a:r>
          </a:p>
          <a:p>
            <a:pPr lvl="1"/>
            <a:endParaRPr lang="en-US" dirty="0"/>
          </a:p>
          <a:p>
            <a:r>
              <a:rPr lang="en-US" dirty="0"/>
              <a:t>The Perplexity search engine has been used to find and analyze scientific papers, it has been useful above all to understand how to materialize some scientific ideas in Python code.</a:t>
            </a:r>
          </a:p>
        </p:txBody>
      </p:sp>
    </p:spTree>
    <p:extLst>
      <p:ext uri="{BB962C8B-B14F-4D97-AF65-F5344CB8AC3E}">
        <p14:creationId xmlns:p14="http://schemas.microsoft.com/office/powerpoint/2010/main" val="2362271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C13AAC01-BE64-5943-5545-229F06A13087}"/>
              </a:ext>
            </a:extLst>
          </p:cNvPr>
          <p:cNvSpPr txBox="1"/>
          <p:nvPr/>
        </p:nvSpPr>
        <p:spPr>
          <a:xfrm>
            <a:off x="3177651" y="6454681"/>
            <a:ext cx="5836698" cy="315023"/>
          </a:xfrm>
          <a:prstGeom prst="rect">
            <a:avLst/>
          </a:prstGeom>
          <a:noFill/>
        </p:spPr>
        <p:txBody>
          <a:bodyPr wrap="square" rtlCol="0">
            <a:spAutoFit/>
          </a:bodyPr>
          <a:lstStyle/>
          <a:p>
            <a:pPr>
              <a:lnSpc>
                <a:spcPct val="107000"/>
              </a:lnSpc>
              <a:spcAft>
                <a:spcPts val="800"/>
              </a:spcAft>
            </a:pPr>
            <a:r>
              <a:rPr lang="en-US" sz="1400" kern="100" dirty="0">
                <a:cs typeface="Arial" panose="020B0604020202020204" pitchFamily="34" charset="0"/>
              </a:rPr>
              <a:t>Coppia: c1, Preprocessing: pca-gauss-5, Metodo: Nelder-Mead, Bins: 64</a:t>
            </a:r>
            <a:endParaRPr lang="it-IT" sz="1400" kern="100" noProof="0" dirty="0">
              <a:cs typeface="Arial" panose="020B0604020202020204" pitchFamily="34" charset="0"/>
            </a:endParaRPr>
          </a:p>
        </p:txBody>
      </p:sp>
      <p:pic>
        <p:nvPicPr>
          <p:cNvPr id="21" name="Immagine 20">
            <a:extLst>
              <a:ext uri="{FF2B5EF4-FFF2-40B4-BE49-F238E27FC236}">
                <a16:creationId xmlns:a16="http://schemas.microsoft.com/office/drawing/2014/main" id="{CFB427B1-76F7-7936-39C3-DE2586A60C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03" y="235777"/>
            <a:ext cx="12437806" cy="6218904"/>
          </a:xfrm>
          <a:prstGeom prst="rect">
            <a:avLst/>
          </a:prstGeom>
        </p:spPr>
      </p:pic>
    </p:spTree>
    <p:extLst>
      <p:ext uri="{BB962C8B-B14F-4D97-AF65-F5344CB8AC3E}">
        <p14:creationId xmlns:p14="http://schemas.microsoft.com/office/powerpoint/2010/main" val="3142742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magine 21">
            <a:extLst>
              <a:ext uri="{FF2B5EF4-FFF2-40B4-BE49-F238E27FC236}">
                <a16:creationId xmlns:a16="http://schemas.microsoft.com/office/drawing/2014/main" id="{81C22848-A388-A01A-71B8-FA3B0C05D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03" y="235777"/>
            <a:ext cx="12437806" cy="6218904"/>
          </a:xfrm>
          <a:prstGeom prst="rect">
            <a:avLst/>
          </a:prstGeom>
        </p:spPr>
      </p:pic>
      <p:sp>
        <p:nvSpPr>
          <p:cNvPr id="6" name="CasellaDiTesto 5">
            <a:extLst>
              <a:ext uri="{FF2B5EF4-FFF2-40B4-BE49-F238E27FC236}">
                <a16:creationId xmlns:a16="http://schemas.microsoft.com/office/drawing/2014/main" id="{727BF58A-3587-C7BC-854E-7D15FC80E67B}"/>
              </a:ext>
            </a:extLst>
          </p:cNvPr>
          <p:cNvSpPr txBox="1"/>
          <p:nvPr/>
        </p:nvSpPr>
        <p:spPr>
          <a:xfrm>
            <a:off x="3177651" y="6454681"/>
            <a:ext cx="5836698" cy="315023"/>
          </a:xfrm>
          <a:prstGeom prst="rect">
            <a:avLst/>
          </a:prstGeom>
          <a:noFill/>
        </p:spPr>
        <p:txBody>
          <a:bodyPr wrap="square" rtlCol="0">
            <a:spAutoFit/>
          </a:bodyPr>
          <a:lstStyle/>
          <a:p>
            <a:pPr>
              <a:lnSpc>
                <a:spcPct val="107000"/>
              </a:lnSpc>
              <a:spcAft>
                <a:spcPts val="800"/>
              </a:spcAft>
            </a:pPr>
            <a:r>
              <a:rPr lang="en-US" sz="1400" kern="100" dirty="0">
                <a:cs typeface="Arial" panose="020B0604020202020204" pitchFamily="34" charset="0"/>
              </a:rPr>
              <a:t>Coppia: c2, Preprocessing: pca-gauss-5, Metodo: Nelder-Mead, Bins: 64</a:t>
            </a:r>
            <a:endParaRPr lang="it-IT" sz="1400" kern="100" noProof="0" dirty="0">
              <a:cs typeface="Arial" panose="020B0604020202020204" pitchFamily="34" charset="0"/>
            </a:endParaRPr>
          </a:p>
        </p:txBody>
      </p:sp>
    </p:spTree>
    <p:extLst>
      <p:ext uri="{BB962C8B-B14F-4D97-AF65-F5344CB8AC3E}">
        <p14:creationId xmlns:p14="http://schemas.microsoft.com/office/powerpoint/2010/main" val="2006853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89167-4229-2E06-D32B-C502EB5152CF}"/>
            </a:ext>
          </a:extLst>
        </p:cNvPr>
        <p:cNvGrpSpPr/>
        <p:nvPr/>
      </p:nvGrpSpPr>
      <p:grpSpPr>
        <a:xfrm>
          <a:off x="0" y="0"/>
          <a:ext cx="0" cy="0"/>
          <a:chOff x="0" y="0"/>
          <a:chExt cx="0" cy="0"/>
        </a:xfrm>
      </p:grpSpPr>
      <p:pic>
        <p:nvPicPr>
          <p:cNvPr id="23" name="Immagine 22">
            <a:extLst>
              <a:ext uri="{FF2B5EF4-FFF2-40B4-BE49-F238E27FC236}">
                <a16:creationId xmlns:a16="http://schemas.microsoft.com/office/drawing/2014/main" id="{B4FE5543-8105-7D6F-FCE0-5E44E7C92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03" y="235777"/>
            <a:ext cx="12437806" cy="6218904"/>
          </a:xfrm>
          <a:prstGeom prst="rect">
            <a:avLst/>
          </a:prstGeom>
        </p:spPr>
      </p:pic>
      <p:sp>
        <p:nvSpPr>
          <p:cNvPr id="5" name="CasellaDiTesto 4">
            <a:extLst>
              <a:ext uri="{FF2B5EF4-FFF2-40B4-BE49-F238E27FC236}">
                <a16:creationId xmlns:a16="http://schemas.microsoft.com/office/drawing/2014/main" id="{74A49F97-3646-BB35-7D84-775FF0947C8B}"/>
              </a:ext>
            </a:extLst>
          </p:cNvPr>
          <p:cNvSpPr txBox="1"/>
          <p:nvPr/>
        </p:nvSpPr>
        <p:spPr>
          <a:xfrm>
            <a:off x="3177651" y="6454681"/>
            <a:ext cx="5836698" cy="315023"/>
          </a:xfrm>
          <a:prstGeom prst="rect">
            <a:avLst/>
          </a:prstGeom>
          <a:noFill/>
        </p:spPr>
        <p:txBody>
          <a:bodyPr wrap="square" rtlCol="0">
            <a:spAutoFit/>
          </a:bodyPr>
          <a:lstStyle/>
          <a:p>
            <a:pPr>
              <a:lnSpc>
                <a:spcPct val="107000"/>
              </a:lnSpc>
              <a:spcAft>
                <a:spcPts val="800"/>
              </a:spcAft>
            </a:pPr>
            <a:r>
              <a:rPr lang="en-US" sz="1400" kern="100" dirty="0">
                <a:cs typeface="Arial" panose="020B0604020202020204" pitchFamily="34" charset="0"/>
              </a:rPr>
              <a:t>Coppia: c3, Preprocessing: pca-gauss-5, Metodo: Nelder-Mead, Bins: 64</a:t>
            </a:r>
            <a:endParaRPr lang="it-IT" sz="1400" kern="100" noProof="0" dirty="0">
              <a:cs typeface="Arial" panose="020B0604020202020204" pitchFamily="34" charset="0"/>
            </a:endParaRPr>
          </a:p>
        </p:txBody>
      </p:sp>
    </p:spTree>
    <p:extLst>
      <p:ext uri="{BB962C8B-B14F-4D97-AF65-F5344CB8AC3E}">
        <p14:creationId xmlns:p14="http://schemas.microsoft.com/office/powerpoint/2010/main" val="602076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ACF76-656A-270E-1D58-0BE2D58926E2}"/>
            </a:ext>
          </a:extLst>
        </p:cNvPr>
        <p:cNvGrpSpPr/>
        <p:nvPr/>
      </p:nvGrpSpPr>
      <p:grpSpPr>
        <a:xfrm>
          <a:off x="0" y="0"/>
          <a:ext cx="0" cy="0"/>
          <a:chOff x="0" y="0"/>
          <a:chExt cx="0" cy="0"/>
        </a:xfrm>
      </p:grpSpPr>
      <p:pic>
        <p:nvPicPr>
          <p:cNvPr id="24" name="Immagine 23">
            <a:extLst>
              <a:ext uri="{FF2B5EF4-FFF2-40B4-BE49-F238E27FC236}">
                <a16:creationId xmlns:a16="http://schemas.microsoft.com/office/drawing/2014/main" id="{D8250545-5A16-9D8E-99D7-37CF85F874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03" y="235777"/>
            <a:ext cx="12437806" cy="6218904"/>
          </a:xfrm>
          <a:prstGeom prst="rect">
            <a:avLst/>
          </a:prstGeom>
        </p:spPr>
      </p:pic>
      <p:sp>
        <p:nvSpPr>
          <p:cNvPr id="5" name="CasellaDiTesto 4">
            <a:extLst>
              <a:ext uri="{FF2B5EF4-FFF2-40B4-BE49-F238E27FC236}">
                <a16:creationId xmlns:a16="http://schemas.microsoft.com/office/drawing/2014/main" id="{D4472C80-5D34-1105-D16D-F57CB6EC40E7}"/>
              </a:ext>
            </a:extLst>
          </p:cNvPr>
          <p:cNvSpPr txBox="1"/>
          <p:nvPr/>
        </p:nvSpPr>
        <p:spPr>
          <a:xfrm>
            <a:off x="3177651" y="6454681"/>
            <a:ext cx="5836698" cy="315023"/>
          </a:xfrm>
          <a:prstGeom prst="rect">
            <a:avLst/>
          </a:prstGeom>
          <a:noFill/>
        </p:spPr>
        <p:txBody>
          <a:bodyPr wrap="square" rtlCol="0">
            <a:spAutoFit/>
          </a:bodyPr>
          <a:lstStyle/>
          <a:p>
            <a:pPr>
              <a:lnSpc>
                <a:spcPct val="107000"/>
              </a:lnSpc>
              <a:spcAft>
                <a:spcPts val="800"/>
              </a:spcAft>
            </a:pPr>
            <a:r>
              <a:rPr lang="en-US" sz="1400" kern="100" dirty="0">
                <a:cs typeface="Arial" panose="020B0604020202020204" pitchFamily="34" charset="0"/>
              </a:rPr>
              <a:t>Coppia: c4, Preprocessing: pca-gauss-5, Metodo: Nelder-Mead, Bins: 64</a:t>
            </a:r>
            <a:endParaRPr lang="it-IT" sz="1400" kern="100" noProof="0" dirty="0">
              <a:cs typeface="Arial" panose="020B0604020202020204" pitchFamily="34" charset="0"/>
            </a:endParaRPr>
          </a:p>
        </p:txBody>
      </p:sp>
    </p:spTree>
    <p:extLst>
      <p:ext uri="{BB962C8B-B14F-4D97-AF65-F5344CB8AC3E}">
        <p14:creationId xmlns:p14="http://schemas.microsoft.com/office/powerpoint/2010/main" val="791994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88B28-3DB5-B4CD-1F06-21B4AE90EE2C}"/>
            </a:ext>
          </a:extLst>
        </p:cNvPr>
        <p:cNvGrpSpPr/>
        <p:nvPr/>
      </p:nvGrpSpPr>
      <p:grpSpPr>
        <a:xfrm>
          <a:off x="0" y="0"/>
          <a:ext cx="0" cy="0"/>
          <a:chOff x="0" y="0"/>
          <a:chExt cx="0" cy="0"/>
        </a:xfrm>
      </p:grpSpPr>
      <p:pic>
        <p:nvPicPr>
          <p:cNvPr id="25" name="Immagine 24">
            <a:extLst>
              <a:ext uri="{FF2B5EF4-FFF2-40B4-BE49-F238E27FC236}">
                <a16:creationId xmlns:a16="http://schemas.microsoft.com/office/drawing/2014/main" id="{16E76C9D-898E-5375-1B61-35A6AB395A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03" y="235777"/>
            <a:ext cx="12437806" cy="6218904"/>
          </a:xfrm>
          <a:prstGeom prst="rect">
            <a:avLst/>
          </a:prstGeom>
        </p:spPr>
      </p:pic>
      <p:sp>
        <p:nvSpPr>
          <p:cNvPr id="5" name="CasellaDiTesto 4">
            <a:extLst>
              <a:ext uri="{FF2B5EF4-FFF2-40B4-BE49-F238E27FC236}">
                <a16:creationId xmlns:a16="http://schemas.microsoft.com/office/drawing/2014/main" id="{D38279C0-009A-D841-FF6F-404B513F4296}"/>
              </a:ext>
            </a:extLst>
          </p:cNvPr>
          <p:cNvSpPr txBox="1"/>
          <p:nvPr/>
        </p:nvSpPr>
        <p:spPr>
          <a:xfrm>
            <a:off x="3177651" y="6454681"/>
            <a:ext cx="5836698" cy="315023"/>
          </a:xfrm>
          <a:prstGeom prst="rect">
            <a:avLst/>
          </a:prstGeom>
          <a:noFill/>
        </p:spPr>
        <p:txBody>
          <a:bodyPr wrap="square" rtlCol="0">
            <a:spAutoFit/>
          </a:bodyPr>
          <a:lstStyle/>
          <a:p>
            <a:pPr>
              <a:lnSpc>
                <a:spcPct val="107000"/>
              </a:lnSpc>
              <a:spcAft>
                <a:spcPts val="800"/>
              </a:spcAft>
            </a:pPr>
            <a:r>
              <a:rPr lang="en-US" sz="1400" kern="100" dirty="0">
                <a:cs typeface="Arial" panose="020B0604020202020204" pitchFamily="34" charset="0"/>
              </a:rPr>
              <a:t>Coppia: c5, Preprocessing: pca-gauss-5, Metodo: Nelder-Mead, Bins: 64</a:t>
            </a:r>
            <a:endParaRPr lang="it-IT" sz="1400" kern="100" noProof="0" dirty="0">
              <a:cs typeface="Arial" panose="020B0604020202020204" pitchFamily="34" charset="0"/>
            </a:endParaRPr>
          </a:p>
        </p:txBody>
      </p:sp>
    </p:spTree>
    <p:extLst>
      <p:ext uri="{BB962C8B-B14F-4D97-AF65-F5344CB8AC3E}">
        <p14:creationId xmlns:p14="http://schemas.microsoft.com/office/powerpoint/2010/main" val="789771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F21C3-0A1F-E87C-C7D7-78FF7AEBA880}"/>
            </a:ext>
          </a:extLst>
        </p:cNvPr>
        <p:cNvGrpSpPr/>
        <p:nvPr/>
      </p:nvGrpSpPr>
      <p:grpSpPr>
        <a:xfrm>
          <a:off x="0" y="0"/>
          <a:ext cx="0" cy="0"/>
          <a:chOff x="0" y="0"/>
          <a:chExt cx="0" cy="0"/>
        </a:xfrm>
      </p:grpSpPr>
      <p:pic>
        <p:nvPicPr>
          <p:cNvPr id="26" name="Immagine 25">
            <a:extLst>
              <a:ext uri="{FF2B5EF4-FFF2-40B4-BE49-F238E27FC236}">
                <a16:creationId xmlns:a16="http://schemas.microsoft.com/office/drawing/2014/main" id="{F3CB95C5-B487-072B-499E-2E4B9A5934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03" y="235777"/>
            <a:ext cx="12437806" cy="6218904"/>
          </a:xfrm>
          <a:prstGeom prst="rect">
            <a:avLst/>
          </a:prstGeom>
        </p:spPr>
      </p:pic>
      <p:sp>
        <p:nvSpPr>
          <p:cNvPr id="5" name="CasellaDiTesto 4">
            <a:extLst>
              <a:ext uri="{FF2B5EF4-FFF2-40B4-BE49-F238E27FC236}">
                <a16:creationId xmlns:a16="http://schemas.microsoft.com/office/drawing/2014/main" id="{363A0CB2-CE4B-506C-A8BD-26D7899284A0}"/>
              </a:ext>
            </a:extLst>
          </p:cNvPr>
          <p:cNvSpPr txBox="1"/>
          <p:nvPr/>
        </p:nvSpPr>
        <p:spPr>
          <a:xfrm>
            <a:off x="3177651" y="6454681"/>
            <a:ext cx="5836698" cy="315023"/>
          </a:xfrm>
          <a:prstGeom prst="rect">
            <a:avLst/>
          </a:prstGeom>
          <a:noFill/>
        </p:spPr>
        <p:txBody>
          <a:bodyPr wrap="square" rtlCol="0">
            <a:spAutoFit/>
          </a:bodyPr>
          <a:lstStyle/>
          <a:p>
            <a:pPr>
              <a:lnSpc>
                <a:spcPct val="107000"/>
              </a:lnSpc>
              <a:spcAft>
                <a:spcPts val="800"/>
              </a:spcAft>
            </a:pPr>
            <a:r>
              <a:rPr lang="en-US" sz="1400" kern="100" dirty="0">
                <a:cs typeface="Arial" panose="020B0604020202020204" pitchFamily="34" charset="0"/>
              </a:rPr>
              <a:t>Coppia: c6, Preprocessing: pca-gauss-5, Metodo: Nelder-Mead, Bins: 64</a:t>
            </a:r>
            <a:endParaRPr lang="it-IT" sz="1400" kern="100" noProof="0" dirty="0">
              <a:cs typeface="Arial" panose="020B0604020202020204" pitchFamily="34" charset="0"/>
            </a:endParaRPr>
          </a:p>
        </p:txBody>
      </p:sp>
    </p:spTree>
    <p:extLst>
      <p:ext uri="{BB962C8B-B14F-4D97-AF65-F5344CB8AC3E}">
        <p14:creationId xmlns:p14="http://schemas.microsoft.com/office/powerpoint/2010/main" val="1309352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06550-40AC-D0AF-7CB4-3CDAB995DA30}"/>
            </a:ext>
          </a:extLst>
        </p:cNvPr>
        <p:cNvGrpSpPr/>
        <p:nvPr/>
      </p:nvGrpSpPr>
      <p:grpSpPr>
        <a:xfrm>
          <a:off x="0" y="0"/>
          <a:ext cx="0" cy="0"/>
          <a:chOff x="0" y="0"/>
          <a:chExt cx="0" cy="0"/>
        </a:xfrm>
      </p:grpSpPr>
      <p:pic>
        <p:nvPicPr>
          <p:cNvPr id="27" name="Immagine 26">
            <a:extLst>
              <a:ext uri="{FF2B5EF4-FFF2-40B4-BE49-F238E27FC236}">
                <a16:creationId xmlns:a16="http://schemas.microsoft.com/office/drawing/2014/main" id="{52BFB623-3131-5F7B-0F8B-C7711180A9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03" y="235777"/>
            <a:ext cx="12437806" cy="6218904"/>
          </a:xfrm>
          <a:prstGeom prst="rect">
            <a:avLst/>
          </a:prstGeom>
        </p:spPr>
      </p:pic>
      <p:sp>
        <p:nvSpPr>
          <p:cNvPr id="5" name="CasellaDiTesto 4">
            <a:extLst>
              <a:ext uri="{FF2B5EF4-FFF2-40B4-BE49-F238E27FC236}">
                <a16:creationId xmlns:a16="http://schemas.microsoft.com/office/drawing/2014/main" id="{E42A4F07-1FC0-F67D-B3CB-EE69933F40CE}"/>
              </a:ext>
            </a:extLst>
          </p:cNvPr>
          <p:cNvSpPr txBox="1"/>
          <p:nvPr/>
        </p:nvSpPr>
        <p:spPr>
          <a:xfrm>
            <a:off x="3177651" y="6454681"/>
            <a:ext cx="5836698" cy="315023"/>
          </a:xfrm>
          <a:prstGeom prst="rect">
            <a:avLst/>
          </a:prstGeom>
          <a:noFill/>
        </p:spPr>
        <p:txBody>
          <a:bodyPr wrap="square" rtlCol="0">
            <a:spAutoFit/>
          </a:bodyPr>
          <a:lstStyle/>
          <a:p>
            <a:pPr>
              <a:lnSpc>
                <a:spcPct val="107000"/>
              </a:lnSpc>
              <a:spcAft>
                <a:spcPts val="800"/>
              </a:spcAft>
            </a:pPr>
            <a:r>
              <a:rPr lang="en-US" sz="1400" kern="100" dirty="0">
                <a:cs typeface="Arial" panose="020B0604020202020204" pitchFamily="34" charset="0"/>
              </a:rPr>
              <a:t>Coppia: c7, Preprocessing: pca-gauss-5, Metodo: Nelder-Mead, Bins: 64</a:t>
            </a:r>
            <a:endParaRPr lang="it-IT" sz="1400" kern="100" noProof="0" dirty="0">
              <a:cs typeface="Arial" panose="020B0604020202020204" pitchFamily="34" charset="0"/>
            </a:endParaRPr>
          </a:p>
        </p:txBody>
      </p:sp>
    </p:spTree>
    <p:extLst>
      <p:ext uri="{BB962C8B-B14F-4D97-AF65-F5344CB8AC3E}">
        <p14:creationId xmlns:p14="http://schemas.microsoft.com/office/powerpoint/2010/main" val="4000235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B7427-4F5D-5AB6-779A-07198BC9D9EB}"/>
            </a:ext>
          </a:extLst>
        </p:cNvPr>
        <p:cNvGrpSpPr/>
        <p:nvPr/>
      </p:nvGrpSpPr>
      <p:grpSpPr>
        <a:xfrm>
          <a:off x="0" y="0"/>
          <a:ext cx="0" cy="0"/>
          <a:chOff x="0" y="0"/>
          <a:chExt cx="0" cy="0"/>
        </a:xfrm>
      </p:grpSpPr>
      <p:pic>
        <p:nvPicPr>
          <p:cNvPr id="28" name="Immagine 27">
            <a:extLst>
              <a:ext uri="{FF2B5EF4-FFF2-40B4-BE49-F238E27FC236}">
                <a16:creationId xmlns:a16="http://schemas.microsoft.com/office/drawing/2014/main" id="{1487E84D-3ADF-E7EA-1C0A-22D48D266E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03" y="235777"/>
            <a:ext cx="12437806" cy="6218904"/>
          </a:xfrm>
          <a:prstGeom prst="rect">
            <a:avLst/>
          </a:prstGeom>
        </p:spPr>
      </p:pic>
      <p:sp>
        <p:nvSpPr>
          <p:cNvPr id="5" name="CasellaDiTesto 4">
            <a:extLst>
              <a:ext uri="{FF2B5EF4-FFF2-40B4-BE49-F238E27FC236}">
                <a16:creationId xmlns:a16="http://schemas.microsoft.com/office/drawing/2014/main" id="{ABECA694-7DE4-268B-329E-FD4A53CE88C9}"/>
              </a:ext>
            </a:extLst>
          </p:cNvPr>
          <p:cNvSpPr txBox="1"/>
          <p:nvPr/>
        </p:nvSpPr>
        <p:spPr>
          <a:xfrm>
            <a:off x="3177651" y="6454681"/>
            <a:ext cx="5836698" cy="315023"/>
          </a:xfrm>
          <a:prstGeom prst="rect">
            <a:avLst/>
          </a:prstGeom>
          <a:noFill/>
        </p:spPr>
        <p:txBody>
          <a:bodyPr wrap="square" rtlCol="0">
            <a:spAutoFit/>
          </a:bodyPr>
          <a:lstStyle/>
          <a:p>
            <a:pPr>
              <a:lnSpc>
                <a:spcPct val="107000"/>
              </a:lnSpc>
              <a:spcAft>
                <a:spcPts val="800"/>
              </a:spcAft>
            </a:pPr>
            <a:r>
              <a:rPr lang="en-US" sz="1400" kern="100" dirty="0">
                <a:cs typeface="Arial" panose="020B0604020202020204" pitchFamily="34" charset="0"/>
              </a:rPr>
              <a:t>Coppia: c8, Preprocessing: pca-gauss-5, Metodo: Nelder-Mead, Bins: 64</a:t>
            </a:r>
            <a:endParaRPr lang="it-IT" sz="1400" kern="100" noProof="0" dirty="0">
              <a:cs typeface="Arial" panose="020B0604020202020204" pitchFamily="34" charset="0"/>
            </a:endParaRPr>
          </a:p>
        </p:txBody>
      </p:sp>
    </p:spTree>
    <p:extLst>
      <p:ext uri="{BB962C8B-B14F-4D97-AF65-F5344CB8AC3E}">
        <p14:creationId xmlns:p14="http://schemas.microsoft.com/office/powerpoint/2010/main" val="3116468746"/>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7514</TotalTime>
  <Words>2022</Words>
  <Application>Microsoft Office PowerPoint</Application>
  <PresentationFormat>Widescreen</PresentationFormat>
  <Paragraphs>280</Paragraphs>
  <Slides>19</Slides>
  <Notes>0</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19</vt:i4>
      </vt:variant>
    </vt:vector>
  </HeadingPairs>
  <TitlesOfParts>
    <vt:vector size="27" baseType="lpstr">
      <vt:lpstr>Aptos</vt:lpstr>
      <vt:lpstr>Aptos Display</vt:lpstr>
      <vt:lpstr>Arial</vt:lpstr>
      <vt:lpstr>Cambria Math</vt:lpstr>
      <vt:lpstr>Courier New</vt:lpstr>
      <vt:lpstr>OCR A Extended</vt:lpstr>
      <vt:lpstr>Wingdings</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GABRIELE LO CASCIO</dc:creator>
  <cp:lastModifiedBy>GABRIELE LO CASCIO</cp:lastModifiedBy>
  <cp:revision>65</cp:revision>
  <dcterms:created xsi:type="dcterms:W3CDTF">2026-02-22T14:20:26Z</dcterms:created>
  <dcterms:modified xsi:type="dcterms:W3CDTF">2026-04-07T17:11:00Z</dcterms:modified>
</cp:coreProperties>
</file>